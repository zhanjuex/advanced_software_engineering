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2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9.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34.xml" ContentType="application/vnd.openxmlformats-officedocument.presentationml.tags+xml"/>
  <Override PartName="/ppt/notesSlides/notesSlide3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5.xml" ContentType="application/vnd.openxmlformats-officedocument.presentationml.tags+xml"/>
  <Override PartName="/ppt/notesSlides/notesSlide37.xml" ContentType="application/vnd.openxmlformats-officedocument.presentationml.notesSlide+xml"/>
  <Override PartName="/ppt/tags/tag36.xml" ContentType="application/vnd.openxmlformats-officedocument.presentationml.tags+xml"/>
  <Override PartName="/ppt/notesSlides/notesSlide38.xml" ContentType="application/vnd.openxmlformats-officedocument.presentationml.notesSlide+xml"/>
  <Override PartName="/ppt/tags/tag37.xml" ContentType="application/vnd.openxmlformats-officedocument.presentationml.tags+xml"/>
  <Override PartName="/ppt/notesSlides/notesSlide39.xml" ContentType="application/vnd.openxmlformats-officedocument.presentationml.notesSlide+xml"/>
  <Override PartName="/ppt/tags/tag38.xml" ContentType="application/vnd.openxmlformats-officedocument.presentationml.tags+xml"/>
  <Override PartName="/ppt/notesSlides/notesSlide4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9.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40.xml" ContentType="application/vnd.openxmlformats-officedocument.presentationml.tags+xml"/>
  <Override PartName="/ppt/notesSlides/notesSlide43.xml" ContentType="application/vnd.openxmlformats-officedocument.presentationml.notesSlide+xml"/>
  <Override PartName="/ppt/tags/tag41.xml" ContentType="application/vnd.openxmlformats-officedocument.presentationml.tags+xml"/>
  <Override PartName="/ppt/notesSlides/notesSlide44.xml" ContentType="application/vnd.openxmlformats-officedocument.presentationml.notesSlide+xml"/>
  <Override PartName="/ppt/tags/tag42.xml" ContentType="application/vnd.openxmlformats-officedocument.presentationml.tags+xml"/>
  <Override PartName="/ppt/notesSlides/notesSlide45.xml" ContentType="application/vnd.openxmlformats-officedocument.presentationml.notesSlide+xml"/>
  <Override PartName="/ppt/tags/tag43.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8"/>
  </p:notesMasterIdLst>
  <p:sldIdLst>
    <p:sldId id="352" r:id="rId2"/>
    <p:sldId id="401" r:id="rId3"/>
    <p:sldId id="402" r:id="rId4"/>
    <p:sldId id="403" r:id="rId5"/>
    <p:sldId id="404" r:id="rId6"/>
    <p:sldId id="386" r:id="rId7"/>
    <p:sldId id="367" r:id="rId8"/>
    <p:sldId id="405" r:id="rId9"/>
    <p:sldId id="406" r:id="rId10"/>
    <p:sldId id="407" r:id="rId11"/>
    <p:sldId id="408" r:id="rId12"/>
    <p:sldId id="409" r:id="rId13"/>
    <p:sldId id="410" r:id="rId14"/>
    <p:sldId id="411" r:id="rId15"/>
    <p:sldId id="412" r:id="rId16"/>
    <p:sldId id="413" r:id="rId17"/>
    <p:sldId id="414" r:id="rId18"/>
    <p:sldId id="384" r:id="rId19"/>
    <p:sldId id="295" r:id="rId20"/>
    <p:sldId id="279" r:id="rId21"/>
    <p:sldId id="361" r:id="rId22"/>
    <p:sldId id="363" r:id="rId23"/>
    <p:sldId id="364" r:id="rId24"/>
    <p:sldId id="365" r:id="rId25"/>
    <p:sldId id="366" r:id="rId26"/>
    <p:sldId id="321" r:id="rId27"/>
    <p:sldId id="362" r:id="rId28"/>
    <p:sldId id="370" r:id="rId29"/>
    <p:sldId id="371" r:id="rId30"/>
    <p:sldId id="372" r:id="rId31"/>
    <p:sldId id="374" r:id="rId32"/>
    <p:sldId id="373" r:id="rId33"/>
    <p:sldId id="375" r:id="rId34"/>
    <p:sldId id="376" r:id="rId35"/>
    <p:sldId id="377" r:id="rId36"/>
    <p:sldId id="378" r:id="rId37"/>
    <p:sldId id="415" r:id="rId38"/>
    <p:sldId id="416" r:id="rId39"/>
    <p:sldId id="417" r:id="rId40"/>
    <p:sldId id="382" r:id="rId41"/>
    <p:sldId id="418" r:id="rId42"/>
    <p:sldId id="318" r:id="rId43"/>
    <p:sldId id="355" r:id="rId44"/>
    <p:sldId id="400" r:id="rId45"/>
    <p:sldId id="360" r:id="rId46"/>
    <p:sldId id="288" r:id="rId47"/>
  </p:sldIdLst>
  <p:sldSz cx="9144000" cy="5143500" type="screen16x9"/>
  <p:notesSz cx="6858000" cy="9144000"/>
  <p:embeddedFontLst>
    <p:embeddedFont>
      <p:font typeface="Calibri" panose="020F0502020204030204" pitchFamily="34" charset="0"/>
      <p:regular r:id="rId49"/>
      <p:bold r:id="rId50"/>
      <p:italic r:id="rId51"/>
      <p:boldItalic r:id="rId52"/>
    </p:embeddedFont>
    <p:embeddedFont>
      <p:font typeface="等线" panose="02010600030101010101" pitchFamily="2" charset="-122"/>
      <p:regular r:id="rId53"/>
      <p:bold r:id="rId54"/>
    </p:embeddedFont>
    <p:embeddedFont>
      <p:font typeface="华文仿宋" panose="02010600040101010101" pitchFamily="2" charset="-122"/>
      <p:regular r:id="rId55"/>
    </p:embeddedFont>
    <p:embeddedFont>
      <p:font typeface="华文宋体" panose="02010600040101010101" pitchFamily="2" charset="-122"/>
      <p:regular r:id="rId56"/>
    </p:embeddedFont>
    <p:embeddedFont>
      <p:font typeface="微软雅黑" panose="020B0503020204020204" pitchFamily="34" charset="-122"/>
      <p:regular r:id="rId57"/>
      <p:bold r:id="rId58"/>
    </p:embeddedFont>
  </p:embeddedFontLst>
  <p:custDataLst>
    <p:tags r:id="rId5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7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5663"/>
    <a:srgbClr val="EFEFEF"/>
    <a:srgbClr val="DFDFDF"/>
    <a:srgbClr val="E4E4E4"/>
    <a:srgbClr val="E3E3E3"/>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90" autoAdjust="0"/>
    <p:restoredTop sz="94660"/>
  </p:normalViewPr>
  <p:slideViewPr>
    <p:cSldViewPr snapToGrid="0" showGuides="1">
      <p:cViewPr varScale="1">
        <p:scale>
          <a:sx n="139" d="100"/>
          <a:sy n="139" d="100"/>
        </p:scale>
        <p:origin x="516" y="126"/>
      </p:cViewPr>
      <p:guideLst>
        <p:guide orient="horz" pos="1672"/>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A70698-E701-4C42-A247-253C8630718B}" type="doc">
      <dgm:prSet loTypeId="urn:microsoft.com/office/officeart/2008/layout/HorizontalMultiLevelHierarchy" loCatId="hierarchy" qsTypeId="urn:microsoft.com/office/officeart/2005/8/quickstyle/simple1" qsCatId="simple" csTypeId="urn:microsoft.com/office/officeart/2005/8/colors/accent0_3" csCatId="mainScheme" phldr="1"/>
      <dgm:spPr/>
      <dgm:t>
        <a:bodyPr/>
        <a:lstStyle/>
        <a:p>
          <a:endParaRPr lang="zh-CN" altLang="en-US"/>
        </a:p>
      </dgm:t>
    </dgm:pt>
    <dgm:pt modelId="{5813C2DB-8687-459D-AD14-A6800DEFAFA6}">
      <dgm:prSet phldrT="[文本]"/>
      <dgm:spPr/>
      <dgm:t>
        <a:bodyPr vert="vert"/>
        <a:lstStyle/>
        <a:p>
          <a:r>
            <a:rPr lang="zh-CN" altLang="en-US" dirty="0"/>
            <a:t>污点分析技术</a:t>
          </a:r>
        </a:p>
      </dgm:t>
    </dgm:pt>
    <dgm:pt modelId="{1C48BC90-442B-4842-8C36-6008FAB5116B}" type="parTrans" cxnId="{A1E56EB1-BDE2-43DA-AD5F-0CE96E21F0DF}">
      <dgm:prSet/>
      <dgm:spPr/>
      <dgm:t>
        <a:bodyPr/>
        <a:lstStyle/>
        <a:p>
          <a:endParaRPr lang="zh-CN" altLang="en-US"/>
        </a:p>
      </dgm:t>
    </dgm:pt>
    <dgm:pt modelId="{609A0EBA-B95C-4ADF-8C8A-D2CF09B6FEDB}" type="sibTrans" cxnId="{A1E56EB1-BDE2-43DA-AD5F-0CE96E21F0DF}">
      <dgm:prSet/>
      <dgm:spPr/>
      <dgm:t>
        <a:bodyPr/>
        <a:lstStyle/>
        <a:p>
          <a:endParaRPr lang="zh-CN" altLang="en-US"/>
        </a:p>
      </dgm:t>
    </dgm:pt>
    <dgm:pt modelId="{7DC2A722-81D6-48BC-ADFB-2A70832768BE}">
      <dgm:prSet phldrT="[文本]"/>
      <dgm:spPr/>
      <dgm:t>
        <a:bodyPr/>
        <a:lstStyle/>
        <a:p>
          <a:r>
            <a:rPr lang="zh-CN" altLang="en-US" dirty="0"/>
            <a:t>静态污点分析</a:t>
          </a:r>
        </a:p>
      </dgm:t>
    </dgm:pt>
    <dgm:pt modelId="{A2065381-86F3-42B0-B6F4-94C27065F15D}" type="parTrans" cxnId="{59FE156D-9CFA-45BE-A2E2-B92B6D83C7D4}">
      <dgm:prSet/>
      <dgm:spPr/>
      <dgm:t>
        <a:bodyPr/>
        <a:lstStyle/>
        <a:p>
          <a:endParaRPr lang="zh-CN" altLang="en-US"/>
        </a:p>
      </dgm:t>
    </dgm:pt>
    <dgm:pt modelId="{86D92EA8-48B9-4E44-8FA8-0DD082A0B36D}" type="sibTrans" cxnId="{59FE156D-9CFA-45BE-A2E2-B92B6D83C7D4}">
      <dgm:prSet/>
      <dgm:spPr/>
      <dgm:t>
        <a:bodyPr/>
        <a:lstStyle/>
        <a:p>
          <a:endParaRPr lang="zh-CN" altLang="en-US"/>
        </a:p>
      </dgm:t>
    </dgm:pt>
    <dgm:pt modelId="{538D50EA-F190-4B8F-8C97-AA14BF88D752}">
      <dgm:prSet phldrT="[文本]"/>
      <dgm:spPr/>
      <dgm:t>
        <a:bodyPr/>
        <a:lstStyle/>
        <a:p>
          <a:r>
            <a:rPr lang="zh-CN" altLang="en-US" dirty="0"/>
            <a:t>动态污点分析</a:t>
          </a:r>
        </a:p>
      </dgm:t>
    </dgm:pt>
    <dgm:pt modelId="{DADADFB6-B5F2-4EED-8F29-3DEB81732D94}" type="parTrans" cxnId="{6175C737-81FA-4A86-A3E1-7778D07FA1D7}">
      <dgm:prSet/>
      <dgm:spPr/>
      <dgm:t>
        <a:bodyPr/>
        <a:lstStyle/>
        <a:p>
          <a:endParaRPr lang="zh-CN" altLang="en-US"/>
        </a:p>
      </dgm:t>
    </dgm:pt>
    <dgm:pt modelId="{F0D2A0D3-46BB-401C-8CD3-F13CE2F7535C}" type="sibTrans" cxnId="{6175C737-81FA-4A86-A3E1-7778D07FA1D7}">
      <dgm:prSet/>
      <dgm:spPr/>
      <dgm:t>
        <a:bodyPr/>
        <a:lstStyle/>
        <a:p>
          <a:endParaRPr lang="zh-CN" altLang="en-US"/>
        </a:p>
      </dgm:t>
    </dgm:pt>
    <dgm:pt modelId="{AC435C5F-CFF1-4A2F-B792-F066DF43F02F}" type="pres">
      <dgm:prSet presAssocID="{1FA70698-E701-4C42-A247-253C8630718B}" presName="Name0" presStyleCnt="0">
        <dgm:presLayoutVars>
          <dgm:chPref val="1"/>
          <dgm:dir/>
          <dgm:animOne val="branch"/>
          <dgm:animLvl val="lvl"/>
          <dgm:resizeHandles val="exact"/>
        </dgm:presLayoutVars>
      </dgm:prSet>
      <dgm:spPr/>
    </dgm:pt>
    <dgm:pt modelId="{9A29908A-DB4E-42EC-9ACC-EEE097161E4E}" type="pres">
      <dgm:prSet presAssocID="{5813C2DB-8687-459D-AD14-A6800DEFAFA6}" presName="root1" presStyleCnt="0"/>
      <dgm:spPr/>
    </dgm:pt>
    <dgm:pt modelId="{C07D8110-42A4-480A-9E09-ABD07F980659}" type="pres">
      <dgm:prSet presAssocID="{5813C2DB-8687-459D-AD14-A6800DEFAFA6}" presName="LevelOneTextNode" presStyleLbl="node0" presStyleIdx="0" presStyleCnt="1" custScaleY="71978">
        <dgm:presLayoutVars>
          <dgm:chPref val="3"/>
        </dgm:presLayoutVars>
      </dgm:prSet>
      <dgm:spPr/>
    </dgm:pt>
    <dgm:pt modelId="{6D44102C-D60F-4D2D-9B1F-076262134479}" type="pres">
      <dgm:prSet presAssocID="{5813C2DB-8687-459D-AD14-A6800DEFAFA6}" presName="level2hierChild" presStyleCnt="0"/>
      <dgm:spPr/>
    </dgm:pt>
    <dgm:pt modelId="{A36F6561-19E9-4CB9-9A4B-44FA3B54FA43}" type="pres">
      <dgm:prSet presAssocID="{A2065381-86F3-42B0-B6F4-94C27065F15D}" presName="conn2-1" presStyleLbl="parChTrans1D2" presStyleIdx="0" presStyleCnt="2"/>
      <dgm:spPr/>
    </dgm:pt>
    <dgm:pt modelId="{A573AD11-E6B3-472C-9ED3-990AC98B98E9}" type="pres">
      <dgm:prSet presAssocID="{A2065381-86F3-42B0-B6F4-94C27065F15D}" presName="connTx" presStyleLbl="parChTrans1D2" presStyleIdx="0" presStyleCnt="2"/>
      <dgm:spPr/>
    </dgm:pt>
    <dgm:pt modelId="{3BB6C0D8-3AAD-4679-85F6-4368D27B92CA}" type="pres">
      <dgm:prSet presAssocID="{7DC2A722-81D6-48BC-ADFB-2A70832768BE}" presName="root2" presStyleCnt="0"/>
      <dgm:spPr/>
    </dgm:pt>
    <dgm:pt modelId="{1E8EDE3A-44B9-4DB0-A89F-19EBDC03E665}" type="pres">
      <dgm:prSet presAssocID="{7DC2A722-81D6-48BC-ADFB-2A70832768BE}" presName="LevelTwoTextNode" presStyleLbl="node2" presStyleIdx="0" presStyleCnt="2" custLinFactNeighborX="922" custLinFactNeighborY="-78585">
        <dgm:presLayoutVars>
          <dgm:chPref val="3"/>
        </dgm:presLayoutVars>
      </dgm:prSet>
      <dgm:spPr/>
    </dgm:pt>
    <dgm:pt modelId="{85C01069-A449-44CA-936E-E1DDD142CF2A}" type="pres">
      <dgm:prSet presAssocID="{7DC2A722-81D6-48BC-ADFB-2A70832768BE}" presName="level3hierChild" presStyleCnt="0"/>
      <dgm:spPr/>
    </dgm:pt>
    <dgm:pt modelId="{35137940-D518-43B0-82EA-7D82DF9609E4}" type="pres">
      <dgm:prSet presAssocID="{DADADFB6-B5F2-4EED-8F29-3DEB81732D94}" presName="conn2-1" presStyleLbl="parChTrans1D2" presStyleIdx="1" presStyleCnt="2"/>
      <dgm:spPr/>
    </dgm:pt>
    <dgm:pt modelId="{74B154C8-088E-4B53-84A2-579355D424D3}" type="pres">
      <dgm:prSet presAssocID="{DADADFB6-B5F2-4EED-8F29-3DEB81732D94}" presName="connTx" presStyleLbl="parChTrans1D2" presStyleIdx="1" presStyleCnt="2"/>
      <dgm:spPr/>
    </dgm:pt>
    <dgm:pt modelId="{721070EB-C3D9-4D33-BCE4-ACEF6B80DC55}" type="pres">
      <dgm:prSet presAssocID="{538D50EA-F190-4B8F-8C97-AA14BF88D752}" presName="root2" presStyleCnt="0"/>
      <dgm:spPr/>
    </dgm:pt>
    <dgm:pt modelId="{3AB9EC49-7695-4AFC-BB80-6A14174F21B4}" type="pres">
      <dgm:prSet presAssocID="{538D50EA-F190-4B8F-8C97-AA14BF88D752}" presName="LevelTwoTextNode" presStyleLbl="node2" presStyleIdx="1" presStyleCnt="2" custLinFactNeighborX="922" custLinFactNeighborY="78585">
        <dgm:presLayoutVars>
          <dgm:chPref val="3"/>
        </dgm:presLayoutVars>
      </dgm:prSet>
      <dgm:spPr/>
    </dgm:pt>
    <dgm:pt modelId="{BD8AF900-5DDD-4F48-B576-82B0075B8E66}" type="pres">
      <dgm:prSet presAssocID="{538D50EA-F190-4B8F-8C97-AA14BF88D752}" presName="level3hierChild" presStyleCnt="0"/>
      <dgm:spPr/>
    </dgm:pt>
  </dgm:ptLst>
  <dgm:cxnLst>
    <dgm:cxn modelId="{0AD67207-ABF2-402E-BE5E-227961BE2F5B}" type="presOf" srcId="{DADADFB6-B5F2-4EED-8F29-3DEB81732D94}" destId="{74B154C8-088E-4B53-84A2-579355D424D3}" srcOrd="1" destOrd="0" presId="urn:microsoft.com/office/officeart/2008/layout/HorizontalMultiLevelHierarchy"/>
    <dgm:cxn modelId="{BC7B8B27-2992-45BC-958B-B5CE8576B7B7}" type="presOf" srcId="{1FA70698-E701-4C42-A247-253C8630718B}" destId="{AC435C5F-CFF1-4A2F-B792-F066DF43F02F}" srcOrd="0" destOrd="0" presId="urn:microsoft.com/office/officeart/2008/layout/HorizontalMultiLevelHierarchy"/>
    <dgm:cxn modelId="{6175C737-81FA-4A86-A3E1-7778D07FA1D7}" srcId="{5813C2DB-8687-459D-AD14-A6800DEFAFA6}" destId="{538D50EA-F190-4B8F-8C97-AA14BF88D752}" srcOrd="1" destOrd="0" parTransId="{DADADFB6-B5F2-4EED-8F29-3DEB81732D94}" sibTransId="{F0D2A0D3-46BB-401C-8CD3-F13CE2F7535C}"/>
    <dgm:cxn modelId="{9812DC3B-26DB-4D11-8FC4-BEED0EA4CF1A}" type="presOf" srcId="{538D50EA-F190-4B8F-8C97-AA14BF88D752}" destId="{3AB9EC49-7695-4AFC-BB80-6A14174F21B4}" srcOrd="0" destOrd="0" presId="urn:microsoft.com/office/officeart/2008/layout/HorizontalMultiLevelHierarchy"/>
    <dgm:cxn modelId="{59FE156D-9CFA-45BE-A2E2-B92B6D83C7D4}" srcId="{5813C2DB-8687-459D-AD14-A6800DEFAFA6}" destId="{7DC2A722-81D6-48BC-ADFB-2A70832768BE}" srcOrd="0" destOrd="0" parTransId="{A2065381-86F3-42B0-B6F4-94C27065F15D}" sibTransId="{86D92EA8-48B9-4E44-8FA8-0DD082A0B36D}"/>
    <dgm:cxn modelId="{55631659-710A-4EAB-A0EE-1BDB72E10B33}" type="presOf" srcId="{A2065381-86F3-42B0-B6F4-94C27065F15D}" destId="{A36F6561-19E9-4CB9-9A4B-44FA3B54FA43}" srcOrd="0" destOrd="0" presId="urn:microsoft.com/office/officeart/2008/layout/HorizontalMultiLevelHierarchy"/>
    <dgm:cxn modelId="{3F5A9183-C66E-45D6-8091-93AE9327FD96}" type="presOf" srcId="{5813C2DB-8687-459D-AD14-A6800DEFAFA6}" destId="{C07D8110-42A4-480A-9E09-ABD07F980659}" srcOrd="0" destOrd="0" presId="urn:microsoft.com/office/officeart/2008/layout/HorizontalMultiLevelHierarchy"/>
    <dgm:cxn modelId="{A1E56EB1-BDE2-43DA-AD5F-0CE96E21F0DF}" srcId="{1FA70698-E701-4C42-A247-253C8630718B}" destId="{5813C2DB-8687-459D-AD14-A6800DEFAFA6}" srcOrd="0" destOrd="0" parTransId="{1C48BC90-442B-4842-8C36-6008FAB5116B}" sibTransId="{609A0EBA-B95C-4ADF-8C8A-D2CF09B6FEDB}"/>
    <dgm:cxn modelId="{942DA3D0-74B9-4D6D-AA96-D89B2F2F87C6}" type="presOf" srcId="{7DC2A722-81D6-48BC-ADFB-2A70832768BE}" destId="{1E8EDE3A-44B9-4DB0-A89F-19EBDC03E665}" srcOrd="0" destOrd="0" presId="urn:microsoft.com/office/officeart/2008/layout/HorizontalMultiLevelHierarchy"/>
    <dgm:cxn modelId="{DF4C93D1-4AD7-4EA7-9AFD-A040CB47B697}" type="presOf" srcId="{A2065381-86F3-42B0-B6F4-94C27065F15D}" destId="{A573AD11-E6B3-472C-9ED3-990AC98B98E9}" srcOrd="1" destOrd="0" presId="urn:microsoft.com/office/officeart/2008/layout/HorizontalMultiLevelHierarchy"/>
    <dgm:cxn modelId="{CD6F39D6-A57B-4339-9337-E038B6E84BA2}" type="presOf" srcId="{DADADFB6-B5F2-4EED-8F29-3DEB81732D94}" destId="{35137940-D518-43B0-82EA-7D82DF9609E4}" srcOrd="0" destOrd="0" presId="urn:microsoft.com/office/officeart/2008/layout/HorizontalMultiLevelHierarchy"/>
    <dgm:cxn modelId="{68CB8743-6EE1-4C8C-82A2-86E29552F614}" type="presParOf" srcId="{AC435C5F-CFF1-4A2F-B792-F066DF43F02F}" destId="{9A29908A-DB4E-42EC-9ACC-EEE097161E4E}" srcOrd="0" destOrd="0" presId="urn:microsoft.com/office/officeart/2008/layout/HorizontalMultiLevelHierarchy"/>
    <dgm:cxn modelId="{5098DEF2-B29F-4655-8E75-D352D9DB9014}" type="presParOf" srcId="{9A29908A-DB4E-42EC-9ACC-EEE097161E4E}" destId="{C07D8110-42A4-480A-9E09-ABD07F980659}" srcOrd="0" destOrd="0" presId="urn:microsoft.com/office/officeart/2008/layout/HorizontalMultiLevelHierarchy"/>
    <dgm:cxn modelId="{9D4D4F20-A33D-4D38-8A31-D8A6D5BD4359}" type="presParOf" srcId="{9A29908A-DB4E-42EC-9ACC-EEE097161E4E}" destId="{6D44102C-D60F-4D2D-9B1F-076262134479}" srcOrd="1" destOrd="0" presId="urn:microsoft.com/office/officeart/2008/layout/HorizontalMultiLevelHierarchy"/>
    <dgm:cxn modelId="{9B7D3D3C-A87B-44EE-BA7F-4CAEA8E127A3}" type="presParOf" srcId="{6D44102C-D60F-4D2D-9B1F-076262134479}" destId="{A36F6561-19E9-4CB9-9A4B-44FA3B54FA43}" srcOrd="0" destOrd="0" presId="urn:microsoft.com/office/officeart/2008/layout/HorizontalMultiLevelHierarchy"/>
    <dgm:cxn modelId="{BF537989-862C-42D6-B321-2C6180D47FA1}" type="presParOf" srcId="{A36F6561-19E9-4CB9-9A4B-44FA3B54FA43}" destId="{A573AD11-E6B3-472C-9ED3-990AC98B98E9}" srcOrd="0" destOrd="0" presId="urn:microsoft.com/office/officeart/2008/layout/HorizontalMultiLevelHierarchy"/>
    <dgm:cxn modelId="{6607603A-5F01-4000-B38F-68A7AEBE811A}" type="presParOf" srcId="{6D44102C-D60F-4D2D-9B1F-076262134479}" destId="{3BB6C0D8-3AAD-4679-85F6-4368D27B92CA}" srcOrd="1" destOrd="0" presId="urn:microsoft.com/office/officeart/2008/layout/HorizontalMultiLevelHierarchy"/>
    <dgm:cxn modelId="{D47E87FB-6C6B-4017-BB0E-8B7CC7E4A8B3}" type="presParOf" srcId="{3BB6C0D8-3AAD-4679-85F6-4368D27B92CA}" destId="{1E8EDE3A-44B9-4DB0-A89F-19EBDC03E665}" srcOrd="0" destOrd="0" presId="urn:microsoft.com/office/officeart/2008/layout/HorizontalMultiLevelHierarchy"/>
    <dgm:cxn modelId="{0EA743A0-0E9F-4832-A465-BC7E1B67F9BF}" type="presParOf" srcId="{3BB6C0D8-3AAD-4679-85F6-4368D27B92CA}" destId="{85C01069-A449-44CA-936E-E1DDD142CF2A}" srcOrd="1" destOrd="0" presId="urn:microsoft.com/office/officeart/2008/layout/HorizontalMultiLevelHierarchy"/>
    <dgm:cxn modelId="{49FE9B57-06C5-4081-B58D-0011C1D85241}" type="presParOf" srcId="{6D44102C-D60F-4D2D-9B1F-076262134479}" destId="{35137940-D518-43B0-82EA-7D82DF9609E4}" srcOrd="2" destOrd="0" presId="urn:microsoft.com/office/officeart/2008/layout/HorizontalMultiLevelHierarchy"/>
    <dgm:cxn modelId="{80BF62AF-9F05-4A00-B287-316D4D45EC9C}" type="presParOf" srcId="{35137940-D518-43B0-82EA-7D82DF9609E4}" destId="{74B154C8-088E-4B53-84A2-579355D424D3}" srcOrd="0" destOrd="0" presId="urn:microsoft.com/office/officeart/2008/layout/HorizontalMultiLevelHierarchy"/>
    <dgm:cxn modelId="{83B7F8DF-AFF6-43F2-91F5-25DBEE6D0B09}" type="presParOf" srcId="{6D44102C-D60F-4D2D-9B1F-076262134479}" destId="{721070EB-C3D9-4D33-BCE4-ACEF6B80DC55}" srcOrd="3" destOrd="0" presId="urn:microsoft.com/office/officeart/2008/layout/HorizontalMultiLevelHierarchy"/>
    <dgm:cxn modelId="{6B8040DE-DA6E-4561-88C4-01456E090B27}" type="presParOf" srcId="{721070EB-C3D9-4D33-BCE4-ACEF6B80DC55}" destId="{3AB9EC49-7695-4AFC-BB80-6A14174F21B4}" srcOrd="0" destOrd="0" presId="urn:microsoft.com/office/officeart/2008/layout/HorizontalMultiLevelHierarchy"/>
    <dgm:cxn modelId="{316691BC-EACD-4AEF-8ECD-94823C9549E4}" type="presParOf" srcId="{721070EB-C3D9-4D33-BCE4-ACEF6B80DC55}" destId="{BD8AF900-5DDD-4F48-B576-82B0075B8E66}" srcOrd="1" destOrd="0" presId="urn:microsoft.com/office/officeart/2008/layout/HorizontalMultiLevelHierarchy"/>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7B09C32-3C3E-4AA8-9DA7-E462E1117694}" type="doc">
      <dgm:prSet loTypeId="urn:microsoft.com/office/officeart/2005/8/layout/process3" loCatId="process" qsTypeId="urn:microsoft.com/office/officeart/2005/8/quickstyle/simple1" qsCatId="simple" csTypeId="urn:microsoft.com/office/officeart/2005/8/colors/accent0_3" csCatId="mainScheme" phldr="1"/>
      <dgm:spPr/>
      <dgm:t>
        <a:bodyPr/>
        <a:lstStyle/>
        <a:p>
          <a:endParaRPr lang="zh-CN" altLang="en-US"/>
        </a:p>
      </dgm:t>
    </dgm:pt>
    <dgm:pt modelId="{C40A8F60-6BEF-4E1B-8B8F-54EAC7FBB6C5}">
      <dgm:prSet phldrT="[文本]" custT="1"/>
      <dgm:spPr/>
      <dgm:t>
        <a:bodyPr/>
        <a:lstStyle/>
        <a:p>
          <a:r>
            <a:rPr lang="zh-CN" altLang="en-US" sz="1400" dirty="0"/>
            <a:t>污点误用检查</a:t>
          </a:r>
        </a:p>
      </dgm:t>
    </dgm:pt>
    <dgm:pt modelId="{15CB3029-7CFC-4AAD-866C-11E32D8179F9}" type="parTrans" cxnId="{33814F3F-99ED-446E-B38F-7BF85E592F06}">
      <dgm:prSet/>
      <dgm:spPr/>
      <dgm:t>
        <a:bodyPr/>
        <a:lstStyle/>
        <a:p>
          <a:endParaRPr lang="zh-CN" altLang="en-US"/>
        </a:p>
      </dgm:t>
    </dgm:pt>
    <dgm:pt modelId="{0140788B-2D79-4FF4-9C71-01E54EB9EB80}" type="sibTrans" cxnId="{33814F3F-99ED-446E-B38F-7BF85E592F06}">
      <dgm:prSet/>
      <dgm:spPr/>
      <dgm:t>
        <a:bodyPr/>
        <a:lstStyle/>
        <a:p>
          <a:endParaRPr lang="zh-CN" altLang="en-US"/>
        </a:p>
      </dgm:t>
    </dgm:pt>
    <dgm:pt modelId="{627019E8-1C2B-4F26-B7B9-5725AEB358F4}">
      <dgm:prSet phldrT="[文本]"/>
      <dgm:spPr/>
      <dgm:t>
        <a:bodyPr/>
        <a:lstStyle/>
        <a:p>
          <a:r>
            <a:rPr lang="zh-CN" altLang="en-US" dirty="0"/>
            <a:t>检查污点数据有可能被误用的指令或系统调用点（</a:t>
          </a:r>
          <a:r>
            <a:rPr lang="en-US" altLang="en-US" dirty="0"/>
            <a:t>Sink</a:t>
          </a:r>
          <a:r>
            <a:rPr lang="zh-CN" altLang="en-US" dirty="0"/>
            <a:t>点），通常需要根据一些漏洞模式来进行检查，首先需要明确常见漏洞在二进制代码上的表现形式，然后将其提炼成漏洞模式。</a:t>
          </a:r>
        </a:p>
      </dgm:t>
    </dgm:pt>
    <dgm:pt modelId="{F3DA1002-39BC-4B45-ADDC-9ED4F9586989}" type="parTrans" cxnId="{7C5FEB75-CCBF-4DDE-84C3-38D3BEEB02EC}">
      <dgm:prSet/>
      <dgm:spPr/>
      <dgm:t>
        <a:bodyPr/>
        <a:lstStyle/>
        <a:p>
          <a:endParaRPr lang="zh-CN" altLang="en-US"/>
        </a:p>
      </dgm:t>
    </dgm:pt>
    <dgm:pt modelId="{7ECF23A4-2223-47C8-B34C-CD0C29F464DC}" type="sibTrans" cxnId="{7C5FEB75-CCBF-4DDE-84C3-38D3BEEB02EC}">
      <dgm:prSet/>
      <dgm:spPr/>
      <dgm:t>
        <a:bodyPr/>
        <a:lstStyle/>
        <a:p>
          <a:endParaRPr lang="zh-CN" altLang="en-US"/>
        </a:p>
      </dgm:t>
    </dgm:pt>
    <dgm:pt modelId="{1917BF24-A24F-44AF-8C3D-275B45F4640F}">
      <dgm:prSet custT="1"/>
      <dgm:spPr/>
      <dgm:t>
        <a:bodyPr/>
        <a:lstStyle/>
        <a:p>
          <a:r>
            <a:rPr lang="zh-CN" altLang="en-US" sz="1400" dirty="0"/>
            <a:t>污点数据标记</a:t>
          </a:r>
        </a:p>
      </dgm:t>
    </dgm:pt>
    <dgm:pt modelId="{B853CBCA-88D0-492B-AD88-AAEF690C77FF}" type="parTrans" cxnId="{A71ECAC7-9DFB-4C45-9A5E-3A875EC9AE9A}">
      <dgm:prSet/>
      <dgm:spPr/>
      <dgm:t>
        <a:bodyPr/>
        <a:lstStyle/>
        <a:p>
          <a:endParaRPr lang="zh-CN" altLang="en-US"/>
        </a:p>
      </dgm:t>
    </dgm:pt>
    <dgm:pt modelId="{B2261497-5049-4717-A8A6-450FDC300762}" type="sibTrans" cxnId="{A71ECAC7-9DFB-4C45-9A5E-3A875EC9AE9A}">
      <dgm:prSet/>
      <dgm:spPr/>
      <dgm:t>
        <a:bodyPr/>
        <a:lstStyle/>
        <a:p>
          <a:endParaRPr lang="zh-CN" altLang="en-US"/>
        </a:p>
      </dgm:t>
    </dgm:pt>
    <dgm:pt modelId="{C4955467-AFC4-426F-871E-BB4D4006D1EA}">
      <dgm:prSet custT="1"/>
      <dgm:spPr/>
      <dgm:t>
        <a:bodyPr/>
        <a:lstStyle/>
        <a:p>
          <a:r>
            <a:rPr lang="zh-CN" altLang="en-US" sz="1400" dirty="0"/>
            <a:t>污点动态跟踪</a:t>
          </a:r>
        </a:p>
      </dgm:t>
    </dgm:pt>
    <dgm:pt modelId="{30C0D82A-40A8-4ACA-A23E-9F0443F32914}" type="parTrans" cxnId="{CA4B9B4C-E21C-4B82-B79F-109961E430B7}">
      <dgm:prSet/>
      <dgm:spPr/>
      <dgm:t>
        <a:bodyPr/>
        <a:lstStyle/>
        <a:p>
          <a:endParaRPr lang="zh-CN" altLang="en-US"/>
        </a:p>
      </dgm:t>
    </dgm:pt>
    <dgm:pt modelId="{D8B9143D-BA7B-4B3E-9374-B89F1EC8D579}" type="sibTrans" cxnId="{CA4B9B4C-E21C-4B82-B79F-109961E430B7}">
      <dgm:prSet/>
      <dgm:spPr/>
      <dgm:t>
        <a:bodyPr/>
        <a:lstStyle/>
        <a:p>
          <a:endParaRPr lang="zh-CN" altLang="en-US"/>
        </a:p>
      </dgm:t>
    </dgm:pt>
    <dgm:pt modelId="{0E928784-D189-42DD-932B-6516654F74C3}">
      <dgm:prSet/>
      <dgm:spPr/>
      <dgm:t>
        <a:bodyPr/>
        <a:lstStyle/>
        <a:p>
          <a:r>
            <a:rPr lang="zh-CN" altLang="en-US" dirty="0"/>
            <a:t>当污点数据从一个位置传递到另一个位置时，则认为产生了污点传播。污点动态跟踪的实现通常使用影子内存、污点传播树、污点处理指令链等手段。</a:t>
          </a:r>
        </a:p>
      </dgm:t>
    </dgm:pt>
    <dgm:pt modelId="{279CEFDA-D0A2-47AA-AA8A-250CFC0EA0AF}" type="parTrans" cxnId="{8FC2F846-484A-4F78-A749-A07E6722F88E}">
      <dgm:prSet/>
      <dgm:spPr/>
      <dgm:t>
        <a:bodyPr/>
        <a:lstStyle/>
        <a:p>
          <a:endParaRPr lang="zh-CN" altLang="en-US"/>
        </a:p>
      </dgm:t>
    </dgm:pt>
    <dgm:pt modelId="{29A0DB12-FC60-4633-91F3-FE08D8A4F006}" type="sibTrans" cxnId="{8FC2F846-484A-4F78-A749-A07E6722F88E}">
      <dgm:prSet/>
      <dgm:spPr/>
      <dgm:t>
        <a:bodyPr/>
        <a:lstStyle/>
        <a:p>
          <a:endParaRPr lang="zh-CN" altLang="en-US"/>
        </a:p>
      </dgm:t>
    </dgm:pt>
    <dgm:pt modelId="{7E244262-8751-4338-9596-E3164FFA7897}">
      <dgm:prSet custT="1"/>
      <dgm:spPr/>
      <dgm:t>
        <a:bodyPr/>
        <a:lstStyle/>
        <a:p>
          <a:r>
            <a:rPr lang="zh-CN" altLang="en-US" sz="1100" dirty="0"/>
            <a:t>来自外部的输入数据会被标记为污点数据。根据输入数据来源的不同，可分为三类：网络输入、文件输入和输入设备输入。</a:t>
          </a:r>
        </a:p>
      </dgm:t>
    </dgm:pt>
    <dgm:pt modelId="{92D36344-9530-4FF3-8D04-5680412DC4AF}" type="parTrans" cxnId="{51F21FEC-FC5B-46CB-B9EE-968C5CD3A332}">
      <dgm:prSet/>
      <dgm:spPr/>
      <dgm:t>
        <a:bodyPr/>
        <a:lstStyle/>
        <a:p>
          <a:endParaRPr lang="zh-CN" altLang="en-US"/>
        </a:p>
      </dgm:t>
    </dgm:pt>
    <dgm:pt modelId="{F673EEAB-36A8-4587-B845-28D7E0E3ECD6}" type="sibTrans" cxnId="{51F21FEC-FC5B-46CB-B9EE-968C5CD3A332}">
      <dgm:prSet/>
      <dgm:spPr/>
      <dgm:t>
        <a:bodyPr/>
        <a:lstStyle/>
        <a:p>
          <a:endParaRPr lang="zh-CN" altLang="en-US"/>
        </a:p>
      </dgm:t>
    </dgm:pt>
    <dgm:pt modelId="{844FEFCD-B0F6-44A6-8B9B-837A3AA7581F}" type="pres">
      <dgm:prSet presAssocID="{77B09C32-3C3E-4AA8-9DA7-E462E1117694}" presName="linearFlow" presStyleCnt="0">
        <dgm:presLayoutVars>
          <dgm:dir/>
          <dgm:animLvl val="lvl"/>
          <dgm:resizeHandles val="exact"/>
        </dgm:presLayoutVars>
      </dgm:prSet>
      <dgm:spPr/>
    </dgm:pt>
    <dgm:pt modelId="{B6D77BA4-7177-4B07-885A-CA33857B6AFE}" type="pres">
      <dgm:prSet presAssocID="{1917BF24-A24F-44AF-8C3D-275B45F4640F}" presName="composite" presStyleCnt="0"/>
      <dgm:spPr/>
    </dgm:pt>
    <dgm:pt modelId="{9632EB6E-CF01-4D24-9205-1394CBCBCED5}" type="pres">
      <dgm:prSet presAssocID="{1917BF24-A24F-44AF-8C3D-275B45F4640F}" presName="parTx" presStyleLbl="node1" presStyleIdx="0" presStyleCnt="3">
        <dgm:presLayoutVars>
          <dgm:chMax val="0"/>
          <dgm:chPref val="0"/>
          <dgm:bulletEnabled val="1"/>
        </dgm:presLayoutVars>
      </dgm:prSet>
      <dgm:spPr/>
    </dgm:pt>
    <dgm:pt modelId="{CFAAC180-887B-4F03-AE72-071712E2E229}" type="pres">
      <dgm:prSet presAssocID="{1917BF24-A24F-44AF-8C3D-275B45F4640F}" presName="parSh" presStyleLbl="node1" presStyleIdx="0" presStyleCnt="3"/>
      <dgm:spPr/>
    </dgm:pt>
    <dgm:pt modelId="{17C72E47-97ED-4B16-A5A0-D05D49647514}" type="pres">
      <dgm:prSet presAssocID="{1917BF24-A24F-44AF-8C3D-275B45F4640F}" presName="desTx" presStyleLbl="fgAcc1" presStyleIdx="0" presStyleCnt="3">
        <dgm:presLayoutVars>
          <dgm:bulletEnabled val="1"/>
        </dgm:presLayoutVars>
      </dgm:prSet>
      <dgm:spPr/>
    </dgm:pt>
    <dgm:pt modelId="{7FBABED9-1F0E-4552-B900-B807EBE3BBB7}" type="pres">
      <dgm:prSet presAssocID="{B2261497-5049-4717-A8A6-450FDC300762}" presName="sibTrans" presStyleLbl="sibTrans2D1" presStyleIdx="0" presStyleCnt="2"/>
      <dgm:spPr/>
    </dgm:pt>
    <dgm:pt modelId="{3EB79220-18C0-4AD2-8AA9-B25680EEFFAE}" type="pres">
      <dgm:prSet presAssocID="{B2261497-5049-4717-A8A6-450FDC300762}" presName="connTx" presStyleLbl="sibTrans2D1" presStyleIdx="0" presStyleCnt="2"/>
      <dgm:spPr/>
    </dgm:pt>
    <dgm:pt modelId="{5FDD452B-7C5C-456A-BD1F-058726364CBD}" type="pres">
      <dgm:prSet presAssocID="{C4955467-AFC4-426F-871E-BB4D4006D1EA}" presName="composite" presStyleCnt="0"/>
      <dgm:spPr/>
    </dgm:pt>
    <dgm:pt modelId="{CF759248-3A9B-468B-9869-2AA6E50E6DC7}" type="pres">
      <dgm:prSet presAssocID="{C4955467-AFC4-426F-871E-BB4D4006D1EA}" presName="parTx" presStyleLbl="node1" presStyleIdx="0" presStyleCnt="3">
        <dgm:presLayoutVars>
          <dgm:chMax val="0"/>
          <dgm:chPref val="0"/>
          <dgm:bulletEnabled val="1"/>
        </dgm:presLayoutVars>
      </dgm:prSet>
      <dgm:spPr/>
    </dgm:pt>
    <dgm:pt modelId="{F733D269-7113-4DD1-8BE3-796F42CBE4B9}" type="pres">
      <dgm:prSet presAssocID="{C4955467-AFC4-426F-871E-BB4D4006D1EA}" presName="parSh" presStyleLbl="node1" presStyleIdx="1" presStyleCnt="3"/>
      <dgm:spPr/>
    </dgm:pt>
    <dgm:pt modelId="{96DAAC30-B8F3-4BED-953D-E56D1E53426B}" type="pres">
      <dgm:prSet presAssocID="{C4955467-AFC4-426F-871E-BB4D4006D1EA}" presName="desTx" presStyleLbl="fgAcc1" presStyleIdx="1" presStyleCnt="3">
        <dgm:presLayoutVars>
          <dgm:bulletEnabled val="1"/>
        </dgm:presLayoutVars>
      </dgm:prSet>
      <dgm:spPr/>
    </dgm:pt>
    <dgm:pt modelId="{78039BD7-D2EB-490B-9638-FB649CF97535}" type="pres">
      <dgm:prSet presAssocID="{D8B9143D-BA7B-4B3E-9374-B89F1EC8D579}" presName="sibTrans" presStyleLbl="sibTrans2D1" presStyleIdx="1" presStyleCnt="2"/>
      <dgm:spPr/>
    </dgm:pt>
    <dgm:pt modelId="{436F5C69-D116-4085-8EC0-BA0951A9614A}" type="pres">
      <dgm:prSet presAssocID="{D8B9143D-BA7B-4B3E-9374-B89F1EC8D579}" presName="connTx" presStyleLbl="sibTrans2D1" presStyleIdx="1" presStyleCnt="2"/>
      <dgm:spPr/>
    </dgm:pt>
    <dgm:pt modelId="{B785E581-8F0C-491E-81CE-288613C2CFBE}" type="pres">
      <dgm:prSet presAssocID="{C40A8F60-6BEF-4E1B-8B8F-54EAC7FBB6C5}" presName="composite" presStyleCnt="0"/>
      <dgm:spPr/>
    </dgm:pt>
    <dgm:pt modelId="{87260422-2AF0-48A2-8E50-4BA45ED29788}" type="pres">
      <dgm:prSet presAssocID="{C40A8F60-6BEF-4E1B-8B8F-54EAC7FBB6C5}" presName="parTx" presStyleLbl="node1" presStyleIdx="1" presStyleCnt="3">
        <dgm:presLayoutVars>
          <dgm:chMax val="0"/>
          <dgm:chPref val="0"/>
          <dgm:bulletEnabled val="1"/>
        </dgm:presLayoutVars>
      </dgm:prSet>
      <dgm:spPr/>
    </dgm:pt>
    <dgm:pt modelId="{A9CB2133-723D-43D8-971E-5F9638B392FD}" type="pres">
      <dgm:prSet presAssocID="{C40A8F60-6BEF-4E1B-8B8F-54EAC7FBB6C5}" presName="parSh" presStyleLbl="node1" presStyleIdx="2" presStyleCnt="3"/>
      <dgm:spPr/>
    </dgm:pt>
    <dgm:pt modelId="{0E205950-4007-48F1-9AF7-DFA29BC7DBF6}" type="pres">
      <dgm:prSet presAssocID="{C40A8F60-6BEF-4E1B-8B8F-54EAC7FBB6C5}" presName="desTx" presStyleLbl="fgAcc1" presStyleIdx="2" presStyleCnt="3">
        <dgm:presLayoutVars>
          <dgm:bulletEnabled val="1"/>
        </dgm:presLayoutVars>
      </dgm:prSet>
      <dgm:spPr/>
    </dgm:pt>
  </dgm:ptLst>
  <dgm:cxnLst>
    <dgm:cxn modelId="{B6E3ED0C-37C8-43D0-B010-5B80DD1595AE}" type="presOf" srcId="{B2261497-5049-4717-A8A6-450FDC300762}" destId="{3EB79220-18C0-4AD2-8AA9-B25680EEFFAE}" srcOrd="1" destOrd="0" presId="urn:microsoft.com/office/officeart/2005/8/layout/process3"/>
    <dgm:cxn modelId="{33814F3F-99ED-446E-B38F-7BF85E592F06}" srcId="{77B09C32-3C3E-4AA8-9DA7-E462E1117694}" destId="{C40A8F60-6BEF-4E1B-8B8F-54EAC7FBB6C5}" srcOrd="2" destOrd="0" parTransId="{15CB3029-7CFC-4AAD-866C-11E32D8179F9}" sibTransId="{0140788B-2D79-4FF4-9C71-01E54EB9EB80}"/>
    <dgm:cxn modelId="{8FC2F846-484A-4F78-A749-A07E6722F88E}" srcId="{C4955467-AFC4-426F-871E-BB4D4006D1EA}" destId="{0E928784-D189-42DD-932B-6516654F74C3}" srcOrd="0" destOrd="0" parTransId="{279CEFDA-D0A2-47AA-AA8A-250CFC0EA0AF}" sibTransId="{29A0DB12-FC60-4633-91F3-FE08D8A4F006}"/>
    <dgm:cxn modelId="{22012449-D783-43AD-A849-70AAFD4BD366}" type="presOf" srcId="{77B09C32-3C3E-4AA8-9DA7-E462E1117694}" destId="{844FEFCD-B0F6-44A6-8B9B-837A3AA7581F}" srcOrd="0" destOrd="0" presId="urn:microsoft.com/office/officeart/2005/8/layout/process3"/>
    <dgm:cxn modelId="{CA4B9B4C-E21C-4B82-B79F-109961E430B7}" srcId="{77B09C32-3C3E-4AA8-9DA7-E462E1117694}" destId="{C4955467-AFC4-426F-871E-BB4D4006D1EA}" srcOrd="1" destOrd="0" parTransId="{30C0D82A-40A8-4ACA-A23E-9F0443F32914}" sibTransId="{D8B9143D-BA7B-4B3E-9374-B89F1EC8D579}"/>
    <dgm:cxn modelId="{81EB7F51-10CB-45F6-9B9B-8E4A29A96D58}" type="presOf" srcId="{C4955467-AFC4-426F-871E-BB4D4006D1EA}" destId="{F733D269-7113-4DD1-8BE3-796F42CBE4B9}" srcOrd="1" destOrd="0" presId="urn:microsoft.com/office/officeart/2005/8/layout/process3"/>
    <dgm:cxn modelId="{E01CE551-8E3E-46F0-8CB2-F963879C01E0}" type="presOf" srcId="{B2261497-5049-4717-A8A6-450FDC300762}" destId="{7FBABED9-1F0E-4552-B900-B807EBE3BBB7}" srcOrd="0" destOrd="0" presId="urn:microsoft.com/office/officeart/2005/8/layout/process3"/>
    <dgm:cxn modelId="{F3C3E354-DF19-4616-9C88-84FDA4D2EA31}" type="presOf" srcId="{C40A8F60-6BEF-4E1B-8B8F-54EAC7FBB6C5}" destId="{87260422-2AF0-48A2-8E50-4BA45ED29788}" srcOrd="0" destOrd="0" presId="urn:microsoft.com/office/officeart/2005/8/layout/process3"/>
    <dgm:cxn modelId="{7C5FEB75-CCBF-4DDE-84C3-38D3BEEB02EC}" srcId="{C40A8F60-6BEF-4E1B-8B8F-54EAC7FBB6C5}" destId="{627019E8-1C2B-4F26-B7B9-5725AEB358F4}" srcOrd="0" destOrd="0" parTransId="{F3DA1002-39BC-4B45-ADDC-9ED4F9586989}" sibTransId="{7ECF23A4-2223-47C8-B34C-CD0C29F464DC}"/>
    <dgm:cxn modelId="{3D44727C-4F9A-4FF9-8595-CDD09AF66753}" type="presOf" srcId="{C40A8F60-6BEF-4E1B-8B8F-54EAC7FBB6C5}" destId="{A9CB2133-723D-43D8-971E-5F9638B392FD}" srcOrd="1" destOrd="0" presId="urn:microsoft.com/office/officeart/2005/8/layout/process3"/>
    <dgm:cxn modelId="{C0CCA28A-A181-461E-AB07-50CB839E8D8B}" type="presOf" srcId="{1917BF24-A24F-44AF-8C3D-275B45F4640F}" destId="{9632EB6E-CF01-4D24-9205-1394CBCBCED5}" srcOrd="0" destOrd="0" presId="urn:microsoft.com/office/officeart/2005/8/layout/process3"/>
    <dgm:cxn modelId="{18B6D098-53BB-4DCD-BBEA-C4BB60813E82}" type="presOf" srcId="{1917BF24-A24F-44AF-8C3D-275B45F4640F}" destId="{CFAAC180-887B-4F03-AE72-071712E2E229}" srcOrd="1" destOrd="0" presId="urn:microsoft.com/office/officeart/2005/8/layout/process3"/>
    <dgm:cxn modelId="{A71ECAC7-9DFB-4C45-9A5E-3A875EC9AE9A}" srcId="{77B09C32-3C3E-4AA8-9DA7-E462E1117694}" destId="{1917BF24-A24F-44AF-8C3D-275B45F4640F}" srcOrd="0" destOrd="0" parTransId="{B853CBCA-88D0-492B-AD88-AAEF690C77FF}" sibTransId="{B2261497-5049-4717-A8A6-450FDC300762}"/>
    <dgm:cxn modelId="{228B4DCA-49A9-449B-9A81-06AA96066EE5}" type="presOf" srcId="{D8B9143D-BA7B-4B3E-9374-B89F1EC8D579}" destId="{436F5C69-D116-4085-8EC0-BA0951A9614A}" srcOrd="1" destOrd="0" presId="urn:microsoft.com/office/officeart/2005/8/layout/process3"/>
    <dgm:cxn modelId="{040AD5D3-B227-421D-9ADB-9C8253ED40FB}" type="presOf" srcId="{0E928784-D189-42DD-932B-6516654F74C3}" destId="{96DAAC30-B8F3-4BED-953D-E56D1E53426B}" srcOrd="0" destOrd="0" presId="urn:microsoft.com/office/officeart/2005/8/layout/process3"/>
    <dgm:cxn modelId="{D37F3DDF-9329-44D7-9E04-60C2A9CB2EE7}" type="presOf" srcId="{627019E8-1C2B-4F26-B7B9-5725AEB358F4}" destId="{0E205950-4007-48F1-9AF7-DFA29BC7DBF6}" srcOrd="0" destOrd="0" presId="urn:microsoft.com/office/officeart/2005/8/layout/process3"/>
    <dgm:cxn modelId="{084C61DF-9351-40C0-9B9B-0257BAD9DC71}" type="presOf" srcId="{7E244262-8751-4338-9596-E3164FFA7897}" destId="{17C72E47-97ED-4B16-A5A0-D05D49647514}" srcOrd="0" destOrd="0" presId="urn:microsoft.com/office/officeart/2005/8/layout/process3"/>
    <dgm:cxn modelId="{51F21FEC-FC5B-46CB-B9EE-968C5CD3A332}" srcId="{1917BF24-A24F-44AF-8C3D-275B45F4640F}" destId="{7E244262-8751-4338-9596-E3164FFA7897}" srcOrd="0" destOrd="0" parTransId="{92D36344-9530-4FF3-8D04-5680412DC4AF}" sibTransId="{F673EEAB-36A8-4587-B845-28D7E0E3ECD6}"/>
    <dgm:cxn modelId="{8DD495F0-D89E-4496-91A8-A9E6EF22317D}" type="presOf" srcId="{C4955467-AFC4-426F-871E-BB4D4006D1EA}" destId="{CF759248-3A9B-468B-9869-2AA6E50E6DC7}" srcOrd="0" destOrd="0" presId="urn:microsoft.com/office/officeart/2005/8/layout/process3"/>
    <dgm:cxn modelId="{E9428AFB-2E89-4BC2-AF4B-1ED0DFC1F720}" type="presOf" srcId="{D8B9143D-BA7B-4B3E-9374-B89F1EC8D579}" destId="{78039BD7-D2EB-490B-9638-FB649CF97535}" srcOrd="0" destOrd="0" presId="urn:microsoft.com/office/officeart/2005/8/layout/process3"/>
    <dgm:cxn modelId="{275FC4F1-F2E3-4531-8DEE-2DBD3DB7BD44}" type="presParOf" srcId="{844FEFCD-B0F6-44A6-8B9B-837A3AA7581F}" destId="{B6D77BA4-7177-4B07-885A-CA33857B6AFE}" srcOrd="0" destOrd="0" presId="urn:microsoft.com/office/officeart/2005/8/layout/process3"/>
    <dgm:cxn modelId="{BA5B82C1-9611-401E-AE91-1D53B63756AA}" type="presParOf" srcId="{B6D77BA4-7177-4B07-885A-CA33857B6AFE}" destId="{9632EB6E-CF01-4D24-9205-1394CBCBCED5}" srcOrd="0" destOrd="0" presId="urn:microsoft.com/office/officeart/2005/8/layout/process3"/>
    <dgm:cxn modelId="{973E665C-DFAA-4B26-9908-9970CFB5103C}" type="presParOf" srcId="{B6D77BA4-7177-4B07-885A-CA33857B6AFE}" destId="{CFAAC180-887B-4F03-AE72-071712E2E229}" srcOrd="1" destOrd="0" presId="urn:microsoft.com/office/officeart/2005/8/layout/process3"/>
    <dgm:cxn modelId="{5BEE13AC-1FD3-49FB-96BA-61C2BB65DAA7}" type="presParOf" srcId="{B6D77BA4-7177-4B07-885A-CA33857B6AFE}" destId="{17C72E47-97ED-4B16-A5A0-D05D49647514}" srcOrd="2" destOrd="0" presId="urn:microsoft.com/office/officeart/2005/8/layout/process3"/>
    <dgm:cxn modelId="{862C559C-22BA-4F9D-AAB2-D8F564517D3E}" type="presParOf" srcId="{844FEFCD-B0F6-44A6-8B9B-837A3AA7581F}" destId="{7FBABED9-1F0E-4552-B900-B807EBE3BBB7}" srcOrd="1" destOrd="0" presId="urn:microsoft.com/office/officeart/2005/8/layout/process3"/>
    <dgm:cxn modelId="{5123E52E-3853-4F5C-B979-A4297909DC9C}" type="presParOf" srcId="{7FBABED9-1F0E-4552-B900-B807EBE3BBB7}" destId="{3EB79220-18C0-4AD2-8AA9-B25680EEFFAE}" srcOrd="0" destOrd="0" presId="urn:microsoft.com/office/officeart/2005/8/layout/process3"/>
    <dgm:cxn modelId="{3D45EC35-A53D-4186-B80D-D2743FA4C539}" type="presParOf" srcId="{844FEFCD-B0F6-44A6-8B9B-837A3AA7581F}" destId="{5FDD452B-7C5C-456A-BD1F-058726364CBD}" srcOrd="2" destOrd="0" presId="urn:microsoft.com/office/officeart/2005/8/layout/process3"/>
    <dgm:cxn modelId="{863370C5-6F91-453D-8916-1F16E9C70DE5}" type="presParOf" srcId="{5FDD452B-7C5C-456A-BD1F-058726364CBD}" destId="{CF759248-3A9B-468B-9869-2AA6E50E6DC7}" srcOrd="0" destOrd="0" presId="urn:microsoft.com/office/officeart/2005/8/layout/process3"/>
    <dgm:cxn modelId="{CB584956-7796-4702-ACC6-D0B301F4F321}" type="presParOf" srcId="{5FDD452B-7C5C-456A-BD1F-058726364CBD}" destId="{F733D269-7113-4DD1-8BE3-796F42CBE4B9}" srcOrd="1" destOrd="0" presId="urn:microsoft.com/office/officeart/2005/8/layout/process3"/>
    <dgm:cxn modelId="{946294DB-D623-4D18-8985-27F333DDEEEA}" type="presParOf" srcId="{5FDD452B-7C5C-456A-BD1F-058726364CBD}" destId="{96DAAC30-B8F3-4BED-953D-E56D1E53426B}" srcOrd="2" destOrd="0" presId="urn:microsoft.com/office/officeart/2005/8/layout/process3"/>
    <dgm:cxn modelId="{BC70192E-9B23-4D08-B2BE-43E8FB18D579}" type="presParOf" srcId="{844FEFCD-B0F6-44A6-8B9B-837A3AA7581F}" destId="{78039BD7-D2EB-490B-9638-FB649CF97535}" srcOrd="3" destOrd="0" presId="urn:microsoft.com/office/officeart/2005/8/layout/process3"/>
    <dgm:cxn modelId="{62918945-32FB-4394-A335-F3A8A2434C57}" type="presParOf" srcId="{78039BD7-D2EB-490B-9638-FB649CF97535}" destId="{436F5C69-D116-4085-8EC0-BA0951A9614A}" srcOrd="0" destOrd="0" presId="urn:microsoft.com/office/officeart/2005/8/layout/process3"/>
    <dgm:cxn modelId="{835BF66D-79C5-4B22-B171-AC5041876E11}" type="presParOf" srcId="{844FEFCD-B0F6-44A6-8B9B-837A3AA7581F}" destId="{B785E581-8F0C-491E-81CE-288613C2CFBE}" srcOrd="4" destOrd="0" presId="urn:microsoft.com/office/officeart/2005/8/layout/process3"/>
    <dgm:cxn modelId="{0DBD7405-FE5A-467E-B87D-A23FB3BE957A}" type="presParOf" srcId="{B785E581-8F0C-491E-81CE-288613C2CFBE}" destId="{87260422-2AF0-48A2-8E50-4BA45ED29788}" srcOrd="0" destOrd="0" presId="urn:microsoft.com/office/officeart/2005/8/layout/process3"/>
    <dgm:cxn modelId="{5BD98B86-BE90-459B-943F-02D3F4B816EB}" type="presParOf" srcId="{B785E581-8F0C-491E-81CE-288613C2CFBE}" destId="{A9CB2133-723D-43D8-971E-5F9638B392FD}" srcOrd="1" destOrd="0" presId="urn:microsoft.com/office/officeart/2005/8/layout/process3"/>
    <dgm:cxn modelId="{64BD94C3-8079-400F-A0ED-7F6206D8C052}" type="presParOf" srcId="{B785E581-8F0C-491E-81CE-288613C2CFBE}" destId="{0E205950-4007-48F1-9AF7-DFA29BC7DBF6}" srcOrd="2" destOrd="0" presId="urn:microsoft.com/office/officeart/2005/8/layout/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137940-D518-43B0-82EA-7D82DF9609E4}">
      <dsp:nvSpPr>
        <dsp:cNvPr id="0" name=""/>
        <dsp:cNvSpPr/>
      </dsp:nvSpPr>
      <dsp:spPr>
        <a:xfrm>
          <a:off x="1519410" y="1349374"/>
          <a:ext cx="351878" cy="723430"/>
        </a:xfrm>
        <a:custGeom>
          <a:avLst/>
          <a:gdLst/>
          <a:ahLst/>
          <a:cxnLst/>
          <a:rect l="0" t="0" r="0" b="0"/>
          <a:pathLst>
            <a:path>
              <a:moveTo>
                <a:pt x="0" y="0"/>
              </a:moveTo>
              <a:lnTo>
                <a:pt x="175939" y="0"/>
              </a:lnTo>
              <a:lnTo>
                <a:pt x="175939" y="723430"/>
              </a:lnTo>
              <a:lnTo>
                <a:pt x="351878" y="723430"/>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675238" y="1690978"/>
        <a:ext cx="40223" cy="40223"/>
      </dsp:txXfrm>
    </dsp:sp>
    <dsp:sp modelId="{A36F6561-19E9-4CB9-9A4B-44FA3B54FA43}">
      <dsp:nvSpPr>
        <dsp:cNvPr id="0" name=""/>
        <dsp:cNvSpPr/>
      </dsp:nvSpPr>
      <dsp:spPr>
        <a:xfrm>
          <a:off x="1519410" y="625943"/>
          <a:ext cx="351878" cy="723430"/>
        </a:xfrm>
        <a:custGeom>
          <a:avLst/>
          <a:gdLst/>
          <a:ahLst/>
          <a:cxnLst/>
          <a:rect l="0" t="0" r="0" b="0"/>
          <a:pathLst>
            <a:path>
              <a:moveTo>
                <a:pt x="0" y="723430"/>
              </a:moveTo>
              <a:lnTo>
                <a:pt x="175939" y="723430"/>
              </a:lnTo>
              <a:lnTo>
                <a:pt x="175939" y="0"/>
              </a:lnTo>
              <a:lnTo>
                <a:pt x="351878" y="0"/>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675238" y="967547"/>
        <a:ext cx="40223" cy="40223"/>
      </dsp:txXfrm>
    </dsp:sp>
    <dsp:sp modelId="{C07D8110-42A4-480A-9E09-ABD07F980659}">
      <dsp:nvSpPr>
        <dsp:cNvPr id="0" name=""/>
        <dsp:cNvSpPr/>
      </dsp:nvSpPr>
      <dsp:spPr>
        <a:xfrm rot="16200000">
          <a:off x="291776" y="1092993"/>
          <a:ext cx="1942505" cy="512762"/>
        </a:xfrm>
        <a:prstGeom prst="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t>污点分析技术</a:t>
          </a:r>
        </a:p>
      </dsp:txBody>
      <dsp:txXfrm>
        <a:off x="291776" y="1092993"/>
        <a:ext cx="1942505" cy="512762"/>
      </dsp:txXfrm>
    </dsp:sp>
    <dsp:sp modelId="{1E8EDE3A-44B9-4DB0-A89F-19EBDC03E665}">
      <dsp:nvSpPr>
        <dsp:cNvPr id="0" name=""/>
        <dsp:cNvSpPr/>
      </dsp:nvSpPr>
      <dsp:spPr>
        <a:xfrm>
          <a:off x="1871289" y="369562"/>
          <a:ext cx="1681860" cy="512762"/>
        </a:xfrm>
        <a:prstGeom prst="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t>静态污点分析</a:t>
          </a:r>
        </a:p>
      </dsp:txBody>
      <dsp:txXfrm>
        <a:off x="1871289" y="369562"/>
        <a:ext cx="1681860" cy="512762"/>
      </dsp:txXfrm>
    </dsp:sp>
    <dsp:sp modelId="{3AB9EC49-7695-4AFC-BB80-6A14174F21B4}">
      <dsp:nvSpPr>
        <dsp:cNvPr id="0" name=""/>
        <dsp:cNvSpPr/>
      </dsp:nvSpPr>
      <dsp:spPr>
        <a:xfrm>
          <a:off x="1871289" y="1816424"/>
          <a:ext cx="1681860" cy="512762"/>
        </a:xfrm>
        <a:prstGeom prst="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t>动态污点分析</a:t>
          </a:r>
        </a:p>
      </dsp:txBody>
      <dsp:txXfrm>
        <a:off x="1871289" y="1816424"/>
        <a:ext cx="1681860" cy="5127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AAC180-887B-4F03-AE72-071712E2E229}">
      <dsp:nvSpPr>
        <dsp:cNvPr id="0" name=""/>
        <dsp:cNvSpPr/>
      </dsp:nvSpPr>
      <dsp:spPr>
        <a:xfrm>
          <a:off x="3042" y="198313"/>
          <a:ext cx="1383264" cy="54392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zh-CN" altLang="en-US" sz="1400" kern="1200" dirty="0"/>
            <a:t>污点数据标记</a:t>
          </a:r>
        </a:p>
      </dsp:txBody>
      <dsp:txXfrm>
        <a:off x="3042" y="198313"/>
        <a:ext cx="1383264" cy="362617"/>
      </dsp:txXfrm>
    </dsp:sp>
    <dsp:sp modelId="{17C72E47-97ED-4B16-A5A0-D05D49647514}">
      <dsp:nvSpPr>
        <dsp:cNvPr id="0" name=""/>
        <dsp:cNvSpPr/>
      </dsp:nvSpPr>
      <dsp:spPr>
        <a:xfrm>
          <a:off x="286361" y="560931"/>
          <a:ext cx="1383264" cy="1741500"/>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zh-CN" altLang="en-US" sz="1100" kern="1200" dirty="0"/>
            <a:t>来自外部的输入数据会被标记为污点数据。根据输入数据来源的不同，可分为三类：网络输入、文件输入和输入设备输入。</a:t>
          </a:r>
        </a:p>
      </dsp:txBody>
      <dsp:txXfrm>
        <a:off x="326875" y="601445"/>
        <a:ext cx="1302236" cy="1660472"/>
      </dsp:txXfrm>
    </dsp:sp>
    <dsp:sp modelId="{7FBABED9-1F0E-4552-B900-B807EBE3BBB7}">
      <dsp:nvSpPr>
        <dsp:cNvPr id="0" name=""/>
        <dsp:cNvSpPr/>
      </dsp:nvSpPr>
      <dsp:spPr>
        <a:xfrm>
          <a:off x="1596005" y="207426"/>
          <a:ext cx="444559" cy="34439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zh-CN" altLang="en-US" sz="800" kern="1200"/>
        </a:p>
      </dsp:txBody>
      <dsp:txXfrm>
        <a:off x="1596005" y="276304"/>
        <a:ext cx="341241" cy="206636"/>
      </dsp:txXfrm>
    </dsp:sp>
    <dsp:sp modelId="{F733D269-7113-4DD1-8BE3-796F42CBE4B9}">
      <dsp:nvSpPr>
        <dsp:cNvPr id="0" name=""/>
        <dsp:cNvSpPr/>
      </dsp:nvSpPr>
      <dsp:spPr>
        <a:xfrm>
          <a:off x="2225098" y="198313"/>
          <a:ext cx="1383264" cy="54392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zh-CN" altLang="en-US" sz="1400" kern="1200" dirty="0"/>
            <a:t>污点动态跟踪</a:t>
          </a:r>
        </a:p>
      </dsp:txBody>
      <dsp:txXfrm>
        <a:off x="2225098" y="198313"/>
        <a:ext cx="1383264" cy="362617"/>
      </dsp:txXfrm>
    </dsp:sp>
    <dsp:sp modelId="{96DAAC30-B8F3-4BED-953D-E56D1E53426B}">
      <dsp:nvSpPr>
        <dsp:cNvPr id="0" name=""/>
        <dsp:cNvSpPr/>
      </dsp:nvSpPr>
      <dsp:spPr>
        <a:xfrm>
          <a:off x="2508418" y="560931"/>
          <a:ext cx="1383264" cy="1741500"/>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当污点数据从一个位置传递到另一个位置时，则认为产生了污点传播。污点动态跟踪的实现通常使用影子内存、污点传播树、污点处理指令链等手段。</a:t>
          </a:r>
        </a:p>
      </dsp:txBody>
      <dsp:txXfrm>
        <a:off x="2548932" y="601445"/>
        <a:ext cx="1302236" cy="1660472"/>
      </dsp:txXfrm>
    </dsp:sp>
    <dsp:sp modelId="{78039BD7-D2EB-490B-9638-FB649CF97535}">
      <dsp:nvSpPr>
        <dsp:cNvPr id="0" name=""/>
        <dsp:cNvSpPr/>
      </dsp:nvSpPr>
      <dsp:spPr>
        <a:xfrm>
          <a:off x="3818061" y="207426"/>
          <a:ext cx="444559" cy="34439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zh-CN" altLang="en-US" sz="800" kern="1200"/>
        </a:p>
      </dsp:txBody>
      <dsp:txXfrm>
        <a:off x="3818061" y="276304"/>
        <a:ext cx="341241" cy="206636"/>
      </dsp:txXfrm>
    </dsp:sp>
    <dsp:sp modelId="{A9CB2133-723D-43D8-971E-5F9638B392FD}">
      <dsp:nvSpPr>
        <dsp:cNvPr id="0" name=""/>
        <dsp:cNvSpPr/>
      </dsp:nvSpPr>
      <dsp:spPr>
        <a:xfrm>
          <a:off x="4447155" y="198313"/>
          <a:ext cx="1383264" cy="543925"/>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zh-CN" altLang="en-US" sz="1400" kern="1200" dirty="0"/>
            <a:t>污点误用检查</a:t>
          </a:r>
        </a:p>
      </dsp:txBody>
      <dsp:txXfrm>
        <a:off x="4447155" y="198313"/>
        <a:ext cx="1383264" cy="362617"/>
      </dsp:txXfrm>
    </dsp:sp>
    <dsp:sp modelId="{0E205950-4007-48F1-9AF7-DFA29BC7DBF6}">
      <dsp:nvSpPr>
        <dsp:cNvPr id="0" name=""/>
        <dsp:cNvSpPr/>
      </dsp:nvSpPr>
      <dsp:spPr>
        <a:xfrm>
          <a:off x="4730474" y="560931"/>
          <a:ext cx="1383264" cy="1741500"/>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检查污点数据有可能被误用的指令或系统调用点（</a:t>
          </a:r>
          <a:r>
            <a:rPr lang="en-US" altLang="en-US" sz="1000" kern="1200" dirty="0"/>
            <a:t>Sink</a:t>
          </a:r>
          <a:r>
            <a:rPr lang="zh-CN" altLang="en-US" sz="1000" kern="1200" dirty="0"/>
            <a:t>点），通常需要根据一些漏洞模式来进行检查，首先需要明确常见漏洞在二进制代码上的表现形式，然后将其提炼成漏洞模式。</a:t>
          </a:r>
        </a:p>
      </dsp:txBody>
      <dsp:txXfrm>
        <a:off x="4770988" y="601445"/>
        <a:ext cx="1302236" cy="1660472"/>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2023/4/25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亮亮图文旗舰店</a:t>
            </a:r>
            <a:r>
              <a:rPr lang="en-US" altLang="zh-CN" dirty="0"/>
              <a:t>https://liangliangtuwen.tmall.com</a:t>
            </a:r>
          </a:p>
        </p:txBody>
      </p:sp>
      <p:sp>
        <p:nvSpPr>
          <p:cNvPr id="4" name="灯片编号占位符 3"/>
          <p:cNvSpPr>
            <a:spLocks noGrp="1"/>
          </p:cNvSpPr>
          <p:nvPr>
            <p:ph type="sldNum" sz="quarter" idx="10"/>
          </p:nvPr>
        </p:nvSpPr>
        <p:spPr/>
        <p:txBody>
          <a:bodyPr/>
          <a:lstStyle/>
          <a:p>
            <a:fld id="{20DEAE63-D6C4-437F-B8DA-DA689F991AA7}" type="slidenum">
              <a:rPr lang="zh-CN" altLang="en-US" smtClean="0"/>
              <a:t>1</a:t>
            </a:fld>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2</a:t>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a:t>
            </a:fld>
            <a:endParaRPr lang="zh-CN"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二进制分析：</a:t>
            </a:r>
          </a:p>
          <a:p>
            <a:pPr>
              <a:lnSpc>
                <a:spcPct val="130000"/>
              </a:lnSpc>
            </a:pPr>
            <a:r>
              <a:rPr lang="zh-CN" altLang="en-US" sz="1200" dirty="0">
                <a:latin typeface="微软雅黑" panose="020B0503020204020204" pitchFamily="34" charset="-122"/>
                <a:ea typeface="微软雅黑" panose="020B0503020204020204" pitchFamily="34" charset="-122"/>
              </a:rPr>
              <a:t>由于大多数商业软件采用闭源形式，无法获得源码，所以二进制分析法具有广泛的实用性。</a:t>
            </a:r>
            <a:endParaRPr lang="en-US" altLang="zh-CN" sz="1200" dirty="0">
              <a:latin typeface="微软雅黑" panose="020B0503020204020204" pitchFamily="34" charset="-122"/>
              <a:ea typeface="微软雅黑" panose="020B0503020204020204" pitchFamily="34" charset="-122"/>
            </a:endParaRPr>
          </a:p>
          <a:p>
            <a:pPr>
              <a:lnSpc>
                <a:spcPct val="130000"/>
              </a:lnSpc>
            </a:pPr>
            <a:r>
              <a:rPr lang="zh-CN" altLang="en-US" sz="1200" dirty="0">
                <a:latin typeface="微软雅黑" panose="020B0503020204020204" pitchFamily="34" charset="-122"/>
                <a:ea typeface="微软雅黑" panose="020B0503020204020204" pitchFamily="34" charset="-122"/>
              </a:rPr>
              <a:t>但是与源码相比，缺乏程序的结构信息，需要进行反汇编和反编译技术，</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3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静态分析：</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3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静态分析的漏洞挖掘无需运行被分析软件，而是通过静态扫描和分析其代码来发现漏洞。</a:t>
            </a:r>
          </a:p>
          <a:p>
            <a:pPr marL="0" marR="0" lvl="0" indent="0" algn="l" defTabSz="914400" rtl="0" eaLnBrk="1" fontAlgn="auto" latinLnBrk="0" hangingPunct="1">
              <a:lnSpc>
                <a:spcPct val="13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sym typeface="+mn-ea"/>
              </a:rPr>
              <a:t>被分析的代码类型有：</a:t>
            </a:r>
            <a:r>
              <a:rPr lang="zh-CN" altLang="en-US" b="1" dirty="0">
                <a:latin typeface="微软雅黑" panose="020B0503020204020204" pitchFamily="34" charset="-122"/>
                <a:ea typeface="微软雅黑" panose="020B0503020204020204" pitchFamily="34" charset="-122"/>
                <a:sym typeface="+mn-ea"/>
              </a:rPr>
              <a:t>源码和二进制分析法</a:t>
            </a:r>
          </a:p>
          <a:p>
            <a:pPr marL="0" marR="0" lvl="0" indent="0" algn="l" defTabSz="914400" rtl="0" eaLnBrk="1" fontAlgn="auto" latinLnBrk="0" hangingPunct="1">
              <a:lnSpc>
                <a:spcPct val="13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sym typeface="+mn-ea"/>
              </a:rPr>
              <a:t>动态分析</a:t>
            </a:r>
            <a:r>
              <a:rPr lang="zh-CN" altLang="en-US" b="1" dirty="0">
                <a:latin typeface="微软雅黑" panose="020B0503020204020204" pitchFamily="34" charset="-122"/>
                <a:ea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rPr>
              <a:t>基于动态分析的漏洞挖掘使用特定的输入来驱动软件运行，并在运行过程中监控其状态，例如内存使用状况和寄存器值的变化情况等。</a:t>
            </a:r>
          </a:p>
          <a:p>
            <a:pPr marL="0" marR="0" lvl="0" indent="0" algn="l" defTabSz="914400" rtl="0" eaLnBrk="1" fontAlgn="auto" latinLnBrk="0" hangingPunct="1">
              <a:lnSpc>
                <a:spcPct val="13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只有输入特定的输入，才会触发漏洞，具有较低的误报率，但是容易产生漏报。只使用于</a:t>
            </a:r>
            <a:r>
              <a:rPr lang="zh-CN" altLang="en-US" sz="1200" b="1" dirty="0">
                <a:latin typeface="微软雅黑" panose="020B0503020204020204" pitchFamily="34" charset="-122"/>
                <a:ea typeface="微软雅黑" panose="020B0503020204020204" pitchFamily="34" charset="-122"/>
              </a:rPr>
              <a:t>二进制分析法</a:t>
            </a:r>
            <a:endParaRPr lang="en-US" altLang="zh-CN" sz="1200" b="1" dirty="0">
              <a:latin typeface="微软雅黑" panose="020B0503020204020204" pitchFamily="34" charset="-122"/>
              <a:ea typeface="微软雅黑" panose="020B0503020204020204" pitchFamily="34" charset="-122"/>
            </a:endParaRPr>
          </a:p>
          <a:p>
            <a:pPr>
              <a:lnSpc>
                <a:spcPct val="130000"/>
              </a:lnSpc>
            </a:pPr>
            <a:endParaRPr lang="en-US"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A8537CBA-0E44-4282-A4F0-C3BCC1A4C2D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5</a:t>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a:sym typeface="微软雅黑" panose="020B0503020204020204" pitchFamily="34" charset="-122"/>
              </a:rPr>
              <a:t>例如</a:t>
            </a:r>
            <a:r>
              <a:rPr lang="en-US" altLang="zh-CN" dirty="0">
                <a:sym typeface="微软雅黑" panose="020B0503020204020204" pitchFamily="34" charset="-122"/>
              </a:rPr>
              <a:t>,</a:t>
            </a:r>
            <a:r>
              <a:rPr lang="zh-CN" altLang="en-US" dirty="0">
                <a:sym typeface="微软雅黑" panose="020B0503020204020204" pitchFamily="34" charset="-122"/>
              </a:rPr>
              <a:t>检查函数的调用及返回情况</a:t>
            </a:r>
            <a:r>
              <a:rPr lang="en-US" altLang="zh-CN" dirty="0">
                <a:sym typeface="微软雅黑" panose="020B0503020204020204" pitchFamily="34" charset="-122"/>
              </a:rPr>
              <a:t>,</a:t>
            </a:r>
            <a:r>
              <a:rPr lang="zh-CN" altLang="en-US" dirty="0">
                <a:sym typeface="微软雅黑" panose="020B0503020204020204" pitchFamily="34" charset="-122"/>
              </a:rPr>
              <a:t>特别是未进行边界检查或边界检查不正确的函数调用、由用户提供输入的函数、在用户缓冲区进行指针运算的函数等。</a:t>
            </a:r>
          </a:p>
          <a:p>
            <a:r>
              <a:rPr lang="zh-CN" altLang="en-US" dirty="0">
                <a:sym typeface="微软雅黑" panose="020B0503020204020204" pitchFamily="34" charset="-122"/>
              </a:rPr>
              <a:t>早期的静态漏洞分析主要使用字符串匹配、词法分析、语法分析、类型检查等基本程序分析技术。</a:t>
            </a:r>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a:t>
            </a:fld>
            <a:endParaRPr lang="zh-CN"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a:sym typeface="+mn-ea"/>
              </a:rPr>
              <a:t>基于中间表示的静态分析技术首先将源码转换为便于分析的</a:t>
            </a:r>
            <a:r>
              <a:rPr lang="zh-CN" altLang="en-US" b="1" dirty="0">
                <a:sym typeface="+mn-ea"/>
              </a:rPr>
              <a:t>中间表示（</a:t>
            </a:r>
            <a:r>
              <a:rPr lang="en-US" altLang="zh-CN" b="1" dirty="0">
                <a:sym typeface="+mn-ea"/>
              </a:rPr>
              <a:t>Intermediate </a:t>
            </a:r>
            <a:r>
              <a:rPr lang="en-US" altLang="zh-CN" b="1" dirty="0" err="1">
                <a:sym typeface="+mn-ea"/>
              </a:rPr>
              <a:t>Representation,IR</a:t>
            </a:r>
            <a:r>
              <a:rPr lang="en-US" altLang="zh-CN" b="1" dirty="0">
                <a:sym typeface="+mn-ea"/>
              </a:rPr>
              <a:t>)</a:t>
            </a:r>
            <a:r>
              <a:rPr lang="zh-CN" altLang="en-US" b="1" dirty="0">
                <a:sym typeface="+mn-ea"/>
              </a:rPr>
              <a:t>形式</a:t>
            </a:r>
            <a:r>
              <a:rPr lang="zh-CN" altLang="en-US" dirty="0">
                <a:sym typeface="+mn-ea"/>
              </a:rPr>
              <a:t>，例如三地址码；然后基于</a:t>
            </a:r>
            <a:r>
              <a:rPr lang="en-US" altLang="zh-CN" dirty="0">
                <a:sym typeface="+mn-ea"/>
              </a:rPr>
              <a:t>IR</a:t>
            </a:r>
            <a:r>
              <a:rPr lang="zh-CN" altLang="en-US" dirty="0">
                <a:sym typeface="+mn-ea"/>
              </a:rPr>
              <a:t>代码进行程序分析，通常需要构建</a:t>
            </a:r>
            <a:r>
              <a:rPr lang="en-US" altLang="zh-CN" b="1" dirty="0">
                <a:sym typeface="+mn-ea"/>
              </a:rPr>
              <a:t>IR</a:t>
            </a:r>
            <a:r>
              <a:rPr lang="zh-CN" altLang="en-US" b="1" dirty="0">
                <a:sym typeface="+mn-ea"/>
              </a:rPr>
              <a:t>代码的程序图</a:t>
            </a:r>
            <a:r>
              <a:rPr lang="zh-CN" altLang="en-US" dirty="0">
                <a:sym typeface="+mn-ea"/>
              </a:rPr>
              <a:t>，例如</a:t>
            </a:r>
            <a:r>
              <a:rPr lang="zh-CN" altLang="en-US" b="1" dirty="0">
                <a:sym typeface="+mn-ea"/>
              </a:rPr>
              <a:t>函数调用图、控制流图和程序依赖图</a:t>
            </a:r>
            <a:r>
              <a:rPr lang="zh-CN" altLang="en-US" dirty="0">
                <a:sym typeface="+mn-ea"/>
              </a:rPr>
              <a:t>等。</a:t>
            </a:r>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a:t>
            </a:fld>
            <a:endParaRPr lang="zh-CN"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a:sym typeface="+mn-ea"/>
              </a:rPr>
              <a:t>由于对于逻辑复杂的软件代码，其数据流复杂，并呈现多样性的特点，因而</a:t>
            </a:r>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a:t>
            </a:fld>
            <a:endParaRPr lang="zh-CN"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a:t>
            </a:fld>
            <a:endParaRPr lang="zh-CN"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a:t>
            </a:fld>
            <a:endParaRPr lang="zh-CN"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a:t>
            </a:fld>
            <a:endParaRPr lang="zh-CN"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a:t>
            </a:fld>
            <a:endParaRPr lang="zh-CN"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a:t>
            </a:fld>
            <a:endParaRPr lang="zh-CN"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a:t>
            </a:fld>
            <a:endParaRPr lang="zh-CN"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a:t>
            </a:fld>
            <a:endParaRPr lang="zh-CN"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a:sym typeface="+mn-ea"/>
              </a:rPr>
              <a:t>对分析所用的安全编码规则或漏洞检测规则，也需要用同样形式化语言进行描述，从而得到一组形式化条件。</a:t>
            </a:r>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a:t>
            </a:fld>
            <a:endParaRPr lang="zh-CN" alt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chemeClr val="tx2"/>
                </a:solidFill>
                <a:sym typeface="+mn-ea"/>
              </a:rPr>
              <a:t>模型检验技术：</a:t>
            </a:r>
            <a:endParaRPr lang="zh-CN" altLang="en-US" dirty="0">
              <a:sym typeface="微软雅黑" panose="020B0503020204020204" pitchFamily="34" charset="-122"/>
            </a:endParaRPr>
          </a:p>
          <a:p>
            <a:r>
              <a:rPr lang="zh-CN" altLang="en-US" dirty="0">
                <a:sym typeface="微软雅黑" panose="020B0503020204020204" pitchFamily="34" charset="-122"/>
              </a:rPr>
              <a:t>模型检验也可验证系统的部分形式化规格，即对于只给出了部分规格的系统，通过搜索也可以验证这部分的正确性。在搜索过程中，如果模型检验发现所检验的性质未满足，则终止搜索并给出反例</a:t>
            </a:r>
            <a:endParaRPr lang="zh-CN" altLang="en-US" dirty="0">
              <a:sym typeface="+mn-ea"/>
            </a:endParaRPr>
          </a:p>
          <a:p>
            <a:r>
              <a:rPr lang="zh-CN" altLang="en-US" dirty="0">
                <a:solidFill>
                  <a:schemeClr val="tx2"/>
                </a:solidFill>
                <a:sym typeface="+mn-ea"/>
              </a:rPr>
              <a:t>定理证明技术：</a:t>
            </a:r>
            <a:endParaRPr lang="en-US" altLang="zh-CN" dirty="0">
              <a:solidFill>
                <a:schemeClr val="tx2"/>
              </a:solidFill>
            </a:endParaRPr>
          </a:p>
          <a:p>
            <a:r>
              <a:rPr lang="zh-CN" altLang="en-US" dirty="0">
                <a:sym typeface="+mn-ea"/>
              </a:rPr>
              <a:t>为了获得指定的属性以实现有效的证明，这些工具都要求程序员通过向源代码中添加特殊形式的注释来描述程序的前置条件、后置条件和循环不变量。这无疑增加了程序员的工作量，也导致该方法难以广泛应用于大型应用程序中。</a:t>
            </a:r>
            <a:endParaRPr lang="en-US" altLang="zh-CN" dirty="0">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19</a:t>
            </a:fld>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21</a:t>
            </a:fld>
            <a:endParaRPr lang="zh-CN" altLang="en-US" sz="1200"/>
          </a:p>
        </p:txBody>
      </p:sp>
    </p:spTree>
    <p:extLst>
      <p:ext uri="{BB962C8B-B14F-4D97-AF65-F5344CB8AC3E}">
        <p14:creationId xmlns:p14="http://schemas.microsoft.com/office/powerpoint/2010/main" val="24261103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22</a:t>
            </a:fld>
            <a:endParaRPr lang="zh-CN" altLang="en-US" sz="1200"/>
          </a:p>
        </p:txBody>
      </p:sp>
    </p:spTree>
    <p:extLst>
      <p:ext uri="{BB962C8B-B14F-4D97-AF65-F5344CB8AC3E}">
        <p14:creationId xmlns:p14="http://schemas.microsoft.com/office/powerpoint/2010/main" val="10755779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23</a:t>
            </a:fld>
            <a:endParaRPr lang="zh-CN" altLang="en-US" sz="1200"/>
          </a:p>
        </p:txBody>
      </p:sp>
    </p:spTree>
    <p:extLst>
      <p:ext uri="{BB962C8B-B14F-4D97-AF65-F5344CB8AC3E}">
        <p14:creationId xmlns:p14="http://schemas.microsoft.com/office/powerpoint/2010/main" val="17571137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24</a:t>
            </a:fld>
            <a:endParaRPr lang="zh-CN" altLang="en-US" sz="1200"/>
          </a:p>
        </p:txBody>
      </p:sp>
    </p:spTree>
    <p:extLst>
      <p:ext uri="{BB962C8B-B14F-4D97-AF65-F5344CB8AC3E}">
        <p14:creationId xmlns:p14="http://schemas.microsoft.com/office/powerpoint/2010/main" val="2170210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25</a:t>
            </a:fld>
            <a:endParaRPr lang="zh-CN" altLang="en-US" sz="1200"/>
          </a:p>
        </p:txBody>
      </p:sp>
    </p:spTree>
    <p:extLst>
      <p:ext uri="{BB962C8B-B14F-4D97-AF65-F5344CB8AC3E}">
        <p14:creationId xmlns:p14="http://schemas.microsoft.com/office/powerpoint/2010/main" val="233051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2023/4/25</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27</a:t>
            </a:fld>
            <a:endParaRPr lang="zh-CN" altLang="en-US" sz="1200"/>
          </a:p>
        </p:txBody>
      </p:sp>
    </p:spTree>
    <p:extLst>
      <p:ext uri="{BB962C8B-B14F-4D97-AF65-F5344CB8AC3E}">
        <p14:creationId xmlns:p14="http://schemas.microsoft.com/office/powerpoint/2010/main" val="36755176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33</a:t>
            </a:fld>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34</a:t>
            </a:fld>
            <a:endParaRPr lang="zh-CN" altLang="en-US" dirty="0"/>
          </a:p>
        </p:txBody>
      </p:sp>
    </p:spTree>
    <p:extLst>
      <p:ext uri="{BB962C8B-B14F-4D97-AF65-F5344CB8AC3E}">
        <p14:creationId xmlns:p14="http://schemas.microsoft.com/office/powerpoint/2010/main" val="40998727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35</a:t>
            </a:fld>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37</a:t>
            </a:fld>
            <a:endParaRPr lang="zh-CN" altLang="en-US"/>
          </a:p>
        </p:txBody>
      </p:sp>
    </p:spTree>
    <p:extLst>
      <p:ext uri="{BB962C8B-B14F-4D97-AF65-F5344CB8AC3E}">
        <p14:creationId xmlns:p14="http://schemas.microsoft.com/office/powerpoint/2010/main" val="34754127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38</a:t>
            </a:fld>
            <a:endParaRPr lang="zh-CN" altLang="en-US"/>
          </a:p>
        </p:txBody>
      </p:sp>
    </p:spTree>
    <p:extLst>
      <p:ext uri="{BB962C8B-B14F-4D97-AF65-F5344CB8AC3E}">
        <p14:creationId xmlns:p14="http://schemas.microsoft.com/office/powerpoint/2010/main" val="3715232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39</a:t>
            </a:fld>
            <a:endParaRPr lang="zh-CN" altLang="en-US"/>
          </a:p>
        </p:txBody>
      </p:sp>
    </p:spTree>
    <p:extLst>
      <p:ext uri="{BB962C8B-B14F-4D97-AF65-F5344CB8AC3E}">
        <p14:creationId xmlns:p14="http://schemas.microsoft.com/office/powerpoint/2010/main" val="9982883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40</a:t>
            </a:fld>
            <a:endParaRPr lang="zh-CN" altLang="en-US"/>
          </a:p>
        </p:txBody>
      </p:sp>
    </p:spTree>
    <p:extLst>
      <p:ext uri="{BB962C8B-B14F-4D97-AF65-F5344CB8AC3E}">
        <p14:creationId xmlns:p14="http://schemas.microsoft.com/office/powerpoint/2010/main" val="42356389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41</a:t>
            </a:fld>
            <a:endParaRPr lang="zh-CN" altLang="en-US"/>
          </a:p>
        </p:txBody>
      </p:sp>
    </p:spTree>
    <p:extLst>
      <p:ext uri="{BB962C8B-B14F-4D97-AF65-F5344CB8AC3E}">
        <p14:creationId xmlns:p14="http://schemas.microsoft.com/office/powerpoint/2010/main" val="20740504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42</a:t>
            </a:fld>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44</a:t>
            </a:fld>
            <a:endParaRPr lang="zh-CN" altLang="en-US"/>
          </a:p>
        </p:txBody>
      </p:sp>
    </p:spTree>
    <p:extLst>
      <p:ext uri="{BB962C8B-B14F-4D97-AF65-F5344CB8AC3E}">
        <p14:creationId xmlns:p14="http://schemas.microsoft.com/office/powerpoint/2010/main" val="6174592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46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transition spd="slow">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568D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3" y="-20538"/>
            <a:ext cx="1704311" cy="720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2023/4/25</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5.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image" Target="../media/image5.png"/><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6.xml"/><Relationship Id="rId5" Type="http://schemas.openxmlformats.org/officeDocument/2006/relationships/image" Target="../media/image5.png"/><Relationship Id="rId4" Type="http://schemas.openxmlformats.org/officeDocument/2006/relationships/image" Target="../media/image7.jpe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5.png"/><Relationship Id="rId4" Type="http://schemas.openxmlformats.org/officeDocument/2006/relationships/image" Target="../media/image7.jpe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slideLayout" Target="../slideLayouts/slideLayout1.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tags" Target="../tags/tag26.xm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image" Target="../media/image5.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5" Type="http://schemas.openxmlformats.org/officeDocument/2006/relationships/tags" Target="../tags/tag14.xml"/><Relationship Id="rId15" Type="http://schemas.openxmlformats.org/officeDocument/2006/relationships/tags" Target="../tags/tag24.xml"/><Relationship Id="rId10" Type="http://schemas.openxmlformats.org/officeDocument/2006/relationships/tags" Target="../tags/tag19.xml"/><Relationship Id="rId19" Type="http://schemas.openxmlformats.org/officeDocument/2006/relationships/notesSlide" Target="../notesSlides/notesSlide29.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s>
</file>

<file path=ppt/slides/_rels/slide30.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26.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5.png"/><Relationship Id="rId5" Type="http://schemas.openxmlformats.org/officeDocument/2006/relationships/notesSlide" Target="../notesSlides/notesSlide30.xml"/><Relationship Id="rId4"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5.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5.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6.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6.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notesSlide" Target="../notesSlides/notesSlide36.xml"/><Relationship Id="rId7" Type="http://schemas.openxmlformats.org/officeDocument/2006/relationships/diagramQuickStyle" Target="../diagrams/quickStyle1.xml"/><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png"/><Relationship Id="rId9" Type="http://schemas.microsoft.com/office/2007/relationships/diagramDrawing" Target="../diagrams/drawing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tags" Target="../tags/tag35.xml"/><Relationship Id="rId5" Type="http://schemas.openxmlformats.org/officeDocument/2006/relationships/image" Target="../media/image29.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3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tags" Target="../tags/tag37.xml"/><Relationship Id="rId5" Type="http://schemas.openxmlformats.org/officeDocument/2006/relationships/image" Target="../media/image30.pn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notesSlide" Target="../notesSlides/notesSlide40.xml"/><Relationship Id="rId7" Type="http://schemas.openxmlformats.org/officeDocument/2006/relationships/diagramQuickStyle" Target="../diagrams/quickStyle2.xml"/><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5.png"/><Relationship Id="rId9" Type="http://schemas.microsoft.com/office/2007/relationships/diagramDrawing" Target="../diagrams/drawing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7" Type="http://schemas.openxmlformats.org/officeDocument/2006/relationships/image" Target="../media/image34.png"/><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tags" Target="../tags/tag40.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41.xml"/><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tags" Target="../tags/tag42.xm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605406"/>
            <a:ext cx="9144000" cy="1828235"/>
          </a:xfrm>
          <a:prstGeom prst="rect">
            <a:avLst/>
          </a:prstGeom>
          <a:solidFill>
            <a:srgbClr val="0C5663"/>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103" name="Picture 2" descr="C:\Users\Administrator\Desktop\微立体创业计划\001.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3353012" y="285261"/>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38803" y="210279"/>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8015413" y="5314104"/>
            <a:ext cx="1128587" cy="380882"/>
          </a:xfrm>
          <a:prstGeom prst="rect">
            <a:avLst/>
          </a:prstGeom>
          <a:noFill/>
        </p:spPr>
        <p:txBody>
          <a:bodyPr wrap="square" lIns="91413" tIns="45706" rIns="91413" bIns="45706" rtlCol="0">
            <a:spAutoFit/>
          </a:bodyPr>
          <a:lstStyle/>
          <a:p>
            <a:r>
              <a:rPr lang="zh-CN" altLang="en-US" dirty="0"/>
              <a:t>延时文字</a:t>
            </a:r>
          </a:p>
        </p:txBody>
      </p:sp>
      <p:sp>
        <p:nvSpPr>
          <p:cNvPr id="23" name="圆角矩形 22"/>
          <p:cNvSpPr/>
          <p:nvPr/>
        </p:nvSpPr>
        <p:spPr>
          <a:xfrm>
            <a:off x="2349113" y="3309841"/>
            <a:ext cx="4391725" cy="431915"/>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
        <p:nvSpPr>
          <p:cNvPr id="24" name="TextBox 23"/>
          <p:cNvSpPr txBox="1"/>
          <p:nvPr/>
        </p:nvSpPr>
        <p:spPr>
          <a:xfrm>
            <a:off x="2933451" y="3289685"/>
            <a:ext cx="2245360" cy="459105"/>
          </a:xfrm>
          <a:prstGeom prst="rect">
            <a:avLst/>
          </a:prstGeom>
          <a:noFill/>
        </p:spPr>
        <p:txBody>
          <a:bodyPr wrap="none" lIns="91413" tIns="45706" rIns="91413" bIns="45706" rtlCol="0">
            <a:spAutoFit/>
          </a:bodyPr>
          <a:lstStyle/>
          <a:p>
            <a:r>
              <a:rPr lang="en-US" altLang="zh-CN" sz="2400" dirty="0">
                <a:solidFill>
                  <a:schemeClr val="bg1"/>
                </a:solidFill>
                <a:effectLst>
                  <a:outerShdw blurRad="50800" dist="38100" dir="10800000" algn="r" rotWithShape="0">
                    <a:prstClr val="black">
                      <a:alpha val="40000"/>
                    </a:prstClr>
                  </a:outerShdw>
                </a:effectLst>
                <a:latin typeface="方正兰亭粗黑_GBK" panose="02000000000000000000" pitchFamily="2" charset="-122"/>
                <a:ea typeface="方正兰亭粗黑_GBK" panose="02000000000000000000" pitchFamily="2" charset="-122"/>
              </a:rPr>
              <a:t>          </a:t>
            </a:r>
            <a:r>
              <a:rPr lang="zh-CN" altLang="en-US" sz="2400" dirty="0">
                <a:solidFill>
                  <a:schemeClr val="bg1"/>
                </a:solidFill>
                <a:effectLst>
                  <a:outerShdw blurRad="50800" dist="38100" dir="10800000" algn="r" rotWithShape="0">
                    <a:prstClr val="black">
                      <a:alpha val="40000"/>
                    </a:prstClr>
                  </a:outerShdw>
                </a:effectLst>
                <a:latin typeface="+mj-ea"/>
                <a:ea typeface="+mj-ea"/>
              </a:rPr>
              <a:t>暨南大学</a:t>
            </a:r>
          </a:p>
        </p:txBody>
      </p:sp>
      <p:grpSp>
        <p:nvGrpSpPr>
          <p:cNvPr id="25" name="Group 91"/>
          <p:cNvGrpSpPr/>
          <p:nvPr/>
        </p:nvGrpSpPr>
        <p:grpSpPr bwMode="auto">
          <a:xfrm>
            <a:off x="2359829" y="3325361"/>
            <a:ext cx="390552" cy="616758"/>
            <a:chOff x="936" y="1480"/>
            <a:chExt cx="1589" cy="2510"/>
          </a:xfrm>
        </p:grpSpPr>
        <p:grpSp>
          <p:nvGrpSpPr>
            <p:cNvPr id="26" name="组合 33"/>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mj-lt"/>
                  <a:ea typeface="方正超粗黑简体" panose="03000509000000000000" pitchFamily="65"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mj-lt"/>
                  <a:ea typeface="方正超粗黑简体" panose="03000509000000000000" pitchFamily="65"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700" b="1">
                  <a:solidFill>
                    <a:srgbClr val="CA0098"/>
                  </a:solidFill>
                  <a:latin typeface="微软雅黑" panose="020B0503020204020204" pitchFamily="34" charset="-122"/>
                  <a:ea typeface="微软雅黑" panose="020B0503020204020204" pitchFamily="34" charset="-122"/>
                </a:endParaRPr>
              </a:p>
            </p:txBody>
          </p:sp>
        </p:grpSp>
        <p:grpSp>
          <p:nvGrpSpPr>
            <p:cNvPr id="27" name="组合 4"/>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grpSp>
      <p:sp>
        <p:nvSpPr>
          <p:cNvPr id="2" name="TextBox 1"/>
          <p:cNvSpPr txBox="1"/>
          <p:nvPr/>
        </p:nvSpPr>
        <p:spPr>
          <a:xfrm>
            <a:off x="1524530" y="2611207"/>
            <a:ext cx="6201036" cy="646303"/>
          </a:xfrm>
          <a:prstGeom prst="rect">
            <a:avLst/>
          </a:prstGeom>
          <a:noFill/>
        </p:spPr>
        <p:txBody>
          <a:bodyPr wrap="square" lIns="91413" tIns="45706" rIns="91413" bIns="45706" rtlCol="0">
            <a:spAutoFit/>
          </a:bodyPr>
          <a:lstStyle/>
          <a:p>
            <a:pPr algn="ctr"/>
            <a:r>
              <a:rPr lang="zh-CN" altLang="en-US" sz="3600" b="1" dirty="0">
                <a:solidFill>
                  <a:schemeClr val="bg1"/>
                </a:solidFill>
                <a:latin typeface="微软雅黑" panose="020B0503020204020204" pitchFamily="34" charset="-122"/>
                <a:ea typeface="微软雅黑" panose="020B0503020204020204" pitchFamily="34" charset="-122"/>
              </a:rPr>
              <a:t>漏洞挖掘</a:t>
            </a:r>
          </a:p>
        </p:txBody>
      </p:sp>
      <p:sp>
        <p:nvSpPr>
          <p:cNvPr id="5" name="TextBox 4"/>
          <p:cNvSpPr txBox="1"/>
          <p:nvPr/>
        </p:nvSpPr>
        <p:spPr>
          <a:xfrm>
            <a:off x="2750381" y="3751322"/>
            <a:ext cx="3871399" cy="738664"/>
          </a:xfrm>
          <a:prstGeom prst="rect">
            <a:avLst/>
          </a:prstGeom>
          <a:noFill/>
        </p:spPr>
        <p:txBody>
          <a:bodyPr wrap="square" rtlCol="0">
            <a:spAutoFit/>
          </a:bodyPr>
          <a:lstStyle/>
          <a:p>
            <a:pPr algn="ctr"/>
            <a:r>
              <a:rPr lang="zh-TW" altLang="en-US" sz="1400" dirty="0">
                <a:solidFill>
                  <a:schemeClr val="bg1"/>
                </a:solidFill>
                <a:latin typeface="微软雅黑" panose="020B0503020204020204" pitchFamily="34" charset="-122"/>
                <a:ea typeface="微软雅黑" panose="020B0503020204020204" pitchFamily="34" charset="-122"/>
              </a:rPr>
              <a:t>汇报人：</a:t>
            </a:r>
            <a:r>
              <a:rPr lang="zh-CN" altLang="en-US" sz="1400" dirty="0">
                <a:solidFill>
                  <a:schemeClr val="bg1"/>
                </a:solidFill>
                <a:latin typeface="微软雅黑" panose="020B0503020204020204" pitchFamily="34" charset="-122"/>
                <a:ea typeface="微软雅黑" panose="020B0503020204020204" pitchFamily="34" charset="-122"/>
              </a:rPr>
              <a:t>李妙旋</a:t>
            </a:r>
            <a:r>
              <a:rPr lang="zh-TW" altLang="en-US"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洪育懋</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zh-TW" altLang="en-US" sz="1400" dirty="0">
                <a:solidFill>
                  <a:schemeClr val="bg1"/>
                </a:solidFill>
                <a:latin typeface="微软雅黑" panose="020B0503020204020204" pitchFamily="34" charset="-122"/>
                <a:ea typeface="微软雅黑" panose="020B0503020204020204" pitchFamily="34" charset="-122"/>
              </a:rPr>
              <a:t>组员：</a:t>
            </a:r>
            <a:r>
              <a:rPr lang="zh-CN" altLang="en-US" sz="1400" dirty="0">
                <a:solidFill>
                  <a:schemeClr val="bg1"/>
                </a:solidFill>
                <a:latin typeface="微软雅黑" panose="020B0503020204020204" pitchFamily="34" charset="-122"/>
                <a:ea typeface="微软雅黑" panose="020B0503020204020204" pitchFamily="34" charset="-122"/>
              </a:rPr>
              <a:t>朱东炯</a:t>
            </a:r>
            <a:r>
              <a:rPr lang="zh-TW" altLang="en-US"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杨美红</a:t>
            </a:r>
            <a:r>
              <a:rPr lang="zh-TW" altLang="en-US"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江建美</a:t>
            </a:r>
          </a:p>
          <a:p>
            <a:endParaRPr lang="zh-CN" altLang="en-US" sz="1400" dirty="0">
              <a:solidFill>
                <a:schemeClr val="bg1"/>
              </a:solidFill>
              <a:latin typeface="微软雅黑" panose="020B0503020204020204" pitchFamily="34" charset="-122"/>
              <a:ea typeface="微软雅黑" panose="020B0503020204020204" pitchFamily="34" charset="-122"/>
            </a:endParaRPr>
          </a:p>
        </p:txBody>
      </p:sp>
      <p:pic>
        <p:nvPicPr>
          <p:cNvPr id="9" name="图片 8" descr="暨大3"/>
          <p:cNvPicPr>
            <a:picLocks noChangeAspect="1"/>
          </p:cNvPicPr>
          <p:nvPr/>
        </p:nvPicPr>
        <p:blipFill>
          <a:blip r:embed="rId6"/>
          <a:stretch>
            <a:fillRect/>
          </a:stretch>
        </p:blipFill>
        <p:spPr>
          <a:xfrm>
            <a:off x="6533515" y="21590"/>
            <a:ext cx="2610485" cy="984885"/>
          </a:xfrm>
          <a:prstGeom prst="rect">
            <a:avLst/>
          </a:prstGeom>
        </p:spPr>
      </p:pic>
      <p:pic>
        <p:nvPicPr>
          <p:cNvPr id="10" name="图片 9" descr="暨大4"/>
          <p:cNvPicPr>
            <a:picLocks noChangeAspect="1"/>
          </p:cNvPicPr>
          <p:nvPr/>
        </p:nvPicPr>
        <p:blipFill>
          <a:blip r:embed="rId7"/>
          <a:stretch>
            <a:fillRect/>
          </a:stretch>
        </p:blipFill>
        <p:spPr>
          <a:xfrm>
            <a:off x="3679190" y="285115"/>
            <a:ext cx="2149475" cy="21494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0C56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773787"/>
            <a:ext cx="4786114" cy="707886"/>
          </a:xfrm>
          <a:prstGeom prst="rect">
            <a:avLst/>
          </a:prstGeom>
          <a:noFill/>
        </p:spPr>
        <p:txBody>
          <a:bodyPr wrap="square" rtlCol="0">
            <a:spAutoFit/>
          </a:bodyPr>
          <a:lstStyle/>
          <a:p>
            <a:r>
              <a:rPr lang="zh-CN" altLang="en-US" sz="4000" b="1" dirty="0">
                <a:latin typeface="等线" panose="02010600030101010101" pitchFamily="2" charset="-122"/>
                <a:ea typeface="等线" panose="02010600030101010101" pitchFamily="2" charset="-122"/>
              </a:rPr>
              <a:t>漏洞挖掘概述</a:t>
            </a:r>
            <a:endParaRPr lang="en-US" altLang="zh-CN" sz="4000" b="1" dirty="0">
              <a:latin typeface="等线" panose="02010600030101010101" pitchFamily="2" charset="-122"/>
              <a:ea typeface="等线" panose="02010600030101010101" pitchFamily="2" charset="-122"/>
            </a:endParaRPr>
          </a:p>
        </p:txBody>
      </p:sp>
      <p:sp>
        <p:nvSpPr>
          <p:cNvPr id="3" name="TextBox 2"/>
          <p:cNvSpPr txBox="1"/>
          <p:nvPr/>
        </p:nvSpPr>
        <p:spPr>
          <a:xfrm>
            <a:off x="2394866" y="2896649"/>
            <a:ext cx="1241030" cy="307777"/>
          </a:xfrm>
          <a:prstGeom prst="rect">
            <a:avLst/>
          </a:prstGeom>
          <a:noFill/>
        </p:spPr>
        <p:txBody>
          <a:bodyPr wrap="square" lIns="0" tIns="0" rIns="0" bIns="0"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第一部分</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grpSp>
      <p:sp>
        <p:nvSpPr>
          <p:cNvPr id="18" name="椭圆 17"/>
          <p:cNvSpPr/>
          <p:nvPr/>
        </p:nvSpPr>
        <p:spPr>
          <a:xfrm>
            <a:off x="4132264" y="262102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19" name="TextBox 27"/>
          <p:cNvSpPr txBox="1"/>
          <p:nvPr/>
        </p:nvSpPr>
        <p:spPr>
          <a:xfrm>
            <a:off x="4426152" y="2990354"/>
            <a:ext cx="1569660"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挖掘技术分类</a:t>
            </a:r>
            <a:endParaRPr lang="en-US" altLang="zh-CN" dirty="0">
              <a:latin typeface="微软雅黑" panose="020B0503020204020204" pitchFamily="34" charset="-122"/>
              <a:ea typeface="微软雅黑" panose="020B0503020204020204" pitchFamily="34" charset="-122"/>
            </a:endParaRPr>
          </a:p>
        </p:txBody>
      </p:sp>
      <p:sp>
        <p:nvSpPr>
          <p:cNvPr id="21" name="椭圆 20"/>
          <p:cNvSpPr/>
          <p:nvPr/>
        </p:nvSpPr>
        <p:spPr>
          <a:xfrm>
            <a:off x="4132264" y="301340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2" name="TextBox 27"/>
          <p:cNvSpPr txBox="1"/>
          <p:nvPr/>
        </p:nvSpPr>
        <p:spPr>
          <a:xfrm>
            <a:off x="4426152" y="2562840"/>
            <a:ext cx="180049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漏洞挖掘的定义</a:t>
            </a:r>
          </a:p>
        </p:txBody>
      </p:sp>
      <p:sp>
        <p:nvSpPr>
          <p:cNvPr id="8" name="文本框 7"/>
          <p:cNvSpPr txBox="1"/>
          <p:nvPr/>
        </p:nvSpPr>
        <p:spPr>
          <a:xfrm>
            <a:off x="4483100" y="3359686"/>
            <a:ext cx="3613150" cy="7386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被分析软件的代码形式</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被分析软件是否运行</a:t>
            </a:r>
            <a:endParaRPr lang="zh-CN" altLang="en-US" sz="1400" dirty="0"/>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 name="TextBox 43"/>
          <p:cNvSpPr>
            <a:spLocks noChangeArrowheads="1"/>
          </p:cNvSpPr>
          <p:nvPr/>
        </p:nvSpPr>
        <p:spPr bwMode="auto">
          <a:xfrm>
            <a:off x="3158291" y="961734"/>
            <a:ext cx="2311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2800" b="1" dirty="0">
                <a:latin typeface="微软雅黑" panose="020B0503020204020204" pitchFamily="34" charset="-122"/>
                <a:ea typeface="微软雅黑" panose="020B0503020204020204" pitchFamily="34" charset="-122"/>
              </a:rPr>
              <a:t>漏洞挖掘</a:t>
            </a:r>
          </a:p>
        </p:txBody>
      </p:sp>
      <p:grpSp>
        <p:nvGrpSpPr>
          <p:cNvPr id="6155" name="组合 2"/>
          <p:cNvGrpSpPr/>
          <p:nvPr/>
        </p:nvGrpSpPr>
        <p:grpSpPr bwMode="auto">
          <a:xfrm>
            <a:off x="2812735" y="1067373"/>
            <a:ext cx="3002511" cy="219607"/>
            <a:chOff x="0" y="0"/>
            <a:chExt cx="3580582" cy="158874"/>
          </a:xfrm>
        </p:grpSpPr>
        <p:grpSp>
          <p:nvGrpSpPr>
            <p:cNvPr id="6156" name="组合 61"/>
            <p:cNvGrpSpPr/>
            <p:nvPr/>
          </p:nvGrpSpPr>
          <p:grpSpPr bwMode="auto">
            <a:xfrm>
              <a:off x="0" y="0"/>
              <a:ext cx="792088" cy="158874"/>
              <a:chOff x="0" y="0"/>
              <a:chExt cx="792088" cy="158874"/>
            </a:xfrm>
          </p:grpSpPr>
          <p:sp>
            <p:nvSpPr>
              <p:cNvPr id="6157" name="直接连接符 70"/>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8" name="直接连接符 71"/>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9" name="直接连接符 72"/>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6160" name="组合 62"/>
            <p:cNvGrpSpPr/>
            <p:nvPr/>
          </p:nvGrpSpPr>
          <p:grpSpPr bwMode="auto">
            <a:xfrm rot="10800000">
              <a:off x="2788494" y="0"/>
              <a:ext cx="792088" cy="158874"/>
              <a:chOff x="0" y="0"/>
              <a:chExt cx="792088" cy="158874"/>
            </a:xfrm>
          </p:grpSpPr>
          <p:sp>
            <p:nvSpPr>
              <p:cNvPr id="6161" name="直接连接符 67"/>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2" name="直接连接符 68"/>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3" name="直接连接符 69"/>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2249334"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漏洞挖掘的定义</a:t>
            </a:r>
          </a:p>
        </p:txBody>
      </p:sp>
      <p:grpSp>
        <p:nvGrpSpPr>
          <p:cNvPr id="45" name="组合 44"/>
          <p:cNvGrpSpPr/>
          <p:nvPr/>
        </p:nvGrpSpPr>
        <p:grpSpPr>
          <a:xfrm>
            <a:off x="1603099" y="1608099"/>
            <a:ext cx="5421785" cy="3118252"/>
            <a:chOff x="6059464" y="3524926"/>
            <a:chExt cx="2185594" cy="1224902"/>
          </a:xfrm>
        </p:grpSpPr>
        <p:grpSp>
          <p:nvGrpSpPr>
            <p:cNvPr id="46" name="组合 45"/>
            <p:cNvGrpSpPr/>
            <p:nvPr/>
          </p:nvGrpSpPr>
          <p:grpSpPr>
            <a:xfrm>
              <a:off x="6059464" y="3524926"/>
              <a:ext cx="2185594" cy="1224902"/>
              <a:chOff x="4304043" y="1286668"/>
              <a:chExt cx="3837944" cy="2757793"/>
            </a:xfrm>
            <a:effectLst>
              <a:outerShdw blurRad="381000" dist="254000" dir="8100000" algn="tr" rotWithShape="0">
                <a:prstClr val="black">
                  <a:alpha val="40000"/>
                </a:prstClr>
              </a:outerShdw>
            </a:effectLst>
          </p:grpSpPr>
          <p:sp>
            <p:nvSpPr>
              <p:cNvPr id="50" name="圆角矩形 49"/>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4351930" y="1330004"/>
                <a:ext cx="3742172" cy="26711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TextBox 88"/>
            <p:cNvSpPr>
              <a:spLocks noChangeArrowheads="1"/>
            </p:cNvSpPr>
            <p:nvPr/>
          </p:nvSpPr>
          <p:spPr bwMode="auto">
            <a:xfrm>
              <a:off x="6252942" y="3774677"/>
              <a:ext cx="1798637" cy="653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50000"/>
                </a:lnSpc>
              </a:pP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sym typeface="微软雅黑" panose="020B0503020204020204" pitchFamily="34" charset="-122"/>
                </a:rPr>
                <a:t>漏洞挖掘是使用程序分析或软件安全测试方法，尽可能发现软件中潜在漏洞的技术。</a:t>
              </a:r>
              <a:endParaRPr lang="en-US" altLang="zh-CN" sz="1400" dirty="0">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sym typeface="微软雅黑" panose="020B0503020204020204" pitchFamily="34" charset="-122"/>
                </a:rPr>
                <a:t>通过对系统中潜在漏洞的挖掘，可提升系统的安全性，使之更有效地抵御攻击。</a:t>
              </a:r>
              <a:endParaRPr lang="en-US" altLang="zh-CN" sz="1400" dirty="0">
                <a:latin typeface="微软雅黑" panose="020B0503020204020204" pitchFamily="34" charset="-122"/>
                <a:ea typeface="微软雅黑" panose="020B0503020204020204" pitchFamily="34" charset="-122"/>
                <a:sym typeface="微软雅黑" panose="020B0503020204020204" pitchFamily="34" charset="-122"/>
              </a:endParaRPr>
            </a:p>
            <a:p>
              <a:pPr algn="ctr">
                <a:lnSpc>
                  <a:spcPct val="150000"/>
                </a:lnSpc>
              </a:pPr>
              <a:endParaRPr lang="en-US" altLang="zh-CN" sz="16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4" descr="F:\0PPT素材\背景及图片\白麻子.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p:cNvCxnSpPr/>
          <p:nvPr/>
        </p:nvCxnSpPr>
        <p:spPr>
          <a:xfrm flipV="1">
            <a:off x="1710598" y="1158941"/>
            <a:ext cx="893290" cy="314728"/>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grpSp>
        <p:nvGrpSpPr>
          <p:cNvPr id="98" name="组合 97"/>
          <p:cNvGrpSpPr/>
          <p:nvPr/>
        </p:nvGrpSpPr>
        <p:grpSpPr>
          <a:xfrm>
            <a:off x="2754349" y="945850"/>
            <a:ext cx="1307582" cy="421938"/>
            <a:chOff x="1591195" y="3531392"/>
            <a:chExt cx="1721136" cy="774463"/>
          </a:xfrm>
          <a:effectLst>
            <a:outerShdw blurRad="444500" dist="254000" dir="8100000" algn="tr" rotWithShape="0">
              <a:prstClr val="black">
                <a:alpha val="50000"/>
              </a:prstClr>
            </a:outerShdw>
          </a:effectLst>
        </p:grpSpPr>
        <p:sp>
          <p:nvSpPr>
            <p:cNvPr id="99"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1" name="组合 100"/>
          <p:cNvGrpSpPr/>
          <p:nvPr/>
        </p:nvGrpSpPr>
        <p:grpSpPr>
          <a:xfrm>
            <a:off x="2829275" y="2229081"/>
            <a:ext cx="1200270" cy="473330"/>
            <a:chOff x="1591195" y="3531392"/>
            <a:chExt cx="1721136" cy="774463"/>
          </a:xfrm>
          <a:effectLst>
            <a:outerShdw blurRad="444500" dist="254000" dir="8100000" algn="tr" rotWithShape="0">
              <a:prstClr val="black">
                <a:alpha val="50000"/>
              </a:prstClr>
            </a:outerShdw>
          </a:effectLst>
        </p:grpSpPr>
        <p:sp>
          <p:nvSpPr>
            <p:cNvPr id="102"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9" name="TextBox 108"/>
          <p:cNvSpPr txBox="1"/>
          <p:nvPr/>
        </p:nvSpPr>
        <p:spPr>
          <a:xfrm>
            <a:off x="2815337" y="986509"/>
            <a:ext cx="954107"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源码分析</a:t>
            </a:r>
          </a:p>
        </p:txBody>
      </p:sp>
      <p:sp>
        <p:nvSpPr>
          <p:cNvPr id="111" name="TextBox 110"/>
          <p:cNvSpPr txBox="1"/>
          <p:nvPr/>
        </p:nvSpPr>
        <p:spPr>
          <a:xfrm>
            <a:off x="2873947" y="2325227"/>
            <a:ext cx="1146468"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二进制分析</a:t>
            </a:r>
          </a:p>
        </p:txBody>
      </p:sp>
      <p:grpSp>
        <p:nvGrpSpPr>
          <p:cNvPr id="112" name="组合 111"/>
          <p:cNvGrpSpPr/>
          <p:nvPr/>
        </p:nvGrpSpPr>
        <p:grpSpPr>
          <a:xfrm>
            <a:off x="832049" y="1282375"/>
            <a:ext cx="882134" cy="928965"/>
            <a:chOff x="3746633" y="1810030"/>
            <a:chExt cx="1382075" cy="1382075"/>
          </a:xfrm>
        </p:grpSpPr>
        <p:grpSp>
          <p:nvGrpSpPr>
            <p:cNvPr id="113" name="组合 112"/>
            <p:cNvGrpSpPr/>
            <p:nvPr/>
          </p:nvGrpSpPr>
          <p:grpSpPr>
            <a:xfrm>
              <a:off x="3746633" y="1810030"/>
              <a:ext cx="1382075" cy="1382075"/>
              <a:chOff x="304800" y="673100"/>
              <a:chExt cx="4000500" cy="4000500"/>
            </a:xfrm>
            <a:effectLst>
              <a:outerShdw blurRad="444500" dist="254000" dir="8100000" algn="tr" rotWithShape="0">
                <a:prstClr val="black">
                  <a:alpha val="50000"/>
                </a:prstClr>
              </a:outerShdw>
            </a:effectLst>
          </p:grpSpPr>
          <p:sp>
            <p:nvSpPr>
              <p:cNvPr id="115" name="同心圆 1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6" name="椭圆 115"/>
              <p:cNvSpPr/>
              <p:nvPr/>
            </p:nvSpPr>
            <p:spPr>
              <a:xfrm>
                <a:off x="392112" y="760412"/>
                <a:ext cx="3825877" cy="382587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4" name="TextBox 113"/>
            <p:cNvSpPr txBox="1"/>
            <p:nvPr/>
          </p:nvSpPr>
          <p:spPr>
            <a:xfrm>
              <a:off x="3904452" y="2169547"/>
              <a:ext cx="1020598" cy="492443"/>
            </a:xfrm>
            <a:prstGeom prst="rect">
              <a:avLst/>
            </a:prstGeom>
            <a:no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rPr>
                <a:t>软件代码形式</a:t>
              </a:r>
            </a:p>
          </p:txBody>
        </p:sp>
      </p:grpSp>
      <p:sp>
        <p:nvSpPr>
          <p:cNvPr id="119" name="TextBox 118"/>
          <p:cNvSpPr txBox="1"/>
          <p:nvPr/>
        </p:nvSpPr>
        <p:spPr>
          <a:xfrm>
            <a:off x="4339990" y="2173633"/>
            <a:ext cx="2448272" cy="511037"/>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通过获得所对应的</a:t>
            </a:r>
            <a:r>
              <a:rPr lang="zh-CN" altLang="en-US" sz="1100" b="1" dirty="0">
                <a:latin typeface="微软雅黑" panose="020B0503020204020204" pitchFamily="34" charset="-122"/>
                <a:ea typeface="微软雅黑" panose="020B0503020204020204" pitchFamily="34" charset="-122"/>
              </a:rPr>
              <a:t>反汇编或反编译</a:t>
            </a:r>
            <a:r>
              <a:rPr lang="zh-CN" altLang="en-US" sz="1100" dirty="0">
                <a:latin typeface="微软雅黑" panose="020B0503020204020204" pitchFamily="34" charset="-122"/>
                <a:ea typeface="微软雅黑" panose="020B0503020204020204" pitchFamily="34" charset="-122"/>
              </a:rPr>
              <a:t>代码获得更多的语义信息。</a:t>
            </a:r>
            <a:endParaRPr lang="en-US" altLang="zh-CN" sz="1100" dirty="0">
              <a:latin typeface="微软雅黑" panose="020B0503020204020204" pitchFamily="34" charset="-122"/>
              <a:ea typeface="微软雅黑" panose="020B0503020204020204" pitchFamily="34" charset="-122"/>
            </a:endParaRPr>
          </a:p>
        </p:txBody>
      </p:sp>
      <p:sp>
        <p:nvSpPr>
          <p:cNvPr id="120" name="TextBox 119"/>
          <p:cNvSpPr txBox="1"/>
          <p:nvPr/>
        </p:nvSpPr>
        <p:spPr>
          <a:xfrm>
            <a:off x="4067565" y="991398"/>
            <a:ext cx="2448272" cy="290977"/>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                                                                                                                                                           </a:t>
            </a:r>
            <a:endParaRPr lang="en-US" altLang="zh-CN" sz="1100" dirty="0">
              <a:latin typeface="微软雅黑" panose="020B0503020204020204" pitchFamily="34" charset="-122"/>
              <a:ea typeface="微软雅黑" panose="020B0503020204020204" pitchFamily="34" charset="-122"/>
            </a:endParaRPr>
          </a:p>
        </p:txBody>
      </p:sp>
      <p:pic>
        <p:nvPicPr>
          <p:cNvPr id="9" name="图片 8" descr="暨大3"/>
          <p:cNvPicPr>
            <a:picLocks noChangeAspect="1"/>
          </p:cNvPicPr>
          <p:nvPr/>
        </p:nvPicPr>
        <p:blipFill>
          <a:blip r:embed="rId5"/>
          <a:stretch>
            <a:fillRect/>
          </a:stretch>
        </p:blipFill>
        <p:spPr>
          <a:xfrm>
            <a:off x="7244080" y="0"/>
            <a:ext cx="1762125" cy="664845"/>
          </a:xfrm>
          <a:prstGeom prst="rect">
            <a:avLst/>
          </a:prstGeom>
        </p:spPr>
      </p:pic>
      <p:cxnSp>
        <p:nvCxnSpPr>
          <p:cNvPr id="3" name="直接连接符 2"/>
          <p:cNvCxnSpPr/>
          <p:nvPr/>
        </p:nvCxnSpPr>
        <p:spPr>
          <a:xfrm>
            <a:off x="1650773" y="2131929"/>
            <a:ext cx="950749" cy="397683"/>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sp>
        <p:nvSpPr>
          <p:cNvPr id="2" name="TextBox 118"/>
          <p:cNvSpPr txBox="1"/>
          <p:nvPr/>
        </p:nvSpPr>
        <p:spPr>
          <a:xfrm>
            <a:off x="4339990" y="776437"/>
            <a:ext cx="2448272" cy="752514"/>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源码分析的前提是获取被分析软件的源代码，应用比较少，例子：</a:t>
            </a:r>
            <a:r>
              <a:rPr lang="en-US" altLang="zh-CN" sz="1100" dirty="0">
                <a:latin typeface="微软雅黑" panose="020B0503020204020204" pitchFamily="34" charset="-122"/>
                <a:ea typeface="微软雅黑" panose="020B0503020204020204" pitchFamily="34" charset="-122"/>
              </a:rPr>
              <a:t>Linux</a:t>
            </a:r>
            <a:r>
              <a:rPr lang="zh-CN" altLang="en-US" sz="1100" dirty="0">
                <a:latin typeface="微软雅黑" panose="020B0503020204020204" pitchFamily="34" charset="-122"/>
                <a:ea typeface="微软雅黑" panose="020B0503020204020204" pitchFamily="34" charset="-122"/>
              </a:rPr>
              <a:t>开源软件。</a:t>
            </a:r>
            <a:endParaRPr lang="en-US" altLang="zh-CN" sz="1100" dirty="0">
              <a:latin typeface="微软雅黑" panose="020B0503020204020204" pitchFamily="34" charset="-122"/>
              <a:ea typeface="微软雅黑" panose="020B0503020204020204" pitchFamily="34" charset="-122"/>
            </a:endParaRPr>
          </a:p>
        </p:txBody>
      </p:sp>
      <p:sp>
        <p:nvSpPr>
          <p:cNvPr id="27" name="TextBox 34"/>
          <p:cNvSpPr txBox="1"/>
          <p:nvPr/>
        </p:nvSpPr>
        <p:spPr>
          <a:xfrm>
            <a:off x="908957" y="206330"/>
            <a:ext cx="2227580" cy="39878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漏洞挖掘的分类</a:t>
            </a:r>
          </a:p>
        </p:txBody>
      </p:sp>
      <p:cxnSp>
        <p:nvCxnSpPr>
          <p:cNvPr id="32" name="直接连接符 31"/>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1967751" y="3094046"/>
            <a:ext cx="786598" cy="342972"/>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2808145" y="3024146"/>
            <a:ext cx="1344632" cy="462995"/>
            <a:chOff x="1591195" y="3531392"/>
            <a:chExt cx="1721136" cy="774463"/>
          </a:xfrm>
          <a:effectLst>
            <a:outerShdw blurRad="444500" dist="254000" dir="8100000" algn="tr" rotWithShape="0">
              <a:prstClr val="black">
                <a:alpha val="50000"/>
              </a:prstClr>
            </a:outerShdw>
          </a:effectLst>
        </p:grpSpPr>
        <p:sp>
          <p:nvSpPr>
            <p:cNvPr id="35"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2850814" y="4083801"/>
            <a:ext cx="1320898" cy="436171"/>
            <a:chOff x="1591195" y="3531392"/>
            <a:chExt cx="1721136" cy="774463"/>
          </a:xfrm>
          <a:effectLst>
            <a:outerShdw blurRad="444500" dist="254000" dir="8100000" algn="tr" rotWithShape="0">
              <a:prstClr val="black">
                <a:alpha val="50000"/>
              </a:prstClr>
            </a:outerShdw>
          </a:effectLst>
        </p:grpSpPr>
        <p:sp>
          <p:nvSpPr>
            <p:cNvPr id="38"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TextBox 108"/>
          <p:cNvSpPr txBox="1"/>
          <p:nvPr/>
        </p:nvSpPr>
        <p:spPr>
          <a:xfrm>
            <a:off x="2912427" y="3099269"/>
            <a:ext cx="954107"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静态分析</a:t>
            </a:r>
          </a:p>
        </p:txBody>
      </p:sp>
      <p:sp>
        <p:nvSpPr>
          <p:cNvPr id="41" name="TextBox 110"/>
          <p:cNvSpPr txBox="1"/>
          <p:nvPr/>
        </p:nvSpPr>
        <p:spPr>
          <a:xfrm>
            <a:off x="2953985" y="4187156"/>
            <a:ext cx="954107"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动态分析</a:t>
            </a:r>
          </a:p>
        </p:txBody>
      </p:sp>
      <p:grpSp>
        <p:nvGrpSpPr>
          <p:cNvPr id="42" name="组合 41"/>
          <p:cNvGrpSpPr/>
          <p:nvPr/>
        </p:nvGrpSpPr>
        <p:grpSpPr>
          <a:xfrm>
            <a:off x="784268" y="3149967"/>
            <a:ext cx="1159620" cy="821837"/>
            <a:chOff x="3746633" y="1810030"/>
            <a:chExt cx="1382075" cy="1382075"/>
          </a:xfrm>
        </p:grpSpPr>
        <p:grpSp>
          <p:nvGrpSpPr>
            <p:cNvPr id="43" name="组合 42"/>
            <p:cNvGrpSpPr/>
            <p:nvPr/>
          </p:nvGrpSpPr>
          <p:grpSpPr>
            <a:xfrm>
              <a:off x="3746633" y="1810030"/>
              <a:ext cx="1382075" cy="1382075"/>
              <a:chOff x="304800" y="673100"/>
              <a:chExt cx="4000500" cy="4000500"/>
            </a:xfrm>
            <a:effectLst>
              <a:outerShdw blurRad="444500" dist="254000" dir="8100000" algn="tr" rotWithShape="0">
                <a:prstClr val="black">
                  <a:alpha val="50000"/>
                </a:prstClr>
              </a:outerShdw>
            </a:effectLst>
          </p:grpSpPr>
          <p:sp>
            <p:nvSpPr>
              <p:cNvPr id="45" name="同心圆 4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6" name="椭圆 45"/>
              <p:cNvSpPr/>
              <p:nvPr/>
            </p:nvSpPr>
            <p:spPr>
              <a:xfrm>
                <a:off x="392112" y="760412"/>
                <a:ext cx="3825877" cy="382587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TextBox 113"/>
            <p:cNvSpPr txBox="1"/>
            <p:nvPr/>
          </p:nvSpPr>
          <p:spPr>
            <a:xfrm>
              <a:off x="3927371" y="2138888"/>
              <a:ext cx="1020598" cy="492443"/>
            </a:xfrm>
            <a:prstGeom prst="rect">
              <a:avLst/>
            </a:prstGeom>
            <a:no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rPr>
                <a:t>软件是否可运行</a:t>
              </a:r>
            </a:p>
          </p:txBody>
        </p:sp>
      </p:grpSp>
      <p:sp>
        <p:nvSpPr>
          <p:cNvPr id="47" name="TextBox 118"/>
          <p:cNvSpPr txBox="1"/>
          <p:nvPr/>
        </p:nvSpPr>
        <p:spPr>
          <a:xfrm>
            <a:off x="4363776" y="3953868"/>
            <a:ext cx="2448272" cy="751205"/>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使用特定的输入来驱动软件运行，并在运行过程中监控其状态，例如内存使用状况和寄存器值的变化情况等</a:t>
            </a:r>
            <a:endParaRPr lang="en-US" altLang="zh-CN" sz="1100" b="1" dirty="0">
              <a:latin typeface="微软雅黑" panose="020B0503020204020204" pitchFamily="34" charset="-122"/>
              <a:ea typeface="微软雅黑" panose="020B0503020204020204" pitchFamily="34" charset="-122"/>
            </a:endParaRPr>
          </a:p>
        </p:txBody>
      </p:sp>
      <p:sp>
        <p:nvSpPr>
          <p:cNvPr id="48" name="TextBox 119"/>
          <p:cNvSpPr txBox="1"/>
          <p:nvPr/>
        </p:nvSpPr>
        <p:spPr>
          <a:xfrm>
            <a:off x="4067565" y="991398"/>
            <a:ext cx="2448272" cy="290977"/>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                                                                                                                                                           </a:t>
            </a:r>
            <a:endParaRPr lang="en-US" altLang="zh-CN" sz="1100" dirty="0">
              <a:latin typeface="微软雅黑" panose="020B0503020204020204" pitchFamily="34" charset="-122"/>
              <a:ea typeface="微软雅黑" panose="020B0503020204020204" pitchFamily="34" charset="-122"/>
            </a:endParaRPr>
          </a:p>
        </p:txBody>
      </p:sp>
      <p:cxnSp>
        <p:nvCxnSpPr>
          <p:cNvPr id="49" name="直接连接符 48"/>
          <p:cNvCxnSpPr/>
          <p:nvPr/>
        </p:nvCxnSpPr>
        <p:spPr>
          <a:xfrm>
            <a:off x="1948788" y="3842019"/>
            <a:ext cx="766827" cy="375139"/>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sp>
        <p:nvSpPr>
          <p:cNvPr id="50" name="TextBox 118"/>
          <p:cNvSpPr txBox="1"/>
          <p:nvPr/>
        </p:nvSpPr>
        <p:spPr>
          <a:xfrm>
            <a:off x="4363776" y="2869445"/>
            <a:ext cx="2448272" cy="751205"/>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尽可能地覆盖程序的逻辑结构来发现漏洞，但是容易产出误报。</a:t>
            </a:r>
            <a:endParaRPr lang="en-US" altLang="zh-CN" sz="1100" dirty="0">
              <a:latin typeface="微软雅黑" panose="020B0503020204020204" pitchFamily="34" charset="-122"/>
              <a:ea typeface="微软雅黑" panose="020B0503020204020204" pitchFamily="34" charset="-122"/>
            </a:endParaRPr>
          </a:p>
          <a:p>
            <a:pPr>
              <a:lnSpc>
                <a:spcPct val="130000"/>
              </a:lnSpc>
            </a:pPr>
            <a:endParaRPr lang="en-US" altLang="zh-CN" sz="1100" b="1"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0C56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773787"/>
            <a:ext cx="4786114" cy="523220"/>
          </a:xfrm>
          <a:prstGeom prst="rect">
            <a:avLst/>
          </a:prstGeom>
          <a:noFill/>
        </p:spPr>
        <p:txBody>
          <a:bodyPr wrap="square" rtlCol="0">
            <a:spAutoFit/>
          </a:bodyPr>
          <a:lstStyle/>
          <a:p>
            <a:r>
              <a:rPr lang="zh-CN" altLang="en-US" sz="2800" b="1" dirty="0">
                <a:latin typeface="等线" panose="02010600030101010101" pitchFamily="2" charset="-122"/>
                <a:ea typeface="等线" panose="02010600030101010101" pitchFamily="2" charset="-122"/>
              </a:rPr>
              <a:t>基于源码的静态漏洞分析</a:t>
            </a:r>
            <a:endParaRPr lang="zh-CN" altLang="en-US" sz="1600" b="1" dirty="0">
              <a:latin typeface="等线" panose="02010600030101010101" pitchFamily="2" charset="-122"/>
              <a:ea typeface="等线" panose="02010600030101010101" pitchFamily="2" charset="-122"/>
            </a:endParaRPr>
          </a:p>
        </p:txBody>
      </p:sp>
      <p:sp>
        <p:nvSpPr>
          <p:cNvPr id="3" name="TextBox 2"/>
          <p:cNvSpPr txBox="1"/>
          <p:nvPr/>
        </p:nvSpPr>
        <p:spPr>
          <a:xfrm>
            <a:off x="2394866" y="2896649"/>
            <a:ext cx="1241030" cy="307777"/>
          </a:xfrm>
          <a:prstGeom prst="rect">
            <a:avLst/>
          </a:prstGeom>
          <a:noFill/>
        </p:spPr>
        <p:txBody>
          <a:bodyPr wrap="square" lIns="0" tIns="0" rIns="0" bIns="0"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第二部分</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grpSp>
      <p:sp>
        <p:nvSpPr>
          <p:cNvPr id="18" name="椭圆 17"/>
          <p:cNvSpPr/>
          <p:nvPr/>
        </p:nvSpPr>
        <p:spPr>
          <a:xfrm>
            <a:off x="4132264" y="2585499"/>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19" name="TextBox 27"/>
          <p:cNvSpPr txBox="1"/>
          <p:nvPr/>
        </p:nvSpPr>
        <p:spPr>
          <a:xfrm>
            <a:off x="4426152" y="2954831"/>
            <a:ext cx="231024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源码静态分析的分类</a:t>
            </a:r>
            <a:endParaRPr lang="en-US" altLang="zh-CN" dirty="0">
              <a:latin typeface="微软雅黑" panose="020B0503020204020204" pitchFamily="34" charset="-122"/>
              <a:ea typeface="微软雅黑" panose="020B0503020204020204" pitchFamily="34" charset="-122"/>
            </a:endParaRPr>
          </a:p>
        </p:txBody>
      </p:sp>
      <p:sp>
        <p:nvSpPr>
          <p:cNvPr id="21" name="椭圆 20"/>
          <p:cNvSpPr/>
          <p:nvPr/>
        </p:nvSpPr>
        <p:spPr>
          <a:xfrm>
            <a:off x="4132264" y="297788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2" name="TextBox 27"/>
          <p:cNvSpPr txBox="1"/>
          <p:nvPr/>
        </p:nvSpPr>
        <p:spPr>
          <a:xfrm>
            <a:off x="4426152" y="2527317"/>
            <a:ext cx="226215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源码静态分析的定义</a:t>
            </a:r>
          </a:p>
        </p:txBody>
      </p:sp>
      <p:sp>
        <p:nvSpPr>
          <p:cNvPr id="8" name="文本框 7"/>
          <p:cNvSpPr txBox="1"/>
          <p:nvPr/>
        </p:nvSpPr>
        <p:spPr>
          <a:xfrm>
            <a:off x="4483100" y="3324163"/>
            <a:ext cx="3613150" cy="7386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基于中间表示的静态分析技术</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基于逻辑推理的静态分析技术</a:t>
            </a:r>
            <a:endParaRPr lang="zh-CN" altLang="en-US" sz="1400" dirty="0"/>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 name="TextBox 43"/>
          <p:cNvSpPr>
            <a:spLocks noChangeArrowheads="1"/>
          </p:cNvSpPr>
          <p:nvPr/>
        </p:nvSpPr>
        <p:spPr bwMode="auto">
          <a:xfrm>
            <a:off x="3171742" y="736731"/>
            <a:ext cx="23114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2800" b="1" dirty="0">
                <a:latin typeface="微软雅黑" panose="020B0503020204020204" pitchFamily="34" charset="-122"/>
                <a:ea typeface="微软雅黑" panose="020B0503020204020204" pitchFamily="34" charset="-122"/>
              </a:rPr>
              <a:t>基于源码的静态漏洞分析</a:t>
            </a:r>
          </a:p>
        </p:txBody>
      </p:sp>
      <p:grpSp>
        <p:nvGrpSpPr>
          <p:cNvPr id="6155" name="组合 2"/>
          <p:cNvGrpSpPr/>
          <p:nvPr/>
        </p:nvGrpSpPr>
        <p:grpSpPr bwMode="auto">
          <a:xfrm>
            <a:off x="2812735" y="1067373"/>
            <a:ext cx="3002511" cy="219607"/>
            <a:chOff x="0" y="0"/>
            <a:chExt cx="3580582" cy="158874"/>
          </a:xfrm>
        </p:grpSpPr>
        <p:grpSp>
          <p:nvGrpSpPr>
            <p:cNvPr id="6156" name="组合 61"/>
            <p:cNvGrpSpPr/>
            <p:nvPr/>
          </p:nvGrpSpPr>
          <p:grpSpPr bwMode="auto">
            <a:xfrm>
              <a:off x="0" y="0"/>
              <a:ext cx="792088" cy="158874"/>
              <a:chOff x="0" y="0"/>
              <a:chExt cx="792088" cy="158874"/>
            </a:xfrm>
          </p:grpSpPr>
          <p:sp>
            <p:nvSpPr>
              <p:cNvPr id="6157" name="直接连接符 70"/>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8" name="直接连接符 71"/>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9" name="直接连接符 72"/>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6160" name="组合 62"/>
            <p:cNvGrpSpPr/>
            <p:nvPr/>
          </p:nvGrpSpPr>
          <p:grpSpPr bwMode="auto">
            <a:xfrm rot="10800000">
              <a:off x="2788494" y="0"/>
              <a:ext cx="792088" cy="158874"/>
              <a:chOff x="0" y="0"/>
              <a:chExt cx="792088" cy="158874"/>
            </a:xfrm>
          </p:grpSpPr>
          <p:sp>
            <p:nvSpPr>
              <p:cNvPr id="6161" name="直接连接符 67"/>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2" name="直接连接符 68"/>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3" name="直接连接符 69"/>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3429144"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基于源码的静态漏洞分析</a:t>
            </a:r>
          </a:p>
        </p:txBody>
      </p:sp>
      <p:grpSp>
        <p:nvGrpSpPr>
          <p:cNvPr id="45" name="组合 44"/>
          <p:cNvGrpSpPr/>
          <p:nvPr/>
        </p:nvGrpSpPr>
        <p:grpSpPr>
          <a:xfrm>
            <a:off x="1603099" y="1608099"/>
            <a:ext cx="5421785" cy="3118252"/>
            <a:chOff x="6059464" y="3524926"/>
            <a:chExt cx="2185594" cy="1224902"/>
          </a:xfrm>
        </p:grpSpPr>
        <p:grpSp>
          <p:nvGrpSpPr>
            <p:cNvPr id="46" name="组合 45"/>
            <p:cNvGrpSpPr/>
            <p:nvPr/>
          </p:nvGrpSpPr>
          <p:grpSpPr>
            <a:xfrm>
              <a:off x="6059464" y="3524926"/>
              <a:ext cx="2185594" cy="1224902"/>
              <a:chOff x="4304043" y="1286668"/>
              <a:chExt cx="3837944" cy="2757793"/>
            </a:xfrm>
            <a:effectLst>
              <a:outerShdw blurRad="381000" dist="254000" dir="8100000" algn="tr" rotWithShape="0">
                <a:prstClr val="black">
                  <a:alpha val="40000"/>
                </a:prstClr>
              </a:outerShdw>
            </a:effectLst>
          </p:grpSpPr>
          <p:sp>
            <p:nvSpPr>
              <p:cNvPr id="50" name="圆角矩形 49"/>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4351930" y="1330004"/>
                <a:ext cx="3742172" cy="26711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TextBox 88"/>
            <p:cNvSpPr>
              <a:spLocks noChangeArrowheads="1"/>
            </p:cNvSpPr>
            <p:nvPr/>
          </p:nvSpPr>
          <p:spPr bwMode="auto">
            <a:xfrm>
              <a:off x="6233016" y="3659124"/>
              <a:ext cx="1803358" cy="557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p>
              <a:pPr>
                <a:lnSpc>
                  <a:spcPct val="150000"/>
                </a:lnSpc>
              </a:pPr>
              <a:r>
                <a:rPr lang="zh-CN" altLang="en-US" sz="1400" dirty="0">
                  <a:sym typeface="微软雅黑" panose="020B0503020204020204" pitchFamily="34" charset="-122"/>
                </a:rPr>
                <a:t>         基于源码的漏洞分析一般采用静态方法</a:t>
              </a:r>
              <a:r>
                <a:rPr lang="en-US" altLang="zh-CN" sz="1400" dirty="0">
                  <a:sym typeface="微软雅黑" panose="020B0503020204020204" pitchFamily="34" charset="-122"/>
                </a:rPr>
                <a:t>,</a:t>
              </a:r>
              <a:r>
                <a:rPr lang="zh-CN" altLang="en-US" sz="1400" dirty="0">
                  <a:sym typeface="微软雅黑" panose="020B0503020204020204" pitchFamily="34" charset="-122"/>
                </a:rPr>
                <a:t>对被测代码进行词法、语法和语义的分析与检查。基于源码的静态漏洞分析技术可以分为以下两类</a:t>
              </a:r>
              <a:r>
                <a:rPr lang="en-US" altLang="zh-CN" sz="1400" dirty="0">
                  <a:sym typeface="微软雅黑" panose="020B0503020204020204" pitchFamily="34" charset="-122"/>
                </a:rPr>
                <a:t>,</a:t>
              </a:r>
              <a:r>
                <a:rPr lang="zh-CN" altLang="en-US" sz="1400" dirty="0">
                  <a:sym typeface="微软雅黑" panose="020B0503020204020204" pitchFamily="34" charset="-122"/>
                </a:rPr>
                <a:t>即</a:t>
              </a:r>
              <a:r>
                <a:rPr lang="zh-CN" altLang="en-US" sz="1400" b="1" dirty="0">
                  <a:sym typeface="微软雅黑" panose="020B0503020204020204" pitchFamily="34" charset="-122"/>
                </a:rPr>
                <a:t>基于中间表示的静态分析技术和基于逻辑推理的静态分析技术</a:t>
              </a:r>
              <a:r>
                <a:rPr lang="zh-CN" altLang="en-US" sz="1400" dirty="0">
                  <a:sym typeface="微软雅黑" panose="020B0503020204020204" pitchFamily="34" charset="-122"/>
                </a:rPr>
                <a:t>。</a:t>
              </a:r>
              <a:endParaRPr lang="en-US" altLang="zh-CN" sz="1400" dirty="0">
                <a:sym typeface="微软雅黑" panose="020B0503020204020204" pitchFamily="34" charset="-122"/>
              </a:endParaRPr>
            </a:p>
          </p:txBody>
        </p:sp>
      </p:gr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4019049"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基于中间表示的静态分析技术</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
        <p:nvSpPr>
          <p:cNvPr id="2" name="文本框 1"/>
          <p:cNvSpPr txBox="1"/>
          <p:nvPr/>
        </p:nvSpPr>
        <p:spPr>
          <a:xfrm>
            <a:off x="646880" y="863600"/>
            <a:ext cx="6750870" cy="3692525"/>
          </a:xfrm>
          <a:prstGeom prst="rect">
            <a:avLst/>
          </a:prstGeom>
          <a:noFill/>
        </p:spPr>
        <p:txBody>
          <a:bodyPr wrap="square" rtlCol="0">
            <a:spAutoFit/>
          </a:bodyPr>
          <a:lstStyle/>
          <a:p>
            <a:r>
              <a:rPr lang="zh-CN" altLang="en-US" dirty="0"/>
              <a:t>         </a:t>
            </a:r>
          </a:p>
          <a:p>
            <a:endParaRPr lang="zh-CN" altLang="en-US" dirty="0"/>
          </a:p>
          <a:p>
            <a:endParaRPr lang="zh-CN" altLang="en-US" dirty="0"/>
          </a:p>
          <a:p>
            <a:endParaRPr lang="zh-CN" altLang="en-US" dirty="0"/>
          </a:p>
          <a:p>
            <a:r>
              <a:rPr lang="zh-CN" altLang="en-US" dirty="0"/>
              <a:t>基于中间表示的漏洞分析技术可以利用比较完整的程序全局信息，通常基于</a:t>
            </a:r>
            <a:r>
              <a:rPr lang="zh-CN" altLang="en-US" b="1" dirty="0"/>
              <a:t>检查规则</a:t>
            </a:r>
            <a:r>
              <a:rPr lang="zh-CN" altLang="en-US" dirty="0"/>
              <a:t>进行分析，因此</a:t>
            </a:r>
            <a:r>
              <a:rPr lang="zh-CN" altLang="en-US" b="1" dirty="0"/>
              <a:t>分析速度较快</a:t>
            </a:r>
            <a:r>
              <a:rPr lang="zh-CN" altLang="en-US" dirty="0"/>
              <a:t>，适用于较大规模的程序。但是这种技术检测漏洞的能力受所用的分析规则制约，会产生误报并需要进一步的人工分析和确认。</a:t>
            </a:r>
            <a:endParaRPr lang="en-US" altLang="zh-CN" dirty="0"/>
          </a:p>
          <a:p>
            <a:r>
              <a:rPr lang="en-US" altLang="zh-CN" dirty="0"/>
              <a:t>         </a:t>
            </a:r>
            <a:r>
              <a:rPr lang="zh-CN" altLang="en-US" dirty="0"/>
              <a:t>三种常见技术：</a:t>
            </a:r>
            <a:endParaRPr lang="en-US" altLang="zh-CN" dirty="0"/>
          </a:p>
          <a:p>
            <a:r>
              <a:rPr lang="en-US" altLang="zh-CN" dirty="0"/>
              <a:t>	</a:t>
            </a:r>
            <a:r>
              <a:rPr lang="en-US" altLang="zh-CN" dirty="0">
                <a:solidFill>
                  <a:schemeClr val="tx2"/>
                </a:solidFill>
              </a:rPr>
              <a:t>1</a:t>
            </a:r>
            <a:r>
              <a:rPr lang="zh-CN" altLang="en-US" dirty="0">
                <a:solidFill>
                  <a:schemeClr val="tx2"/>
                </a:solidFill>
              </a:rPr>
              <a:t>）数据流分析技术</a:t>
            </a:r>
            <a:endParaRPr lang="en-US" altLang="zh-CN" dirty="0">
              <a:solidFill>
                <a:schemeClr val="tx2"/>
              </a:solidFill>
            </a:endParaRPr>
          </a:p>
          <a:p>
            <a:r>
              <a:rPr lang="en-US" altLang="zh-CN" dirty="0">
                <a:solidFill>
                  <a:schemeClr val="tx2"/>
                </a:solidFill>
              </a:rPr>
              <a:t>	2</a:t>
            </a:r>
            <a:r>
              <a:rPr lang="zh-CN" altLang="en-US" dirty="0">
                <a:solidFill>
                  <a:schemeClr val="tx2"/>
                </a:solidFill>
              </a:rPr>
              <a:t>）符号执行技术</a:t>
            </a:r>
            <a:endParaRPr lang="en-US" altLang="zh-CN" dirty="0">
              <a:solidFill>
                <a:schemeClr val="tx2"/>
              </a:solidFill>
            </a:endParaRPr>
          </a:p>
          <a:p>
            <a:r>
              <a:rPr lang="en-US" altLang="zh-CN" dirty="0">
                <a:solidFill>
                  <a:schemeClr val="tx2"/>
                </a:solidFill>
              </a:rPr>
              <a:t>	3</a:t>
            </a:r>
            <a:r>
              <a:rPr lang="zh-CN" altLang="en-US" dirty="0">
                <a:solidFill>
                  <a:schemeClr val="tx2"/>
                </a:solidFill>
              </a:rPr>
              <a:t>）污点分析技术</a:t>
            </a:r>
            <a:endParaRPr lang="en-US" altLang="zh-CN" dirty="0">
              <a:solidFill>
                <a:schemeClr val="tx2"/>
              </a:solidFill>
            </a:endParaRPr>
          </a:p>
          <a:p>
            <a:endParaRPr lang="zh-CN" altLang="en-US" dirty="0"/>
          </a:p>
        </p:txBody>
      </p:sp>
      <p:pic>
        <p:nvPicPr>
          <p:cNvPr id="4" name="图片 3"/>
          <p:cNvPicPr>
            <a:picLocks noChangeAspect="1"/>
          </p:cNvPicPr>
          <p:nvPr/>
        </p:nvPicPr>
        <p:blipFill>
          <a:blip r:embed="rId5"/>
          <a:srcRect l="333" t="63603" r="975" b="-1476"/>
          <a:stretch>
            <a:fillRect/>
          </a:stretch>
        </p:blipFill>
        <p:spPr>
          <a:xfrm>
            <a:off x="3796030" y="3177540"/>
            <a:ext cx="5210175" cy="1706880"/>
          </a:xfrm>
          <a:prstGeom prst="rect">
            <a:avLst/>
          </a:prstGeom>
        </p:spPr>
      </p:pic>
      <p:pic>
        <p:nvPicPr>
          <p:cNvPr id="3" name="图片 2"/>
          <p:cNvPicPr>
            <a:picLocks noChangeAspect="1"/>
          </p:cNvPicPr>
          <p:nvPr>
            <p:custDataLst>
              <p:tags r:id="rId1"/>
            </p:custDataLst>
          </p:nvPr>
        </p:nvPicPr>
        <p:blipFill>
          <a:blip r:embed="rId6"/>
          <a:stretch>
            <a:fillRect/>
          </a:stretch>
        </p:blipFill>
        <p:spPr>
          <a:xfrm>
            <a:off x="796925" y="731520"/>
            <a:ext cx="6271895" cy="11480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55" name="组合 2"/>
          <p:cNvGrpSpPr/>
          <p:nvPr/>
        </p:nvGrpSpPr>
        <p:grpSpPr bwMode="auto">
          <a:xfrm>
            <a:off x="2539485" y="1056467"/>
            <a:ext cx="3397565" cy="309510"/>
            <a:chOff x="0" y="0"/>
            <a:chExt cx="3580582" cy="158874"/>
          </a:xfrm>
        </p:grpSpPr>
        <p:grpSp>
          <p:nvGrpSpPr>
            <p:cNvPr id="6156" name="组合 61"/>
            <p:cNvGrpSpPr/>
            <p:nvPr/>
          </p:nvGrpSpPr>
          <p:grpSpPr bwMode="auto">
            <a:xfrm>
              <a:off x="0" y="0"/>
              <a:ext cx="792088" cy="158874"/>
              <a:chOff x="0" y="0"/>
              <a:chExt cx="792088" cy="158874"/>
            </a:xfrm>
          </p:grpSpPr>
          <p:sp>
            <p:nvSpPr>
              <p:cNvPr id="6157" name="直接连接符 70"/>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8" name="直接连接符 71"/>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9" name="直接连接符 72"/>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6160" name="组合 62"/>
            <p:cNvGrpSpPr/>
            <p:nvPr/>
          </p:nvGrpSpPr>
          <p:grpSpPr bwMode="auto">
            <a:xfrm rot="10800000">
              <a:off x="2788494" y="0"/>
              <a:ext cx="792088" cy="158874"/>
              <a:chOff x="0" y="0"/>
              <a:chExt cx="792088" cy="158874"/>
            </a:xfrm>
          </p:grpSpPr>
          <p:sp>
            <p:nvSpPr>
              <p:cNvPr id="6161" name="直接连接符 67"/>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2" name="直接连接符 68"/>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3" name="直接连接符 69"/>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2249334"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数据流分析技术</a:t>
            </a:r>
          </a:p>
        </p:txBody>
      </p:sp>
      <p:grpSp>
        <p:nvGrpSpPr>
          <p:cNvPr id="45" name="组合 44"/>
          <p:cNvGrpSpPr/>
          <p:nvPr/>
        </p:nvGrpSpPr>
        <p:grpSpPr>
          <a:xfrm>
            <a:off x="1603099" y="1608099"/>
            <a:ext cx="5421785" cy="3118252"/>
            <a:chOff x="6059464" y="3524926"/>
            <a:chExt cx="2185594" cy="1224902"/>
          </a:xfrm>
        </p:grpSpPr>
        <p:grpSp>
          <p:nvGrpSpPr>
            <p:cNvPr id="46" name="组合 45"/>
            <p:cNvGrpSpPr/>
            <p:nvPr/>
          </p:nvGrpSpPr>
          <p:grpSpPr>
            <a:xfrm>
              <a:off x="6059464" y="3524926"/>
              <a:ext cx="2185594" cy="1224902"/>
              <a:chOff x="4304043" y="1286668"/>
              <a:chExt cx="3837944" cy="2757793"/>
            </a:xfrm>
            <a:effectLst>
              <a:outerShdw blurRad="381000" dist="254000" dir="8100000" algn="tr" rotWithShape="0">
                <a:prstClr val="black">
                  <a:alpha val="40000"/>
                </a:prstClr>
              </a:outerShdw>
            </a:effectLst>
          </p:grpSpPr>
          <p:sp>
            <p:nvSpPr>
              <p:cNvPr id="50" name="圆角矩形 49"/>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4351930" y="1330004"/>
                <a:ext cx="3742172" cy="26711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TextBox 88"/>
            <p:cNvSpPr>
              <a:spLocks noChangeArrowheads="1"/>
            </p:cNvSpPr>
            <p:nvPr/>
          </p:nvSpPr>
          <p:spPr bwMode="auto">
            <a:xfrm>
              <a:off x="6252942" y="3582631"/>
              <a:ext cx="1798637" cy="102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latinLnBrk="1"/>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dirty="0"/>
                <a:t> 基于数据流的漏洞分析技术是通过分析软件代码中</a:t>
              </a:r>
              <a:r>
                <a:rPr lang="zh-CN" altLang="en-US" sz="1400" b="1" dirty="0"/>
                <a:t>变量的取值变化</a:t>
              </a:r>
              <a:r>
                <a:rPr lang="zh-CN" altLang="en-US" sz="1400" dirty="0"/>
                <a:t>和</a:t>
              </a:r>
              <a:r>
                <a:rPr lang="zh-CN" altLang="en-US" sz="1400" b="1" dirty="0"/>
                <a:t>语句的执行情况</a:t>
              </a:r>
              <a:r>
                <a:rPr lang="zh-CN" altLang="en-US" sz="1400" dirty="0"/>
                <a:t>，来</a:t>
              </a:r>
              <a:r>
                <a:rPr lang="zh-CN" altLang="en-US" sz="1400" b="1" dirty="0"/>
                <a:t>分析数据处理逻辑和程序的控制流关系</a:t>
              </a:r>
              <a:r>
                <a:rPr lang="zh-CN" altLang="en-US" sz="1400" dirty="0"/>
                <a:t>，从而分析软件代码的潜在安全缺陷。</a:t>
              </a:r>
              <a:endParaRPr lang="en-US" altLang="zh-CN" sz="1400" dirty="0"/>
            </a:p>
            <a:p>
              <a:pPr latinLnBrk="1"/>
              <a:r>
                <a:rPr lang="en-US" altLang="zh-CN" sz="1400" dirty="0"/>
                <a:t>      </a:t>
              </a:r>
              <a:r>
                <a:rPr lang="zh-CN" altLang="en-US" sz="1400" dirty="0"/>
                <a:t>基于数据流的漏洞分析的一般流程为：</a:t>
              </a:r>
            </a:p>
            <a:p>
              <a:pPr marL="285750" indent="-285750">
                <a:buFont typeface="Arial" panose="020B0604020202020204" pitchFamily="34" charset="0"/>
                <a:buChar char="•"/>
              </a:pPr>
              <a:r>
                <a:rPr lang="zh-CN" altLang="en-US" sz="1400" dirty="0"/>
                <a:t>首先，进行</a:t>
              </a:r>
              <a:r>
                <a:rPr lang="zh-CN" altLang="en-US" sz="1400" dirty="0">
                  <a:solidFill>
                    <a:schemeClr val="tx2"/>
                  </a:solidFill>
                </a:rPr>
                <a:t>代码建模</a:t>
              </a:r>
              <a:r>
                <a:rPr lang="zh-CN" altLang="en-US" sz="1400" dirty="0"/>
                <a:t>，将代码构造为</a:t>
              </a:r>
              <a:r>
                <a:rPr lang="zh-CN" altLang="en-US" sz="1400" u="sng" dirty="0"/>
                <a:t>抽象语法树或程序控制流图</a:t>
              </a:r>
              <a:r>
                <a:rPr lang="zh-CN" altLang="en-US" sz="1400" dirty="0"/>
                <a:t>；</a:t>
              </a:r>
            </a:p>
            <a:p>
              <a:pPr marL="285750" indent="-285750">
                <a:buFont typeface="Arial" panose="020B0604020202020204" pitchFamily="34" charset="0"/>
                <a:buChar char="•"/>
              </a:pPr>
              <a:r>
                <a:rPr lang="zh-CN" altLang="en-US" sz="1400" dirty="0"/>
                <a:t>然后，</a:t>
              </a:r>
              <a:r>
                <a:rPr lang="zh-CN" altLang="en-US" sz="1400" dirty="0">
                  <a:solidFill>
                    <a:schemeClr val="tx2"/>
                  </a:solidFill>
                </a:rPr>
                <a:t>追踪获取变量的变化信息</a:t>
              </a:r>
              <a:r>
                <a:rPr lang="zh-CN" altLang="en-US" sz="1400" dirty="0"/>
                <a:t>，根据</a:t>
              </a:r>
              <a:r>
                <a:rPr lang="zh-CN" altLang="en-US" sz="1400" b="1" dirty="0"/>
                <a:t>漏洞分析规则</a:t>
              </a:r>
              <a:r>
                <a:rPr lang="zh-CN" altLang="en-US" sz="1400" dirty="0"/>
                <a:t>检测安全缺陷和漏洞。</a:t>
              </a:r>
            </a:p>
            <a:p>
              <a:pPr latinLnBrk="1"/>
              <a:r>
                <a:rPr lang="zh-CN" altLang="en-US" sz="1400" dirty="0"/>
                <a:t>基于数据流的漏洞分析非常</a:t>
              </a:r>
              <a:r>
                <a:rPr lang="zh-CN" altLang="en-US" sz="1400" b="1" dirty="0"/>
                <a:t>适合检查因控制流信息非法操作而导致的安全问题</a:t>
              </a:r>
              <a:r>
                <a:rPr lang="zh-CN" altLang="en-US" sz="1400" dirty="0"/>
                <a:t>，如内存访问越界、常数传播等。检测的</a:t>
              </a:r>
              <a:r>
                <a:rPr lang="zh-CN" altLang="en-US" sz="1400" u="sng" dirty="0"/>
                <a:t>准确率较低，误报率较高</a:t>
              </a:r>
              <a:r>
                <a:rPr lang="zh-CN" altLang="en-US" sz="1400" dirty="0"/>
                <a:t>。</a:t>
              </a:r>
              <a:endParaRPr lang="en-US" altLang="zh-CN" sz="14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21" name="TextBox 43"/>
          <p:cNvSpPr>
            <a:spLocks noChangeArrowheads="1"/>
          </p:cNvSpPr>
          <p:nvPr/>
        </p:nvSpPr>
        <p:spPr bwMode="auto">
          <a:xfrm>
            <a:off x="2924989" y="965219"/>
            <a:ext cx="262655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800" b="1" dirty="0">
                <a:latin typeface="微软雅黑" panose="020B0503020204020204" pitchFamily="34" charset="-122"/>
                <a:ea typeface="微软雅黑" panose="020B0503020204020204" pitchFamily="34" charset="-122"/>
              </a:rPr>
              <a:t>数据流分析技术</a:t>
            </a:r>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2249334"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数据流分析技术</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5" name="矩形 4"/>
          <p:cNvSpPr/>
          <p:nvPr/>
        </p:nvSpPr>
        <p:spPr>
          <a:xfrm>
            <a:off x="515257" y="817917"/>
            <a:ext cx="8038193" cy="646331"/>
          </a:xfrm>
          <a:prstGeom prst="rect">
            <a:avLst/>
          </a:prstGeom>
        </p:spPr>
        <p:txBody>
          <a:bodyPr wrap="square">
            <a:spAutoFit/>
          </a:bodyPr>
          <a:lstStyle/>
          <a:p>
            <a:r>
              <a:rPr lang="zh-CN" altLang="en-US" b="1" dirty="0">
                <a:solidFill>
                  <a:srgbClr val="000000"/>
                </a:solidFill>
                <a:latin typeface="STHeiti SC"/>
              </a:rPr>
              <a:t>数据流分析</a:t>
            </a:r>
            <a:r>
              <a:rPr lang="zh-CN" altLang="en-US" dirty="0">
                <a:solidFill>
                  <a:srgbClr val="000000"/>
                </a:solidFill>
                <a:latin typeface="STHeiti SC"/>
              </a:rPr>
              <a:t>是一种用来获取</a:t>
            </a:r>
            <a:r>
              <a:rPr lang="zh-CN" altLang="en-US" u="sng" dirty="0">
                <a:solidFill>
                  <a:srgbClr val="000000"/>
                </a:solidFill>
                <a:latin typeface="STHeiti SC"/>
              </a:rPr>
              <a:t>相关数据沿着程序执行路径流动的信息分析技术</a:t>
            </a:r>
            <a:r>
              <a:rPr lang="zh-CN" altLang="en-US" dirty="0">
                <a:solidFill>
                  <a:srgbClr val="000000"/>
                </a:solidFill>
                <a:latin typeface="STHeiti SC"/>
              </a:rPr>
              <a:t>，分析对象是程序执行路径上的</a:t>
            </a:r>
            <a:r>
              <a:rPr lang="zh-CN" altLang="en-US" u="sng" dirty="0">
                <a:solidFill>
                  <a:srgbClr val="000000"/>
                </a:solidFill>
                <a:latin typeface="STHeiti SC"/>
              </a:rPr>
              <a:t>数据流动或可能的取值</a:t>
            </a:r>
            <a:r>
              <a:rPr lang="zh-CN" altLang="en-US" dirty="0">
                <a:solidFill>
                  <a:srgbClr val="000000"/>
                </a:solidFill>
                <a:latin typeface="STHeiti SC"/>
              </a:rPr>
              <a:t>。</a:t>
            </a:r>
            <a:endParaRPr lang="zh-CN" altLang="en-US" dirty="0"/>
          </a:p>
        </p:txBody>
      </p:sp>
      <p:pic>
        <p:nvPicPr>
          <p:cNvPr id="2" name="图片 1"/>
          <p:cNvPicPr>
            <a:picLocks noChangeAspect="1"/>
          </p:cNvPicPr>
          <p:nvPr/>
        </p:nvPicPr>
        <p:blipFill>
          <a:blip r:embed="rId4"/>
          <a:stretch>
            <a:fillRect/>
          </a:stretch>
        </p:blipFill>
        <p:spPr>
          <a:xfrm>
            <a:off x="1000728" y="1842716"/>
            <a:ext cx="2752122" cy="1740602"/>
          </a:xfrm>
          <a:prstGeom prst="rect">
            <a:avLst/>
          </a:prstGeom>
        </p:spPr>
      </p:pic>
      <p:pic>
        <p:nvPicPr>
          <p:cNvPr id="3" name="图片 2"/>
          <p:cNvPicPr>
            <a:picLocks noChangeAspect="1"/>
          </p:cNvPicPr>
          <p:nvPr/>
        </p:nvPicPr>
        <p:blipFill>
          <a:blip r:embed="rId5"/>
          <a:stretch>
            <a:fillRect/>
          </a:stretch>
        </p:blipFill>
        <p:spPr>
          <a:xfrm>
            <a:off x="4654460" y="1833580"/>
            <a:ext cx="3092450" cy="1749738"/>
          </a:xfrm>
          <a:prstGeom prst="rect">
            <a:avLst/>
          </a:prstGeom>
        </p:spPr>
      </p:pic>
      <p:sp>
        <p:nvSpPr>
          <p:cNvPr id="4" name="文本框 3"/>
          <p:cNvSpPr txBox="1"/>
          <p:nvPr/>
        </p:nvSpPr>
        <p:spPr>
          <a:xfrm>
            <a:off x="915307" y="1483482"/>
            <a:ext cx="1981200" cy="369332"/>
          </a:xfrm>
          <a:prstGeom prst="rect">
            <a:avLst/>
          </a:prstGeom>
          <a:noFill/>
        </p:spPr>
        <p:txBody>
          <a:bodyPr wrap="square" rtlCol="0">
            <a:spAutoFit/>
          </a:bodyPr>
          <a:lstStyle/>
          <a:p>
            <a:r>
              <a:rPr lang="zh-CN" altLang="en-US" dirty="0"/>
              <a:t>例子：</a:t>
            </a:r>
          </a:p>
        </p:txBody>
      </p:sp>
      <p:sp>
        <p:nvSpPr>
          <p:cNvPr id="6" name="文本框 5"/>
          <p:cNvSpPr txBox="1"/>
          <p:nvPr/>
        </p:nvSpPr>
        <p:spPr>
          <a:xfrm>
            <a:off x="4534353" y="1483482"/>
            <a:ext cx="1466850" cy="369332"/>
          </a:xfrm>
          <a:prstGeom prst="rect">
            <a:avLst/>
          </a:prstGeom>
          <a:noFill/>
        </p:spPr>
        <p:txBody>
          <a:bodyPr wrap="square" rtlCol="0">
            <a:spAutoFit/>
          </a:bodyPr>
          <a:lstStyle/>
          <a:p>
            <a:r>
              <a:rPr lang="zh-CN" altLang="en-US" dirty="0"/>
              <a:t>代码建模：</a:t>
            </a:r>
          </a:p>
        </p:txBody>
      </p:sp>
      <p:sp>
        <p:nvSpPr>
          <p:cNvPr id="7" name="矩形 6"/>
          <p:cNvSpPr/>
          <p:nvPr/>
        </p:nvSpPr>
        <p:spPr>
          <a:xfrm>
            <a:off x="619728" y="3682313"/>
            <a:ext cx="7838472" cy="1200329"/>
          </a:xfrm>
          <a:prstGeom prst="rect">
            <a:avLst/>
          </a:prstGeom>
        </p:spPr>
        <p:txBody>
          <a:bodyPr wrap="square">
            <a:spAutoFit/>
          </a:bodyPr>
          <a:lstStyle/>
          <a:p>
            <a:pPr latinLnBrk="1"/>
            <a:r>
              <a:rPr lang="zh-CN" altLang="en-US" sz="1200" b="1" dirty="0"/>
              <a:t>漏洞分析</a:t>
            </a:r>
            <a:r>
              <a:rPr lang="zh-CN" altLang="en-US" sz="1200" dirty="0"/>
              <a:t>。分析过程从函数</a:t>
            </a:r>
            <a:r>
              <a:rPr lang="en-US" altLang="zh-CN" sz="1200" dirty="0" err="1"/>
              <a:t>contrived_caller</a:t>
            </a:r>
            <a:r>
              <a:rPr lang="zh-CN" altLang="en-US" sz="1200" dirty="0"/>
              <a:t>的入口点开始，可知调用函数</a:t>
            </a:r>
            <a:r>
              <a:rPr lang="en-US" altLang="zh-CN" sz="1200" dirty="0"/>
              <a:t>contrived</a:t>
            </a:r>
            <a:r>
              <a:rPr lang="zh-CN" altLang="en-US" sz="1200" dirty="0"/>
              <a:t>的时候</a:t>
            </a:r>
            <a:r>
              <a:rPr lang="en-US" altLang="zh-CN" sz="1200" dirty="0"/>
              <a:t>p</a:t>
            </a:r>
            <a:r>
              <a:rPr lang="zh-CN" altLang="en-US" sz="1200" dirty="0"/>
              <a:t>的状态为</a:t>
            </a:r>
            <a:r>
              <a:rPr lang="en-US" altLang="zh-CN" sz="1200" dirty="0" err="1"/>
              <a:t>p.free</a:t>
            </a:r>
            <a:r>
              <a:rPr lang="zh-CN" altLang="en-US" sz="1200" dirty="0"/>
              <a:t>。分析函数</a:t>
            </a:r>
            <a:r>
              <a:rPr lang="en-US" altLang="zh-CN" sz="1200" dirty="0"/>
              <a:t>contrived</a:t>
            </a:r>
            <a:r>
              <a:rPr lang="zh-CN" altLang="en-US" sz="1200" dirty="0"/>
              <a:t>中的两条路径：</a:t>
            </a:r>
          </a:p>
          <a:p>
            <a:pPr>
              <a:buFont typeface="Arial" panose="020B0604020202020204" pitchFamily="34" charset="0"/>
              <a:buChar char="•"/>
            </a:pPr>
            <a:r>
              <a:rPr lang="en-US" altLang="zh-CN" sz="1200" b="1" dirty="0"/>
              <a:t>1-&gt;2-&gt;3-&gt;4-&gt;6</a:t>
            </a:r>
            <a:r>
              <a:rPr lang="zh-CN" altLang="en-US" sz="1200" dirty="0"/>
              <a:t>：在进行到</a:t>
            </a:r>
            <a:r>
              <a:rPr lang="en-US" altLang="zh-CN" sz="1200" dirty="0"/>
              <a:t>6</a:t>
            </a:r>
            <a:r>
              <a:rPr lang="zh-CN" altLang="en-US" sz="1200" dirty="0"/>
              <a:t>时，</a:t>
            </a:r>
            <a:r>
              <a:rPr lang="en-US" altLang="zh-CN" sz="1200" dirty="0"/>
              <a:t>6</a:t>
            </a:r>
            <a:r>
              <a:rPr lang="zh-CN" altLang="en-US" sz="1200" dirty="0"/>
              <a:t>的前置条件是</a:t>
            </a:r>
            <a:r>
              <a:rPr lang="en-US" altLang="zh-CN" sz="1200" dirty="0" err="1"/>
              <a:t>p.free</a:t>
            </a:r>
            <a:r>
              <a:rPr lang="zh-CN" altLang="en-US" sz="1200" dirty="0"/>
              <a:t>、</a:t>
            </a:r>
            <a:r>
              <a:rPr lang="en-US" altLang="zh-CN" sz="1200" dirty="0" err="1"/>
              <a:t>w.free</a:t>
            </a:r>
            <a:r>
              <a:rPr lang="zh-CN" altLang="en-US" sz="1200" dirty="0"/>
              <a:t>、</a:t>
            </a:r>
            <a:r>
              <a:rPr lang="en-US" altLang="zh-CN" sz="1200" dirty="0" err="1"/>
              <a:t>q.free</a:t>
            </a:r>
            <a:r>
              <a:rPr lang="zh-CN" altLang="en-US" sz="1200" dirty="0"/>
              <a:t>，此时语句</a:t>
            </a:r>
            <a:r>
              <a:rPr lang="en-US" altLang="zh-CN" sz="1200" dirty="0"/>
              <a:t>return *q</a:t>
            </a:r>
            <a:r>
              <a:rPr lang="zh-CN" altLang="en-US" sz="1200" dirty="0"/>
              <a:t>将触发</a:t>
            </a:r>
            <a:r>
              <a:rPr lang="en-US" altLang="zh-CN" sz="1200" dirty="0"/>
              <a:t>use-after-free</a:t>
            </a:r>
            <a:r>
              <a:rPr lang="zh-CN" altLang="en-US" sz="1200" dirty="0"/>
              <a:t>规则并设置</a:t>
            </a:r>
            <a:r>
              <a:rPr lang="en-US" altLang="zh-CN" sz="1200" dirty="0" err="1"/>
              <a:t>q.useAfterFree</a:t>
            </a:r>
            <a:r>
              <a:rPr lang="zh-CN" altLang="en-US" sz="1200" dirty="0"/>
              <a:t>状态。然后返回到函数</a:t>
            </a:r>
            <a:r>
              <a:rPr lang="en-US" altLang="zh-CN" sz="1200" dirty="0" err="1"/>
              <a:t>contrived_caller</a:t>
            </a:r>
            <a:r>
              <a:rPr lang="zh-CN" altLang="en-US" sz="1200" dirty="0"/>
              <a:t>的</a:t>
            </a:r>
            <a:r>
              <a:rPr lang="en-US" altLang="zh-CN" sz="1200" dirty="0"/>
              <a:t>4</a:t>
            </a:r>
            <a:r>
              <a:rPr lang="zh-CN" altLang="en-US" sz="1200" dirty="0"/>
              <a:t>，其前置条件为</a:t>
            </a:r>
            <a:r>
              <a:rPr lang="en-US" altLang="zh-CN" sz="1200" dirty="0" err="1"/>
              <a:t>p.useAfterFree</a:t>
            </a:r>
            <a:r>
              <a:rPr lang="zh-CN" altLang="en-US" sz="1200" dirty="0"/>
              <a:t>、</a:t>
            </a:r>
            <a:r>
              <a:rPr lang="en-US" altLang="zh-CN" sz="1200" dirty="0" err="1"/>
              <a:t>w.free</a:t>
            </a:r>
            <a:r>
              <a:rPr lang="zh-CN" altLang="en-US" sz="1200" dirty="0"/>
              <a:t>，此时语句</a:t>
            </a:r>
            <a:r>
              <a:rPr lang="en-US" altLang="zh-CN" sz="1200" dirty="0"/>
              <a:t>return *w</a:t>
            </a:r>
            <a:r>
              <a:rPr lang="zh-CN" altLang="en-US" sz="1200" dirty="0"/>
              <a:t>设置</a:t>
            </a:r>
            <a:r>
              <a:rPr lang="en-US" altLang="zh-CN" sz="1200" dirty="0" err="1"/>
              <a:t>w.useAfterFree</a:t>
            </a:r>
            <a:r>
              <a:rPr lang="zh-CN" altLang="en-US" sz="1200" dirty="0"/>
              <a:t>。因此，存在</a:t>
            </a:r>
            <a:r>
              <a:rPr lang="en-US" altLang="zh-CN" sz="1200" dirty="0"/>
              <a:t>use-after-free</a:t>
            </a:r>
            <a:r>
              <a:rPr lang="zh-CN" altLang="en-US" sz="1200" dirty="0"/>
              <a:t>漏洞。</a:t>
            </a:r>
          </a:p>
          <a:p>
            <a:pPr>
              <a:buFont typeface="Arial" panose="020B0604020202020204" pitchFamily="34" charset="0"/>
              <a:buChar char="•"/>
            </a:pPr>
            <a:r>
              <a:rPr lang="en-US" altLang="zh-CN" sz="1200" b="1" dirty="0"/>
              <a:t>1-&gt;2-&gt;5-&gt;6</a:t>
            </a:r>
            <a:r>
              <a:rPr lang="zh-CN" altLang="en-US" sz="1200" dirty="0"/>
              <a:t>：该路径是安全的</a:t>
            </a:r>
            <a:endParaRPr lang="zh-CN" altLang="en-US" sz="1200" dirty="0">
              <a:effectLst/>
            </a:endParaRPr>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55" name="组合 2"/>
          <p:cNvGrpSpPr/>
          <p:nvPr/>
        </p:nvGrpSpPr>
        <p:grpSpPr bwMode="auto">
          <a:xfrm>
            <a:off x="2539485" y="1056467"/>
            <a:ext cx="3397565" cy="309510"/>
            <a:chOff x="0" y="0"/>
            <a:chExt cx="3580582" cy="158874"/>
          </a:xfrm>
        </p:grpSpPr>
        <p:grpSp>
          <p:nvGrpSpPr>
            <p:cNvPr id="6156" name="组合 61"/>
            <p:cNvGrpSpPr/>
            <p:nvPr/>
          </p:nvGrpSpPr>
          <p:grpSpPr bwMode="auto">
            <a:xfrm>
              <a:off x="0" y="0"/>
              <a:ext cx="792088" cy="158874"/>
              <a:chOff x="0" y="0"/>
              <a:chExt cx="792088" cy="158874"/>
            </a:xfrm>
          </p:grpSpPr>
          <p:sp>
            <p:nvSpPr>
              <p:cNvPr id="6157" name="直接连接符 70"/>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8" name="直接连接符 71"/>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9" name="直接连接符 72"/>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6160" name="组合 62"/>
            <p:cNvGrpSpPr/>
            <p:nvPr/>
          </p:nvGrpSpPr>
          <p:grpSpPr bwMode="auto">
            <a:xfrm rot="10800000">
              <a:off x="2788494" y="0"/>
              <a:ext cx="792088" cy="158874"/>
              <a:chOff x="0" y="0"/>
              <a:chExt cx="792088" cy="158874"/>
            </a:xfrm>
          </p:grpSpPr>
          <p:sp>
            <p:nvSpPr>
              <p:cNvPr id="6161" name="直接连接符 67"/>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2" name="直接连接符 68"/>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3" name="直接连接符 69"/>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1954381"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符号执行技术</a:t>
            </a:r>
          </a:p>
        </p:txBody>
      </p:sp>
      <p:grpSp>
        <p:nvGrpSpPr>
          <p:cNvPr id="45" name="组合 44"/>
          <p:cNvGrpSpPr/>
          <p:nvPr/>
        </p:nvGrpSpPr>
        <p:grpSpPr>
          <a:xfrm>
            <a:off x="1603099" y="1608096"/>
            <a:ext cx="5421785" cy="3118252"/>
            <a:chOff x="6059464" y="3524925"/>
            <a:chExt cx="2185594" cy="1224902"/>
          </a:xfrm>
        </p:grpSpPr>
        <p:grpSp>
          <p:nvGrpSpPr>
            <p:cNvPr id="46" name="组合 45"/>
            <p:cNvGrpSpPr/>
            <p:nvPr/>
          </p:nvGrpSpPr>
          <p:grpSpPr>
            <a:xfrm>
              <a:off x="6059464" y="3524925"/>
              <a:ext cx="2185594" cy="1224902"/>
              <a:chOff x="4304043" y="1286667"/>
              <a:chExt cx="3837944" cy="2757794"/>
            </a:xfrm>
            <a:effectLst>
              <a:outerShdw blurRad="381000" dist="254000" dir="8100000" algn="tr" rotWithShape="0">
                <a:prstClr val="black">
                  <a:alpha val="40000"/>
                </a:prstClr>
              </a:outerShdw>
            </a:effectLst>
          </p:grpSpPr>
          <p:sp>
            <p:nvSpPr>
              <p:cNvPr id="50" name="圆角矩形 49"/>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4351927" y="1286667"/>
                <a:ext cx="3742172" cy="26711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TextBox 88"/>
            <p:cNvSpPr>
              <a:spLocks noChangeArrowheads="1"/>
            </p:cNvSpPr>
            <p:nvPr/>
          </p:nvSpPr>
          <p:spPr bwMode="auto">
            <a:xfrm>
              <a:off x="6275980" y="3813711"/>
              <a:ext cx="1798637" cy="386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dirty="0">
                  <a:solidFill>
                    <a:srgbClr val="000000"/>
                  </a:solidFill>
                  <a:latin typeface="STHeiti SC"/>
                </a:rPr>
                <a:t>    使用</a:t>
              </a:r>
              <a:r>
                <a:rPr lang="zh-CN" altLang="en-US" sz="1600" b="1" dirty="0">
                  <a:solidFill>
                    <a:srgbClr val="000000"/>
                  </a:solidFill>
                  <a:latin typeface="STHeiti SC"/>
                </a:rPr>
                <a:t>符号值替代具体值</a:t>
              </a:r>
              <a:r>
                <a:rPr lang="zh-CN" altLang="en-US" sz="1600" dirty="0">
                  <a:solidFill>
                    <a:srgbClr val="000000"/>
                  </a:solidFill>
                  <a:latin typeface="STHeiti SC"/>
                </a:rPr>
                <a:t>，</a:t>
              </a:r>
              <a:r>
                <a:rPr lang="zh-CN" altLang="en-US" sz="1600" b="1" dirty="0">
                  <a:solidFill>
                    <a:srgbClr val="000000"/>
                  </a:solidFill>
                  <a:latin typeface="STHeiti SC"/>
                </a:rPr>
                <a:t>模拟程序的执行</a:t>
              </a:r>
              <a:r>
                <a:rPr lang="zh-CN" altLang="en-US" sz="1600" dirty="0">
                  <a:solidFill>
                    <a:srgbClr val="000000"/>
                  </a:solidFill>
                  <a:latin typeface="STHeiti SC"/>
                </a:rPr>
                <a:t>。在模拟程序运行的过程中，符号执行引擎会收集程序中的语义信息，</a:t>
              </a:r>
              <a:r>
                <a:rPr lang="zh-CN" altLang="en-US" sz="1600" b="1" dirty="0">
                  <a:solidFill>
                    <a:srgbClr val="000000"/>
                  </a:solidFill>
                  <a:latin typeface="STHeiti SC"/>
                </a:rPr>
                <a:t>探索程序中的可达路径、分析程序中隐藏的错误。</a:t>
              </a:r>
              <a:endParaRPr lang="zh-CN" altLang="en-US" sz="1600" b="1" dirty="0"/>
            </a:p>
          </p:txBody>
        </p:sp>
      </p:gr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21" name="TextBox 43"/>
          <p:cNvSpPr>
            <a:spLocks noChangeArrowheads="1"/>
          </p:cNvSpPr>
          <p:nvPr/>
        </p:nvSpPr>
        <p:spPr bwMode="auto">
          <a:xfrm>
            <a:off x="2924989" y="965219"/>
            <a:ext cx="262655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800" b="1" dirty="0">
                <a:latin typeface="微软雅黑" panose="020B0503020204020204" pitchFamily="34" charset="-122"/>
                <a:ea typeface="微软雅黑" panose="020B0503020204020204" pitchFamily="34" charset="-122"/>
              </a:rPr>
              <a:t>符号执行技术</a:t>
            </a:r>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1954381"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符号执行技术</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2" name="矩形 1"/>
          <p:cNvSpPr/>
          <p:nvPr/>
        </p:nvSpPr>
        <p:spPr>
          <a:xfrm>
            <a:off x="158568" y="1613024"/>
            <a:ext cx="8400143" cy="369332"/>
          </a:xfrm>
          <a:prstGeom prst="rect">
            <a:avLst/>
          </a:prstGeom>
        </p:spPr>
        <p:txBody>
          <a:bodyPr wrap="square">
            <a:spAutoFit/>
          </a:bodyPr>
          <a:lstStyle/>
          <a:p>
            <a:pPr latinLnBrk="1"/>
            <a:r>
              <a:rPr lang="zh-CN" altLang="en-US" b="1" dirty="0"/>
              <a:t>      </a:t>
            </a:r>
            <a:r>
              <a:rPr lang="en-US" altLang="zh-CN" b="1" dirty="0"/>
              <a:t>1</a:t>
            </a:r>
            <a:r>
              <a:rPr lang="zh-CN" altLang="en-US" b="1" dirty="0"/>
              <a:t>）先来个小例子</a:t>
            </a:r>
            <a:r>
              <a:rPr lang="zh-CN" altLang="en-US" dirty="0"/>
              <a:t>：</a:t>
            </a:r>
            <a:endParaRPr lang="en-US" altLang="zh-CN" dirty="0"/>
          </a:p>
        </p:txBody>
      </p:sp>
      <p:pic>
        <p:nvPicPr>
          <p:cNvPr id="7" name="图片 6"/>
          <p:cNvPicPr>
            <a:picLocks noChangeAspect="1"/>
          </p:cNvPicPr>
          <p:nvPr/>
        </p:nvPicPr>
        <p:blipFill rotWithShape="1">
          <a:blip r:embed="rId4"/>
          <a:srcRect t="1963" r="-331" b="2780"/>
          <a:stretch>
            <a:fillRect/>
          </a:stretch>
        </p:blipFill>
        <p:spPr>
          <a:xfrm>
            <a:off x="515257" y="1982356"/>
            <a:ext cx="2906970" cy="1944842"/>
          </a:xfrm>
          <a:prstGeom prst="rect">
            <a:avLst/>
          </a:prstGeom>
        </p:spPr>
      </p:pic>
      <p:sp>
        <p:nvSpPr>
          <p:cNvPr id="3" name="文本框 2"/>
          <p:cNvSpPr txBox="1"/>
          <p:nvPr/>
        </p:nvSpPr>
        <p:spPr>
          <a:xfrm>
            <a:off x="3778916" y="1855356"/>
            <a:ext cx="4835649" cy="2462213"/>
          </a:xfrm>
          <a:prstGeom prst="rect">
            <a:avLst/>
          </a:prstGeom>
          <a:noFill/>
        </p:spPr>
        <p:txBody>
          <a:bodyPr wrap="square" rtlCol="0">
            <a:spAutoFit/>
          </a:bodyPr>
          <a:lstStyle/>
          <a:p>
            <a:r>
              <a:rPr lang="zh-CN" altLang="en-US" sz="1400" b="1" dirty="0"/>
              <a:t>分析：</a:t>
            </a:r>
            <a:endParaRPr lang="en-US" altLang="zh-CN" sz="1400" b="1" dirty="0"/>
          </a:p>
          <a:p>
            <a:r>
              <a:rPr lang="en-US" altLang="zh-CN" sz="1400" b="1" dirty="0"/>
              <a:t>         </a:t>
            </a:r>
            <a:r>
              <a:rPr lang="zh-CN" altLang="en-US" sz="1400" dirty="0"/>
              <a:t>整段代码存在两个</a:t>
            </a:r>
            <a:r>
              <a:rPr lang="en-US" altLang="zh-CN" sz="1400" dirty="0"/>
              <a:t>if</a:t>
            </a:r>
            <a:r>
              <a:rPr lang="zh-CN" altLang="en-US" sz="1400" dirty="0"/>
              <a:t>分支，经过符号执行，知道到达</a:t>
            </a:r>
            <a:r>
              <a:rPr lang="en-US" altLang="zh-CN" sz="1400" dirty="0"/>
              <a:t>a[ </a:t>
            </a:r>
            <a:r>
              <a:rPr lang="en-US" altLang="zh-CN" sz="1400" dirty="0" err="1"/>
              <a:t>i</a:t>
            </a:r>
            <a:r>
              <a:rPr lang="en-US" altLang="zh-CN" sz="1400" dirty="0"/>
              <a:t> ] = 1 </a:t>
            </a:r>
            <a:r>
              <a:rPr lang="zh-CN" altLang="en-US" sz="1400" dirty="0"/>
              <a:t>语句处有</a:t>
            </a:r>
            <a:r>
              <a:rPr lang="en-US" altLang="zh-CN" sz="1400" dirty="0"/>
              <a:t>2</a:t>
            </a:r>
            <a:r>
              <a:rPr lang="zh-CN" altLang="en-US" sz="1400" dirty="0"/>
              <a:t>条路径：</a:t>
            </a:r>
            <a:endParaRPr lang="en-US" altLang="zh-CN" sz="1400" dirty="0"/>
          </a:p>
          <a:p>
            <a:r>
              <a:rPr lang="en-US" altLang="zh-CN" sz="1400" dirty="0"/>
              <a:t>         </a:t>
            </a:r>
            <a:r>
              <a:rPr lang="zh-CN" altLang="en-US" sz="1400" dirty="0"/>
              <a:t>路径约束条件为 </a:t>
            </a:r>
            <a:r>
              <a:rPr lang="en-US" altLang="zh-CN" sz="1400" dirty="0"/>
              <a:t>x &gt; 0 ^ x &lt;= 10 </a:t>
            </a:r>
            <a:r>
              <a:rPr lang="zh-CN" altLang="en-US" sz="1400" dirty="0"/>
              <a:t>此时变量</a:t>
            </a:r>
            <a:r>
              <a:rPr lang="en-US" altLang="zh-CN" sz="1400" dirty="0" err="1"/>
              <a:t>i</a:t>
            </a:r>
            <a:r>
              <a:rPr lang="zh-CN" altLang="en-US" sz="1400" dirty="0"/>
              <a:t>的符号表达式为 </a:t>
            </a:r>
            <a:r>
              <a:rPr lang="en-US" altLang="zh-CN" sz="1400" dirty="0" err="1"/>
              <a:t>x</a:t>
            </a:r>
            <a:endParaRPr lang="en-US" altLang="zh-CN" sz="1400" dirty="0"/>
          </a:p>
          <a:p>
            <a:r>
              <a:rPr lang="en-US" altLang="zh-CN" sz="1400" dirty="0"/>
              <a:t>         </a:t>
            </a:r>
            <a:r>
              <a:rPr lang="zh-CN" altLang="en-US" sz="1400" dirty="0"/>
              <a:t>路径约束条件为</a:t>
            </a:r>
            <a:r>
              <a:rPr lang="en-US" altLang="zh-CN" sz="1400" dirty="0"/>
              <a:t> x &gt; 0 ^ x &gt; 10 , </a:t>
            </a:r>
            <a:r>
              <a:rPr lang="zh-CN" altLang="en-US" sz="1400" dirty="0"/>
              <a:t>此时变量</a:t>
            </a:r>
            <a:r>
              <a:rPr lang="en-US" altLang="zh-CN" sz="1400" dirty="0"/>
              <a:t> </a:t>
            </a:r>
            <a:r>
              <a:rPr lang="en-US" altLang="zh-CN" sz="1400" dirty="0" err="1"/>
              <a:t>i</a:t>
            </a:r>
            <a:endParaRPr lang="en-US" altLang="zh-CN" sz="1400" dirty="0"/>
          </a:p>
          <a:p>
            <a:r>
              <a:rPr lang="zh-CN" altLang="en-US" sz="1400" dirty="0"/>
              <a:t>的符号表达式为 </a:t>
            </a:r>
            <a:r>
              <a:rPr lang="en-US" altLang="zh-CN" sz="1400" dirty="0"/>
              <a:t>x % 10</a:t>
            </a:r>
          </a:p>
          <a:p>
            <a:r>
              <a:rPr lang="zh-CN" altLang="en-US" sz="1400" b="1" dirty="0"/>
              <a:t>约束求解：</a:t>
            </a:r>
            <a:br>
              <a:rPr lang="zh-CN" altLang="en-US" sz="1400" dirty="0"/>
            </a:br>
            <a:r>
              <a:rPr lang="en-US" altLang="zh-CN" sz="1400" dirty="0"/>
              <a:t>(x&gt;0∧x&lt;=10)∧(x&gt;=10) --</a:t>
            </a:r>
            <a:r>
              <a:rPr lang="zh-CN" altLang="en-US" sz="1400" dirty="0"/>
              <a:t>有解 </a:t>
            </a:r>
            <a:r>
              <a:rPr lang="en-US" altLang="zh-CN" sz="1400" dirty="0"/>
              <a:t>x=10 </a:t>
            </a:r>
            <a:r>
              <a:rPr lang="zh-CN" altLang="en-US" sz="1400" dirty="0"/>
              <a:t>满足越界条件</a:t>
            </a:r>
            <a:endParaRPr lang="en-US" altLang="zh-CN" sz="1400" dirty="0"/>
          </a:p>
          <a:p>
            <a:r>
              <a:rPr lang="zh-CN" altLang="en-US" sz="1400" dirty="0">
                <a:solidFill>
                  <a:srgbClr val="C00000"/>
                </a:solidFill>
              </a:rPr>
              <a:t>存在漏洞</a:t>
            </a:r>
            <a:br>
              <a:rPr lang="zh-CN" altLang="en-US" sz="1400" dirty="0"/>
            </a:br>
            <a:r>
              <a:rPr lang="en-US" altLang="zh-CN" sz="1400" dirty="0"/>
              <a:t>(x&gt;0∧x&gt;10)∧ x%10&gt;=10) </a:t>
            </a:r>
            <a:r>
              <a:rPr lang="zh-CN" altLang="en-US" sz="1400" dirty="0"/>
              <a:t>无解</a:t>
            </a:r>
            <a:endParaRPr lang="en-US" altLang="zh-CN" sz="1400" b="1" dirty="0"/>
          </a:p>
        </p:txBody>
      </p:sp>
      <p:sp>
        <p:nvSpPr>
          <p:cNvPr id="4" name="矩形 3"/>
          <p:cNvSpPr/>
          <p:nvPr/>
        </p:nvSpPr>
        <p:spPr>
          <a:xfrm>
            <a:off x="158568" y="667231"/>
            <a:ext cx="8706031" cy="923330"/>
          </a:xfrm>
          <a:prstGeom prst="rect">
            <a:avLst/>
          </a:prstGeom>
        </p:spPr>
        <p:txBody>
          <a:bodyPr wrap="square">
            <a:spAutoFit/>
          </a:bodyPr>
          <a:lstStyle/>
          <a:p>
            <a:r>
              <a:rPr lang="zh-CN" altLang="en-US" b="1" dirty="0">
                <a:solidFill>
                  <a:srgbClr val="000000"/>
                </a:solidFill>
                <a:latin typeface="STHeiti SC"/>
              </a:rPr>
              <a:t>    符号执行</a:t>
            </a:r>
            <a:r>
              <a:rPr lang="zh-CN" altLang="en-US" dirty="0">
                <a:solidFill>
                  <a:srgbClr val="000000"/>
                </a:solidFill>
                <a:latin typeface="STHeiti SC"/>
              </a:rPr>
              <a:t>（</a:t>
            </a:r>
            <a:r>
              <a:rPr lang="en-US" altLang="zh-CN" dirty="0">
                <a:solidFill>
                  <a:srgbClr val="000000"/>
                </a:solidFill>
                <a:latin typeface="STHeiti SC"/>
              </a:rPr>
              <a:t>Symbolic Execution</a:t>
            </a:r>
            <a:r>
              <a:rPr lang="zh-CN" altLang="en-US" dirty="0">
                <a:solidFill>
                  <a:srgbClr val="000000"/>
                </a:solidFill>
                <a:latin typeface="STHeiti SC"/>
              </a:rPr>
              <a:t>）的基本思路是</a:t>
            </a:r>
            <a:r>
              <a:rPr lang="zh-CN" altLang="en-US" u="sng" dirty="0">
                <a:solidFill>
                  <a:srgbClr val="000000"/>
                </a:solidFill>
                <a:latin typeface="STHeiti SC"/>
              </a:rPr>
              <a:t>使用符号值替代具体值，模拟程序的执行</a:t>
            </a:r>
            <a:r>
              <a:rPr lang="zh-CN" altLang="en-US" dirty="0">
                <a:solidFill>
                  <a:srgbClr val="000000"/>
                </a:solidFill>
                <a:latin typeface="STHeiti SC"/>
              </a:rPr>
              <a:t>。在模拟程序运行的过程中，符号执行引擎会收集程序中的语义信息，探索程序中的可达路径、分析程序中隐藏的错误。</a:t>
            </a:r>
            <a:endParaRPr lang="zh-CN" altLang="en-US" dirty="0"/>
          </a:p>
        </p:txBody>
      </p:sp>
      <p:sp>
        <p:nvSpPr>
          <p:cNvPr id="5" name="矩形 4"/>
          <p:cNvSpPr/>
          <p:nvPr/>
        </p:nvSpPr>
        <p:spPr>
          <a:xfrm>
            <a:off x="425268" y="3987621"/>
            <a:ext cx="4572000" cy="954107"/>
          </a:xfrm>
          <a:prstGeom prst="rect">
            <a:avLst/>
          </a:prstGeom>
        </p:spPr>
        <p:txBody>
          <a:bodyPr>
            <a:spAutoFit/>
          </a:bodyPr>
          <a:lstStyle/>
          <a:p>
            <a:r>
              <a:rPr lang="zh-CN" altLang="en-US" sz="1400" b="1" dirty="0"/>
              <a:t>检查：</a:t>
            </a:r>
            <a:endParaRPr lang="en-US" altLang="zh-CN" sz="1400" b="1" dirty="0"/>
          </a:p>
          <a:p>
            <a:r>
              <a:rPr lang="en-US" altLang="zh-CN" sz="1400" dirty="0"/>
              <a:t>         a[ </a:t>
            </a:r>
            <a:r>
              <a:rPr lang="en-US" altLang="zh-CN" sz="1400" dirty="0" err="1"/>
              <a:t>i</a:t>
            </a:r>
            <a:r>
              <a:rPr lang="en-US" altLang="zh-CN" sz="1400" dirty="0"/>
              <a:t> ] = 1 </a:t>
            </a:r>
            <a:r>
              <a:rPr lang="zh-CN" altLang="en-US" sz="1400" dirty="0"/>
              <a:t>语句存在数组越界的情况</a:t>
            </a:r>
            <a:endParaRPr lang="en-US" altLang="zh-CN" sz="1400" dirty="0"/>
          </a:p>
          <a:p>
            <a:r>
              <a:rPr lang="zh-CN" altLang="en-US" sz="1400" b="1" dirty="0"/>
              <a:t>条件：</a:t>
            </a:r>
            <a:endParaRPr lang="en-US" altLang="zh-CN" sz="1400" b="1" dirty="0"/>
          </a:p>
          <a:p>
            <a:r>
              <a:rPr lang="zh-CN" altLang="en-US" sz="1400" dirty="0"/>
              <a:t>         访问越界的约束条件是 </a:t>
            </a:r>
            <a:r>
              <a:rPr lang="en-US" altLang="zh-CN" sz="1400" dirty="0"/>
              <a:t>x &gt;= 10</a:t>
            </a:r>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1954381"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符号执行技术</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grpSp>
        <p:nvGrpSpPr>
          <p:cNvPr id="2" name="组合 1"/>
          <p:cNvGrpSpPr/>
          <p:nvPr/>
        </p:nvGrpSpPr>
        <p:grpSpPr>
          <a:xfrm>
            <a:off x="99780" y="1230554"/>
            <a:ext cx="2846358" cy="2846358"/>
            <a:chOff x="304800" y="673100"/>
            <a:chExt cx="4000500" cy="4000500"/>
          </a:xfrm>
          <a:effectLst>
            <a:outerShdw blurRad="444500" dist="254000" dir="8100000" algn="tr" rotWithShape="0">
              <a:prstClr val="black">
                <a:alpha val="50000"/>
              </a:prstClr>
            </a:outerShdw>
          </a:effectLst>
        </p:grpSpPr>
        <p:sp>
          <p:nvSpPr>
            <p:cNvPr id="3" name="同心圆 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椭圆 3"/>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944215" y="1259548"/>
            <a:ext cx="623903" cy="623903"/>
            <a:chOff x="304800" y="673100"/>
            <a:chExt cx="4000500" cy="4000500"/>
          </a:xfrm>
          <a:effectLst>
            <a:outerShdw blurRad="317500" dist="190500" dir="8100000" algn="tr" rotWithShape="0">
              <a:prstClr val="black">
                <a:alpha val="50000"/>
              </a:prstClr>
            </a:outerShdw>
          </a:effectLst>
        </p:grpSpPr>
        <p:sp>
          <p:nvSpPr>
            <p:cNvPr id="6" name="同心圆 1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rgbClr val="C00000"/>
                </a:solidFill>
                <a:latin typeface="微软雅黑" panose="020B0503020204020204" pitchFamily="34" charset="-122"/>
                <a:ea typeface="微软雅黑" panose="020B0503020204020204" pitchFamily="34" charset="-122"/>
              </a:endParaRPr>
            </a:p>
          </p:txBody>
        </p:sp>
        <p:sp>
          <p:nvSpPr>
            <p:cNvPr id="7" name="椭圆 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rgbClr val="C00000"/>
                  </a:solidFill>
                  <a:latin typeface="微软雅黑" panose="020B0503020204020204" pitchFamily="34" charset="-122"/>
                  <a:ea typeface="微软雅黑" panose="020B0503020204020204" pitchFamily="34" charset="-122"/>
                </a:rPr>
                <a:t>1</a:t>
              </a:r>
              <a:endParaRPr lang="zh-CN" altLang="en-US" sz="2500" b="1" dirty="0">
                <a:solidFill>
                  <a:srgbClr val="C00000"/>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2588914" y="2367199"/>
            <a:ext cx="623903" cy="623903"/>
            <a:chOff x="304800" y="673100"/>
            <a:chExt cx="4000500" cy="4000500"/>
          </a:xfrm>
          <a:effectLst>
            <a:outerShdw blurRad="317500" dist="190500" dir="8100000" algn="tr" rotWithShape="0">
              <a:prstClr val="black">
                <a:alpha val="50000"/>
              </a:prstClr>
            </a:outerShdw>
          </a:effectLst>
        </p:grpSpPr>
        <p:sp>
          <p:nvSpPr>
            <p:cNvPr id="10" name="同心圆 1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rgbClr val="C00000"/>
                </a:solidFill>
                <a:latin typeface="微软雅黑" panose="020B0503020204020204" pitchFamily="34" charset="-122"/>
                <a:ea typeface="微软雅黑" panose="020B0503020204020204" pitchFamily="34" charset="-122"/>
              </a:endParaRPr>
            </a:p>
          </p:txBody>
        </p:sp>
        <p:sp>
          <p:nvSpPr>
            <p:cNvPr id="11" name="椭圆 1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rgbClr val="C00000"/>
                  </a:solidFill>
                  <a:latin typeface="微软雅黑" panose="020B0503020204020204" pitchFamily="34" charset="-122"/>
                  <a:ea typeface="微软雅黑" panose="020B0503020204020204" pitchFamily="34" charset="-122"/>
                </a:rPr>
                <a:t>2</a:t>
              </a:r>
              <a:endParaRPr lang="zh-CN" altLang="en-US" sz="2500" b="1" dirty="0">
                <a:solidFill>
                  <a:srgbClr val="C00000"/>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1957832" y="3459817"/>
            <a:ext cx="623903" cy="623903"/>
            <a:chOff x="-2521916" y="2095922"/>
            <a:chExt cx="4000500" cy="4000500"/>
          </a:xfrm>
          <a:effectLst>
            <a:outerShdw blurRad="317500" dist="190500" dir="8100000" algn="tr" rotWithShape="0">
              <a:prstClr val="black">
                <a:alpha val="50000"/>
              </a:prstClr>
            </a:outerShdw>
          </a:effectLst>
        </p:grpSpPr>
        <p:sp>
          <p:nvSpPr>
            <p:cNvPr id="13" name="同心圆 18"/>
            <p:cNvSpPr/>
            <p:nvPr/>
          </p:nvSpPr>
          <p:spPr>
            <a:xfrm>
              <a:off x="-2521916" y="2095922"/>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rgbClr val="C00000"/>
                </a:solidFill>
                <a:latin typeface="微软雅黑" panose="020B0503020204020204" pitchFamily="34" charset="-122"/>
                <a:ea typeface="微软雅黑" panose="020B0503020204020204" pitchFamily="34" charset="-122"/>
              </a:endParaRPr>
            </a:p>
          </p:txBody>
        </p:sp>
        <p:sp>
          <p:nvSpPr>
            <p:cNvPr id="14" name="椭圆 13"/>
            <p:cNvSpPr/>
            <p:nvPr/>
          </p:nvSpPr>
          <p:spPr>
            <a:xfrm>
              <a:off x="-2521916" y="209592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rgbClr val="C00000"/>
                  </a:solidFill>
                  <a:latin typeface="微软雅黑" panose="020B0503020204020204" pitchFamily="34" charset="-122"/>
                  <a:ea typeface="微软雅黑" panose="020B0503020204020204" pitchFamily="34" charset="-122"/>
                </a:rPr>
                <a:t>3</a:t>
              </a:r>
              <a:endParaRPr lang="zh-CN" altLang="en-US" sz="2500" b="1" dirty="0">
                <a:solidFill>
                  <a:srgbClr val="C00000"/>
                </a:solidFill>
                <a:latin typeface="微软雅黑" panose="020B0503020204020204" pitchFamily="34" charset="-122"/>
                <a:ea typeface="微软雅黑" panose="020B0503020204020204" pitchFamily="34" charset="-122"/>
              </a:endParaRPr>
            </a:p>
          </p:txBody>
        </p:sp>
      </p:grpSp>
      <p:sp>
        <p:nvSpPr>
          <p:cNvPr id="15" name="TextBox 24"/>
          <p:cNvSpPr txBox="1"/>
          <p:nvPr/>
        </p:nvSpPr>
        <p:spPr>
          <a:xfrm>
            <a:off x="346432" y="2380816"/>
            <a:ext cx="2169176" cy="360099"/>
          </a:xfrm>
          <a:prstGeom prst="rect">
            <a:avLst/>
          </a:prstGeom>
          <a:noFill/>
        </p:spPr>
        <p:txBody>
          <a:bodyPr wrap="square" lIns="0" tIns="0" rIns="0" bIns="0" rtlCol="0">
            <a:spAutoFit/>
          </a:bodyPr>
          <a:lstStyle/>
          <a:p>
            <a:pPr algn="just">
              <a:lnSpc>
                <a:spcPct val="130000"/>
              </a:lnSpc>
            </a:pPr>
            <a:r>
              <a:rPr lang="zh-CN" altLang="en-US" dirty="0"/>
              <a:t>符号执行三个关键点</a:t>
            </a:r>
            <a:endParaRPr lang="en-US" altLang="zh-CN" b="1" dirty="0">
              <a:latin typeface="微软雅黑" panose="020B0503020204020204" pitchFamily="34" charset="-122"/>
              <a:ea typeface="微软雅黑" panose="020B0503020204020204" pitchFamily="34" charset="-122"/>
            </a:endParaRPr>
          </a:p>
        </p:txBody>
      </p:sp>
      <p:sp>
        <p:nvSpPr>
          <p:cNvPr id="16" name="TextBox 21"/>
          <p:cNvSpPr txBox="1"/>
          <p:nvPr/>
        </p:nvSpPr>
        <p:spPr>
          <a:xfrm>
            <a:off x="2808153" y="1396827"/>
            <a:ext cx="3084553" cy="246221"/>
          </a:xfrm>
          <a:prstGeom prst="rect">
            <a:avLst/>
          </a:prstGeom>
          <a:noFill/>
        </p:spPr>
        <p:txBody>
          <a:bodyPr wrap="square" lIns="0" tIns="0" rIns="0" bIns="0" rtlCol="0">
            <a:spAutoFit/>
          </a:bodyPr>
          <a:lstStyle/>
          <a:p>
            <a:pPr algn="just"/>
            <a:r>
              <a:rPr lang="zh-CN" altLang="en-US" sz="1600" u="sng" dirty="0"/>
              <a:t>变量符号化</a:t>
            </a:r>
            <a:endPar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TextBox 21"/>
          <p:cNvSpPr txBox="1"/>
          <p:nvPr/>
        </p:nvSpPr>
        <p:spPr>
          <a:xfrm>
            <a:off x="3286123" y="2556039"/>
            <a:ext cx="3084553" cy="246221"/>
          </a:xfrm>
          <a:prstGeom prst="rect">
            <a:avLst/>
          </a:prstGeom>
          <a:noFill/>
        </p:spPr>
        <p:txBody>
          <a:bodyPr wrap="square" lIns="0" tIns="0" rIns="0" bIns="0" rtlCol="0">
            <a:spAutoFit/>
          </a:bodyPr>
          <a:lstStyle/>
          <a:p>
            <a:pPr algn="just"/>
            <a:r>
              <a:rPr lang="zh-CN" altLang="en-US" sz="1600" u="sng" dirty="0"/>
              <a:t>程序执行模拟</a:t>
            </a:r>
            <a:endPar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8" name="TextBox 21"/>
          <p:cNvSpPr txBox="1"/>
          <p:nvPr/>
        </p:nvSpPr>
        <p:spPr>
          <a:xfrm>
            <a:off x="2801213" y="3742692"/>
            <a:ext cx="3084553" cy="246221"/>
          </a:xfrm>
          <a:prstGeom prst="rect">
            <a:avLst/>
          </a:prstGeom>
          <a:noFill/>
        </p:spPr>
        <p:txBody>
          <a:bodyPr wrap="square" lIns="0" tIns="0" rIns="0" bIns="0" rtlCol="0">
            <a:spAutoFit/>
          </a:bodyPr>
          <a:lstStyle/>
          <a:p>
            <a:pPr algn="just"/>
            <a:r>
              <a:rPr lang="zh-CN" altLang="en-US" sz="1600" u="sng" dirty="0"/>
              <a:t>约束求解</a:t>
            </a:r>
            <a:endPar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9" name="矩形 47"/>
          <p:cNvSpPr>
            <a:spLocks noChangeArrowheads="1"/>
          </p:cNvSpPr>
          <p:nvPr/>
        </p:nvSpPr>
        <p:spPr bwMode="auto">
          <a:xfrm>
            <a:off x="3148885" y="889203"/>
            <a:ext cx="4516638" cy="923322"/>
          </a:xfrm>
          <a:prstGeom prst="rect">
            <a:avLst/>
          </a:prstGeom>
          <a:noFill/>
          <a:ln>
            <a:noFill/>
          </a:ln>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2">
              <a:lnSpc>
                <a:spcPct val="150000"/>
              </a:lnSpc>
            </a:pPr>
            <a:r>
              <a:rPr lang="zh-CN" altLang="en-US" sz="1200" dirty="0">
                <a:latin typeface="+mn-lt"/>
                <a:ea typeface="+mn-ea"/>
              </a:rPr>
              <a:t>用一个符号值表示程序中的变量，所有与被符号化的变量相关的变量取值都会用符号值或符号值的表达式表示。比如上例的</a:t>
            </a:r>
            <a:r>
              <a:rPr lang="en-US" altLang="zh-CN" sz="1200" dirty="0">
                <a:latin typeface="+mn-lt"/>
                <a:ea typeface="+mn-ea"/>
              </a:rPr>
              <a:t> </a:t>
            </a:r>
            <a:r>
              <a:rPr lang="en-US" altLang="zh-CN" sz="1200" dirty="0" err="1">
                <a:latin typeface="+mn-lt"/>
                <a:ea typeface="+mn-ea"/>
              </a:rPr>
              <a:t>i</a:t>
            </a:r>
            <a:r>
              <a:rPr lang="en-US" altLang="zh-CN" sz="1200" dirty="0">
                <a:latin typeface="+mn-lt"/>
                <a:ea typeface="+mn-ea"/>
              </a:rPr>
              <a:t> </a:t>
            </a:r>
            <a:r>
              <a:rPr lang="zh-CN" altLang="en-US" sz="1200" dirty="0">
                <a:latin typeface="+mn-lt"/>
                <a:ea typeface="+mn-ea"/>
              </a:rPr>
              <a:t>用 </a:t>
            </a:r>
            <a:r>
              <a:rPr lang="en-US" altLang="zh-CN" sz="1200" dirty="0">
                <a:latin typeface="+mn-lt"/>
                <a:ea typeface="+mn-ea"/>
              </a:rPr>
              <a:t>x</a:t>
            </a:r>
            <a:r>
              <a:rPr lang="zh-CN" altLang="en-US" sz="1200" dirty="0">
                <a:latin typeface="+mn-lt"/>
                <a:ea typeface="+mn-ea"/>
              </a:rPr>
              <a:t>来表示</a:t>
            </a:r>
            <a:endParaRPr lang="en-US" altLang="zh-CN" sz="1200" dirty="0">
              <a:latin typeface="+mn-lt"/>
              <a:ea typeface="+mn-ea"/>
            </a:endParaRPr>
          </a:p>
        </p:txBody>
      </p:sp>
      <p:sp>
        <p:nvSpPr>
          <p:cNvPr id="20" name="矩形 47"/>
          <p:cNvSpPr>
            <a:spLocks noChangeArrowheads="1"/>
          </p:cNvSpPr>
          <p:nvPr/>
        </p:nvSpPr>
        <p:spPr bwMode="auto">
          <a:xfrm>
            <a:off x="3537843" y="1920385"/>
            <a:ext cx="4842457" cy="1606586"/>
          </a:xfrm>
          <a:prstGeom prst="rect">
            <a:avLst/>
          </a:prstGeom>
          <a:noFill/>
          <a:ln>
            <a:noFill/>
          </a:ln>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2"/>
            <a:r>
              <a:rPr lang="en-US" altLang="zh-CN" sz="1200" dirty="0">
                <a:latin typeface="+mn-lt"/>
                <a:ea typeface="+mn-ea"/>
              </a:rPr>
              <a:t>1</a:t>
            </a:r>
            <a:r>
              <a:rPr lang="zh-CN" altLang="en-US" sz="1200" dirty="0">
                <a:latin typeface="+mn-lt"/>
                <a:ea typeface="+mn-ea"/>
              </a:rPr>
              <a:t>）对于运算语句，由于符号执行使用符号值替代具体值，所以无法直接计算得到一个明确的结果，需要</a:t>
            </a:r>
            <a:r>
              <a:rPr lang="zh-CN" altLang="en-US" sz="1200" b="1" dirty="0">
                <a:latin typeface="+mn-lt"/>
                <a:ea typeface="+mn-ea"/>
              </a:rPr>
              <a:t>使用符号表达式的方式表示变量的值</a:t>
            </a:r>
            <a:r>
              <a:rPr lang="zh-CN" altLang="en-US" sz="1200" dirty="0">
                <a:latin typeface="+mn-lt"/>
                <a:ea typeface="+mn-ea"/>
              </a:rPr>
              <a:t>。如 </a:t>
            </a:r>
            <a:r>
              <a:rPr lang="en-US" altLang="zh-CN" sz="1200" dirty="0">
                <a:latin typeface="+mn-lt"/>
                <a:ea typeface="+mn-ea"/>
              </a:rPr>
              <a:t>x % 10</a:t>
            </a:r>
            <a:endParaRPr lang="zh-CN" altLang="en-US" sz="1200" dirty="0">
              <a:latin typeface="+mn-lt"/>
              <a:ea typeface="+mn-ea"/>
            </a:endParaRPr>
          </a:p>
          <a:p>
            <a:pPr lvl="2"/>
            <a:r>
              <a:rPr lang="en-US" altLang="zh-CN" sz="1200" dirty="0">
                <a:latin typeface="+mn-lt"/>
                <a:ea typeface="+mn-ea"/>
              </a:rPr>
              <a:t>2</a:t>
            </a:r>
            <a:r>
              <a:rPr lang="zh-CN" altLang="en-US" sz="1200" dirty="0">
                <a:latin typeface="+mn-lt"/>
                <a:ea typeface="+mn-ea"/>
              </a:rPr>
              <a:t>）对于分支语句，每当遇到分支语句，原先的一条路径就会分裂成多条路径，</a:t>
            </a:r>
            <a:r>
              <a:rPr lang="zh-CN" altLang="en-US" sz="1200" b="1" dirty="0">
                <a:latin typeface="+mn-lt"/>
                <a:ea typeface="+mn-ea"/>
              </a:rPr>
              <a:t>符号执行会记录每条分支路径的约束条件</a:t>
            </a:r>
            <a:r>
              <a:rPr lang="zh-CN" altLang="en-US" sz="1200" dirty="0">
                <a:latin typeface="+mn-lt"/>
                <a:ea typeface="+mn-ea"/>
              </a:rPr>
              <a:t>。最终，通过采用合适的路径遍历方法，符号执行可以收集到所有执行路径的约束条件表达式。如</a:t>
            </a:r>
            <a:r>
              <a:rPr lang="en-US" altLang="zh-CN" sz="1200" dirty="0">
                <a:latin typeface="+mn-lt"/>
                <a:ea typeface="+mn-ea"/>
              </a:rPr>
              <a:t>x&gt;0∧x&lt;=10</a:t>
            </a:r>
            <a:endParaRPr lang="zh-CN" altLang="en-US" sz="1200" dirty="0">
              <a:latin typeface="+mn-lt"/>
              <a:ea typeface="+mn-ea"/>
            </a:endParaRPr>
          </a:p>
        </p:txBody>
      </p:sp>
      <p:sp>
        <p:nvSpPr>
          <p:cNvPr id="21" name="矩形 20"/>
          <p:cNvSpPr/>
          <p:nvPr/>
        </p:nvSpPr>
        <p:spPr>
          <a:xfrm>
            <a:off x="3654000" y="3698254"/>
            <a:ext cx="4572000" cy="830997"/>
          </a:xfrm>
          <a:prstGeom prst="rect">
            <a:avLst/>
          </a:prstGeom>
        </p:spPr>
        <p:txBody>
          <a:bodyPr>
            <a:spAutoFit/>
          </a:bodyPr>
          <a:lstStyle/>
          <a:p>
            <a:pPr marL="285750" indent="-285750" latinLnBrk="1">
              <a:buFont typeface="Arial" panose="020B0604020202020204" pitchFamily="34" charset="0"/>
              <a:buChar char="•"/>
            </a:pPr>
            <a:r>
              <a:rPr lang="zh-CN" altLang="en-US" sz="1200" dirty="0"/>
              <a:t>负责路径可达性进行判定及测试输入生成的工作。对一条路径的约束表达式，可以采用约束求解器进行求解：</a:t>
            </a:r>
          </a:p>
          <a:p>
            <a:r>
              <a:rPr lang="zh-CN" altLang="en-US" sz="1200" dirty="0"/>
              <a:t>     如</a:t>
            </a:r>
            <a:r>
              <a:rPr lang="zh-CN" altLang="en-US" sz="1200" b="1" dirty="0"/>
              <a:t>有解</a:t>
            </a:r>
            <a:r>
              <a:rPr lang="zh-CN" altLang="en-US" sz="1200" dirty="0"/>
              <a:t>，该路径是可达的，可以得到到达该路径的输入</a:t>
            </a:r>
          </a:p>
          <a:p>
            <a:r>
              <a:rPr lang="zh-CN" altLang="en-US" sz="1200" dirty="0"/>
              <a:t>     如</a:t>
            </a:r>
            <a:r>
              <a:rPr lang="zh-CN" altLang="en-US" sz="1200" b="1" dirty="0"/>
              <a:t>无解</a:t>
            </a:r>
            <a:r>
              <a:rPr lang="zh-CN" altLang="en-US" sz="1200" dirty="0"/>
              <a:t>，该路径是不可达的，也无法生成到达该路径的输入</a:t>
            </a:r>
          </a:p>
        </p:txBody>
      </p:sp>
      <p:pic>
        <p:nvPicPr>
          <p:cNvPr id="52" name="图片 51"/>
          <p:cNvPicPr>
            <a:picLocks noChangeAspect="1"/>
          </p:cNvPicPr>
          <p:nvPr/>
        </p:nvPicPr>
        <p:blipFill rotWithShape="1">
          <a:blip r:embed="rId4"/>
          <a:srcRect r="2892" b="11612"/>
          <a:stretch>
            <a:fillRect/>
          </a:stretch>
        </p:blipFill>
        <p:spPr>
          <a:xfrm>
            <a:off x="4675031" y="4540092"/>
            <a:ext cx="2149345" cy="5186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55" name="组合 2"/>
          <p:cNvGrpSpPr/>
          <p:nvPr/>
        </p:nvGrpSpPr>
        <p:grpSpPr bwMode="auto">
          <a:xfrm>
            <a:off x="2539485" y="1056467"/>
            <a:ext cx="3397565" cy="309510"/>
            <a:chOff x="0" y="0"/>
            <a:chExt cx="3580582" cy="158874"/>
          </a:xfrm>
        </p:grpSpPr>
        <p:grpSp>
          <p:nvGrpSpPr>
            <p:cNvPr id="6156" name="组合 61"/>
            <p:cNvGrpSpPr/>
            <p:nvPr/>
          </p:nvGrpSpPr>
          <p:grpSpPr bwMode="auto">
            <a:xfrm>
              <a:off x="0" y="0"/>
              <a:ext cx="792088" cy="158874"/>
              <a:chOff x="0" y="0"/>
              <a:chExt cx="792088" cy="158874"/>
            </a:xfrm>
          </p:grpSpPr>
          <p:sp>
            <p:nvSpPr>
              <p:cNvPr id="6157" name="直接连接符 70"/>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8" name="直接连接符 71"/>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59" name="直接连接符 72"/>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6160" name="组合 62"/>
            <p:cNvGrpSpPr/>
            <p:nvPr/>
          </p:nvGrpSpPr>
          <p:grpSpPr bwMode="auto">
            <a:xfrm rot="10800000">
              <a:off x="2788494" y="0"/>
              <a:ext cx="792088" cy="158874"/>
              <a:chOff x="0" y="0"/>
              <a:chExt cx="792088" cy="158874"/>
            </a:xfrm>
          </p:grpSpPr>
          <p:sp>
            <p:nvSpPr>
              <p:cNvPr id="6161" name="直接连接符 67"/>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2" name="直接连接符 68"/>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6163" name="直接连接符 69"/>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p:cNvGrpSpPr/>
          <p:nvPr/>
        </p:nvGrpSpPr>
        <p:grpSpPr>
          <a:xfrm>
            <a:off x="1603099" y="1487351"/>
            <a:ext cx="5640981" cy="3239001"/>
            <a:chOff x="6059464" y="3524925"/>
            <a:chExt cx="2185594" cy="1224902"/>
          </a:xfrm>
        </p:grpSpPr>
        <p:grpSp>
          <p:nvGrpSpPr>
            <p:cNvPr id="46" name="组合 45"/>
            <p:cNvGrpSpPr/>
            <p:nvPr/>
          </p:nvGrpSpPr>
          <p:grpSpPr>
            <a:xfrm>
              <a:off x="6059464" y="3524925"/>
              <a:ext cx="2185594" cy="1224902"/>
              <a:chOff x="4304043" y="1286667"/>
              <a:chExt cx="3837944" cy="2757794"/>
            </a:xfrm>
            <a:effectLst>
              <a:outerShdw blurRad="381000" dist="254000" dir="8100000" algn="tr" rotWithShape="0">
                <a:prstClr val="black">
                  <a:alpha val="40000"/>
                </a:prstClr>
              </a:outerShdw>
            </a:effectLst>
          </p:grpSpPr>
          <p:sp>
            <p:nvSpPr>
              <p:cNvPr id="50" name="圆角矩形 49"/>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4351927" y="1286667"/>
                <a:ext cx="3742172" cy="26711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TextBox 88"/>
            <p:cNvSpPr>
              <a:spLocks noChangeArrowheads="1"/>
            </p:cNvSpPr>
            <p:nvPr/>
          </p:nvSpPr>
          <p:spPr bwMode="auto">
            <a:xfrm>
              <a:off x="6140940" y="3569941"/>
              <a:ext cx="2022639" cy="11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dirty="0">
                  <a:solidFill>
                    <a:srgbClr val="000000"/>
                  </a:solidFill>
                  <a:latin typeface="STHeiti SC"/>
                </a:rPr>
                <a:t>    污点分析技术</a:t>
              </a:r>
              <a:r>
                <a:rPr lang="zh-CN" altLang="en-US" sz="1600" b="1" dirty="0">
                  <a:solidFill>
                    <a:srgbClr val="000000"/>
                  </a:solidFill>
                  <a:latin typeface="STHeiti SC"/>
                </a:rPr>
                <a:t>将所感兴趣的程序数据（外部输入数据或内部数据）标记为污点数据，通过跟踪污点数据在程序中的流向，检测这些数据是否会影响某些关键的操作</a:t>
              </a:r>
              <a:r>
                <a:rPr lang="zh-CN" altLang="en-US" sz="1600" dirty="0">
                  <a:solidFill>
                    <a:srgbClr val="000000"/>
                  </a:solidFill>
                  <a:latin typeface="STHeiti SC"/>
                </a:rPr>
                <a:t>。污点源直接引入不受信任的数据（例如硬盘文件内容，网络数据包等）或机密数据到程序中，这些数据最终传播到污点汇聚点，在</a:t>
              </a:r>
              <a:r>
                <a:rPr lang="zh-CN" altLang="en-US" sz="1600" b="1" dirty="0">
                  <a:solidFill>
                    <a:srgbClr val="000000"/>
                  </a:solidFill>
                  <a:latin typeface="STHeiti SC"/>
                </a:rPr>
                <a:t>污点汇聚点</a:t>
              </a:r>
              <a:r>
                <a:rPr lang="zh-CN" altLang="en-US" sz="1600" dirty="0">
                  <a:solidFill>
                    <a:srgbClr val="000000"/>
                  </a:solidFill>
                  <a:latin typeface="STHeiti SC"/>
                </a:rPr>
                <a:t>会产生安全敏感操作（违反数据完整性）或泄露隐私数据到外界的操作（违反数据保密性）。在污点数据从源到汇聚点的传播过程中，程序可以进行污点数据的无害处理。污点传播分析规则包括：</a:t>
              </a:r>
              <a:r>
                <a:rPr lang="zh-CN" altLang="en-US" sz="1600" b="1" dirty="0">
                  <a:solidFill>
                    <a:srgbClr val="000000"/>
                  </a:solidFill>
                  <a:latin typeface="STHeiti SC"/>
                </a:rPr>
                <a:t>污点扩散规则</a:t>
              </a:r>
              <a:r>
                <a:rPr lang="zh-CN" altLang="en-US" sz="1600" dirty="0">
                  <a:solidFill>
                    <a:srgbClr val="000000"/>
                  </a:solidFill>
                  <a:latin typeface="STHeiti SC"/>
                </a:rPr>
                <a:t>（例如普通赋值和计算语句等）和</a:t>
              </a:r>
              <a:r>
                <a:rPr lang="zh-CN" altLang="en-US" sz="1600" b="1" dirty="0">
                  <a:solidFill>
                    <a:srgbClr val="000000"/>
                  </a:solidFill>
                  <a:latin typeface="STHeiti SC"/>
                </a:rPr>
                <a:t>污点清除规则</a:t>
              </a:r>
              <a:r>
                <a:rPr lang="zh-CN" altLang="en-US" sz="1600" dirty="0">
                  <a:solidFill>
                    <a:srgbClr val="000000"/>
                  </a:solidFill>
                  <a:latin typeface="STHeiti SC"/>
                </a:rPr>
                <a:t>（例如常值赋值语句等），检测污点时所对应的敏感操作通常包括程序跳转和函数调用。</a:t>
              </a:r>
              <a:endParaRPr lang="zh-CN" altLang="en-US" sz="1600" dirty="0"/>
            </a:p>
          </p:txBody>
        </p:sp>
      </p:gr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21" name="TextBox 43"/>
          <p:cNvSpPr>
            <a:spLocks noChangeArrowheads="1"/>
          </p:cNvSpPr>
          <p:nvPr/>
        </p:nvSpPr>
        <p:spPr bwMode="auto">
          <a:xfrm>
            <a:off x="2924989" y="965219"/>
            <a:ext cx="262655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800" b="1" dirty="0">
                <a:latin typeface="微软雅黑" panose="020B0503020204020204" pitchFamily="34" charset="-122"/>
                <a:ea typeface="微软雅黑" panose="020B0503020204020204" pitchFamily="34" charset="-122"/>
              </a:rPr>
              <a:t>污点分析技术</a:t>
            </a:r>
          </a:p>
        </p:txBody>
      </p:sp>
      <p:sp>
        <p:nvSpPr>
          <p:cNvPr id="22" name="TextBox 34"/>
          <p:cNvSpPr txBox="1"/>
          <p:nvPr/>
        </p:nvSpPr>
        <p:spPr>
          <a:xfrm>
            <a:off x="908957" y="206330"/>
            <a:ext cx="1954381"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污点分析技术</a:t>
            </a:r>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3818674"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污点分析技术</a:t>
            </a:r>
            <a:r>
              <a:rPr lang="en-US" altLang="zh-CN" sz="2000" spc="300" dirty="0">
                <a:latin typeface="等线" panose="02010600030101010101" pitchFamily="2" charset="-122"/>
                <a:ea typeface="等线" panose="02010600030101010101" pitchFamily="2" charset="-122"/>
              </a:rPr>
              <a:t>:</a:t>
            </a:r>
            <a:r>
              <a:rPr lang="zh-CN" altLang="en-US" sz="2000" spc="300" dirty="0">
                <a:latin typeface="等线" panose="02010600030101010101" pitchFamily="2" charset="-122"/>
                <a:ea typeface="等线" panose="02010600030101010101" pitchFamily="2" charset="-122"/>
              </a:rPr>
              <a:t>显示分析技术</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2" name="文本框 1"/>
          <p:cNvSpPr txBox="1"/>
          <p:nvPr/>
        </p:nvSpPr>
        <p:spPr>
          <a:xfrm>
            <a:off x="749300" y="844550"/>
            <a:ext cx="7302500" cy="646331"/>
          </a:xfrm>
          <a:prstGeom prst="rect">
            <a:avLst/>
          </a:prstGeom>
          <a:noFill/>
        </p:spPr>
        <p:txBody>
          <a:bodyPr wrap="square" rtlCol="0">
            <a:spAutoFit/>
          </a:bodyPr>
          <a:lstStyle/>
          <a:p>
            <a:r>
              <a:rPr lang="zh-CN" altLang="en-US" dirty="0"/>
              <a:t>污点传播分析中的显式流分析就是分析污点标记如何随程序中变量之间的</a:t>
            </a:r>
            <a:r>
              <a:rPr lang="zh-CN" altLang="en-US" b="1" dirty="0"/>
              <a:t>数据依赖关系传播</a:t>
            </a:r>
            <a:endParaRPr lang="en-US" altLang="zh-CN" dirty="0"/>
          </a:p>
        </p:txBody>
      </p:sp>
      <p:pic>
        <p:nvPicPr>
          <p:cNvPr id="3" name="图片 2"/>
          <p:cNvPicPr>
            <a:picLocks noChangeAspect="1"/>
          </p:cNvPicPr>
          <p:nvPr/>
        </p:nvPicPr>
        <p:blipFill>
          <a:blip r:embed="rId4"/>
          <a:stretch>
            <a:fillRect/>
          </a:stretch>
        </p:blipFill>
        <p:spPr>
          <a:xfrm>
            <a:off x="1993900" y="1622416"/>
            <a:ext cx="4078884" cy="287338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21657" y="224004"/>
            <a:ext cx="3942105"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污点分析技术</a:t>
            </a:r>
            <a:r>
              <a:rPr lang="en-US" altLang="zh-CN" sz="2000" spc="300" dirty="0">
                <a:latin typeface="等线" panose="02010600030101010101" pitchFamily="2" charset="-122"/>
                <a:ea typeface="等线" panose="02010600030101010101" pitchFamily="2" charset="-122"/>
              </a:rPr>
              <a:t>:</a:t>
            </a:r>
            <a:r>
              <a:rPr lang="zh-CN" altLang="en-US" sz="2000" spc="300" dirty="0">
                <a:latin typeface="等线" panose="02010600030101010101" pitchFamily="2" charset="-122"/>
                <a:ea typeface="等线" panose="02010600030101010101" pitchFamily="2" charset="-122"/>
              </a:rPr>
              <a:t>隐式分析技术</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2" name="文本框 1"/>
          <p:cNvSpPr txBox="1"/>
          <p:nvPr/>
        </p:nvSpPr>
        <p:spPr>
          <a:xfrm>
            <a:off x="749300" y="844550"/>
            <a:ext cx="7302500" cy="369332"/>
          </a:xfrm>
          <a:prstGeom prst="rect">
            <a:avLst/>
          </a:prstGeom>
          <a:noFill/>
        </p:spPr>
        <p:txBody>
          <a:bodyPr wrap="square" rtlCol="0">
            <a:spAutoFit/>
          </a:bodyPr>
          <a:lstStyle/>
          <a:p>
            <a:r>
              <a:rPr lang="zh-CN" altLang="zh-CN" dirty="0">
                <a:solidFill>
                  <a:srgbClr val="000000"/>
                </a:solidFill>
                <a:latin typeface="宋体" panose="02010600030101010101" pitchFamily="2" charset="-122"/>
              </a:rPr>
              <a:t>隐式流分析其如何随变量之间的“控制依赖”关系传播</a:t>
            </a:r>
            <a:r>
              <a:rPr lang="zh-CN" altLang="en-US" dirty="0">
                <a:solidFill>
                  <a:srgbClr val="000000"/>
                </a:solidFill>
                <a:latin typeface="宋体" panose="02010600030101010101" pitchFamily="2" charset="-122"/>
              </a:rPr>
              <a:t>。</a:t>
            </a:r>
            <a:endParaRPr lang="en-US" altLang="zh-CN" dirty="0"/>
          </a:p>
        </p:txBody>
      </p:sp>
      <p:pic>
        <p:nvPicPr>
          <p:cNvPr id="3" name="图片 2"/>
          <p:cNvPicPr>
            <a:picLocks noChangeAspect="1"/>
          </p:cNvPicPr>
          <p:nvPr/>
        </p:nvPicPr>
        <p:blipFill>
          <a:blip r:embed="rId4"/>
          <a:stretch>
            <a:fillRect/>
          </a:stretch>
        </p:blipFill>
        <p:spPr>
          <a:xfrm>
            <a:off x="1864360" y="1393825"/>
            <a:ext cx="4546600" cy="32581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4" descr="F:\0PPT素材\背景及图片\白麻子.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p:cNvCxnSpPr/>
          <p:nvPr/>
        </p:nvCxnSpPr>
        <p:spPr>
          <a:xfrm flipV="1">
            <a:off x="2458116" y="1511574"/>
            <a:ext cx="759478" cy="1008492"/>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grpSp>
        <p:nvGrpSpPr>
          <p:cNvPr id="98" name="组合 97"/>
          <p:cNvGrpSpPr/>
          <p:nvPr/>
        </p:nvGrpSpPr>
        <p:grpSpPr>
          <a:xfrm>
            <a:off x="3137984" y="1144857"/>
            <a:ext cx="1414632" cy="636545"/>
            <a:chOff x="1591195" y="3531392"/>
            <a:chExt cx="1721136" cy="774463"/>
          </a:xfrm>
          <a:effectLst>
            <a:outerShdw blurRad="444500" dist="254000" dir="8100000" algn="tr" rotWithShape="0">
              <a:prstClr val="black">
                <a:alpha val="50000"/>
              </a:prstClr>
            </a:outerShdw>
          </a:effectLst>
        </p:grpSpPr>
        <p:sp>
          <p:nvSpPr>
            <p:cNvPr id="99"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1" name="组合 100"/>
          <p:cNvGrpSpPr/>
          <p:nvPr/>
        </p:nvGrpSpPr>
        <p:grpSpPr>
          <a:xfrm>
            <a:off x="3228663" y="3673040"/>
            <a:ext cx="1414632" cy="636545"/>
            <a:chOff x="1591195" y="3531392"/>
            <a:chExt cx="1721136" cy="774463"/>
          </a:xfrm>
          <a:effectLst>
            <a:outerShdw blurRad="444500" dist="254000" dir="8100000" algn="tr" rotWithShape="0">
              <a:prstClr val="black">
                <a:alpha val="50000"/>
              </a:prstClr>
            </a:outerShdw>
          </a:effectLst>
        </p:grpSpPr>
        <p:sp>
          <p:nvSpPr>
            <p:cNvPr id="102"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9" name="TextBox 108"/>
          <p:cNvSpPr txBox="1"/>
          <p:nvPr/>
        </p:nvSpPr>
        <p:spPr>
          <a:xfrm>
            <a:off x="3175886" y="1371097"/>
            <a:ext cx="1338828"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静态污点分析</a:t>
            </a:r>
          </a:p>
        </p:txBody>
      </p:sp>
      <p:sp>
        <p:nvSpPr>
          <p:cNvPr id="111" name="TextBox 110"/>
          <p:cNvSpPr txBox="1"/>
          <p:nvPr/>
        </p:nvSpPr>
        <p:spPr>
          <a:xfrm>
            <a:off x="3233172" y="3848902"/>
            <a:ext cx="1338828"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动态污点分析</a:t>
            </a:r>
          </a:p>
        </p:txBody>
      </p:sp>
      <p:grpSp>
        <p:nvGrpSpPr>
          <p:cNvPr id="112" name="组合 111"/>
          <p:cNvGrpSpPr/>
          <p:nvPr/>
        </p:nvGrpSpPr>
        <p:grpSpPr>
          <a:xfrm>
            <a:off x="1206029" y="2066956"/>
            <a:ext cx="1382075" cy="1382075"/>
            <a:chOff x="3746633" y="1810030"/>
            <a:chExt cx="1382075" cy="1382075"/>
          </a:xfrm>
        </p:grpSpPr>
        <p:grpSp>
          <p:nvGrpSpPr>
            <p:cNvPr id="113" name="组合 112"/>
            <p:cNvGrpSpPr/>
            <p:nvPr/>
          </p:nvGrpSpPr>
          <p:grpSpPr>
            <a:xfrm>
              <a:off x="3746633" y="1810030"/>
              <a:ext cx="1382075" cy="1382075"/>
              <a:chOff x="304800" y="673100"/>
              <a:chExt cx="4000500" cy="4000500"/>
            </a:xfrm>
            <a:effectLst>
              <a:outerShdw blurRad="444500" dist="254000" dir="8100000" algn="tr" rotWithShape="0">
                <a:prstClr val="black">
                  <a:alpha val="50000"/>
                </a:prstClr>
              </a:outerShdw>
            </a:effectLst>
          </p:grpSpPr>
          <p:sp>
            <p:nvSpPr>
              <p:cNvPr id="115" name="同心圆 1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6" name="椭圆 115"/>
              <p:cNvSpPr/>
              <p:nvPr/>
            </p:nvSpPr>
            <p:spPr>
              <a:xfrm>
                <a:off x="392112" y="760412"/>
                <a:ext cx="3825877" cy="382587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4" name="TextBox 113"/>
            <p:cNvSpPr txBox="1"/>
            <p:nvPr/>
          </p:nvSpPr>
          <p:spPr>
            <a:xfrm>
              <a:off x="3927371" y="2292282"/>
              <a:ext cx="1020598" cy="492443"/>
            </a:xfrm>
            <a:prstGeom prst="rect">
              <a:avLst/>
            </a:prstGeom>
            <a:no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rPr>
                <a:t>程序是否运行？</a:t>
              </a:r>
            </a:p>
          </p:txBody>
        </p:sp>
      </p:grpSp>
      <p:sp>
        <p:nvSpPr>
          <p:cNvPr id="119" name="TextBox 118"/>
          <p:cNvSpPr txBox="1"/>
          <p:nvPr/>
        </p:nvSpPr>
        <p:spPr>
          <a:xfrm>
            <a:off x="4795808" y="3185073"/>
            <a:ext cx="2448272" cy="1632755"/>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动态污点分析是指通过沙箱等方式运行被分析程序，通过实时监控污点数据在程序中的传播来检测数据能否从污点源传播到污点汇聚点。动态污点分析首先需要为污点数据增加一个污点标签并将其存储在存储单元，以传播污点标记。</a:t>
            </a:r>
            <a:endParaRPr lang="en-US" altLang="zh-CN" sz="1100" dirty="0">
              <a:latin typeface="微软雅黑" panose="020B0503020204020204" pitchFamily="34" charset="-122"/>
              <a:ea typeface="微软雅黑" panose="020B0503020204020204" pitchFamily="34" charset="-122"/>
            </a:endParaRPr>
          </a:p>
        </p:txBody>
      </p:sp>
      <p:sp>
        <p:nvSpPr>
          <p:cNvPr id="120" name="TextBox 119"/>
          <p:cNvSpPr txBox="1"/>
          <p:nvPr/>
        </p:nvSpPr>
        <p:spPr>
          <a:xfrm>
            <a:off x="4067565" y="991398"/>
            <a:ext cx="2448272" cy="290977"/>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                                                                                                                                                           </a:t>
            </a:r>
            <a:endParaRPr lang="en-US" altLang="zh-CN" sz="1100" dirty="0">
              <a:latin typeface="微软雅黑" panose="020B0503020204020204" pitchFamily="34" charset="-122"/>
              <a:ea typeface="微软雅黑" panose="020B0503020204020204" pitchFamily="34" charset="-122"/>
            </a:endParaRPr>
          </a:p>
        </p:txBody>
      </p:sp>
      <p:pic>
        <p:nvPicPr>
          <p:cNvPr id="9" name="图片 8" descr="暨大3"/>
          <p:cNvPicPr>
            <a:picLocks noChangeAspect="1"/>
          </p:cNvPicPr>
          <p:nvPr/>
        </p:nvPicPr>
        <p:blipFill>
          <a:blip r:embed="rId5"/>
          <a:stretch>
            <a:fillRect/>
          </a:stretch>
        </p:blipFill>
        <p:spPr>
          <a:xfrm>
            <a:off x="7244080" y="0"/>
            <a:ext cx="1762125" cy="664845"/>
          </a:xfrm>
          <a:prstGeom prst="rect">
            <a:avLst/>
          </a:prstGeom>
        </p:spPr>
      </p:pic>
      <p:cxnSp>
        <p:nvCxnSpPr>
          <p:cNvPr id="3" name="直接连接符 2"/>
          <p:cNvCxnSpPr>
            <a:stCxn id="115" idx="5"/>
          </p:cNvCxnSpPr>
          <p:nvPr/>
        </p:nvCxnSpPr>
        <p:spPr>
          <a:xfrm>
            <a:off x="2385704" y="3246631"/>
            <a:ext cx="789314" cy="823093"/>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sp>
        <p:nvSpPr>
          <p:cNvPr id="2" name="TextBox 118"/>
          <p:cNvSpPr txBox="1"/>
          <p:nvPr/>
        </p:nvSpPr>
        <p:spPr>
          <a:xfrm>
            <a:off x="4713667" y="819041"/>
            <a:ext cx="2448272" cy="1192634"/>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静态污点分析是指不运行被分析程序，通过分析程序变量间的数据依赖关系来检测数据能否从污点源传播到污点汇聚点，其分析对象通常是程序的源码或中间表示。</a:t>
            </a:r>
            <a:endParaRPr lang="en-US" altLang="zh-CN" sz="1100" dirty="0">
              <a:latin typeface="微软雅黑" panose="020B0503020204020204" pitchFamily="34" charset="-122"/>
              <a:ea typeface="微软雅黑" panose="020B0503020204020204" pitchFamily="34" charset="-122"/>
            </a:endParaRPr>
          </a:p>
        </p:txBody>
      </p:sp>
      <p:sp>
        <p:nvSpPr>
          <p:cNvPr id="26" name="TextBox 34"/>
          <p:cNvSpPr txBox="1"/>
          <p:nvPr/>
        </p:nvSpPr>
        <p:spPr>
          <a:xfrm>
            <a:off x="908957" y="206330"/>
            <a:ext cx="4639412"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污点分析技术</a:t>
            </a:r>
            <a:r>
              <a:rPr lang="en-US" altLang="zh-CN" sz="2000" spc="300" dirty="0">
                <a:latin typeface="等线" panose="02010600030101010101" pitchFamily="2" charset="-122"/>
                <a:ea typeface="等线" panose="02010600030101010101" pitchFamily="2" charset="-122"/>
              </a:rPr>
              <a:t>:</a:t>
            </a:r>
            <a:r>
              <a:rPr lang="zh-CN" altLang="en-US" sz="2000" spc="300" dirty="0">
                <a:latin typeface="等线" panose="02010600030101010101" pitchFamily="2" charset="-122"/>
                <a:ea typeface="等线" panose="02010600030101010101" pitchFamily="2" charset="-122"/>
              </a:rPr>
              <a:t>静态</a:t>
            </a:r>
            <a:r>
              <a:rPr lang="en-US" altLang="zh-CN" sz="2000" spc="300" dirty="0">
                <a:latin typeface="等线" panose="02010600030101010101" pitchFamily="2" charset="-122"/>
                <a:ea typeface="等线" panose="02010600030101010101" pitchFamily="2" charset="-122"/>
              </a:rPr>
              <a:t>&amp;</a:t>
            </a:r>
            <a:r>
              <a:rPr lang="zh-CN" altLang="en-US" sz="2000" spc="300" dirty="0">
                <a:latin typeface="等线" panose="02010600030101010101" pitchFamily="2" charset="-122"/>
                <a:ea typeface="等线" panose="02010600030101010101" pitchFamily="2" charset="-122"/>
              </a:rPr>
              <a:t>动态污点分析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4019049"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基于逻辑推理的静态分析技术</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2" name="文本框 1"/>
          <p:cNvSpPr txBox="1"/>
          <p:nvPr/>
        </p:nvSpPr>
        <p:spPr>
          <a:xfrm>
            <a:off x="646880" y="863600"/>
            <a:ext cx="6750870" cy="369332"/>
          </a:xfrm>
          <a:prstGeom prst="rect">
            <a:avLst/>
          </a:prstGeom>
          <a:noFill/>
        </p:spPr>
        <p:txBody>
          <a:bodyPr wrap="square" rtlCol="0">
            <a:spAutoFit/>
          </a:bodyPr>
          <a:lstStyle/>
          <a:p>
            <a:r>
              <a:rPr lang="zh-CN" altLang="en-US" dirty="0"/>
              <a:t>         </a:t>
            </a:r>
          </a:p>
        </p:txBody>
      </p:sp>
      <p:sp>
        <p:nvSpPr>
          <p:cNvPr id="8" name="文本框 7"/>
          <p:cNvSpPr txBox="1"/>
          <p:nvPr/>
        </p:nvSpPr>
        <p:spPr>
          <a:xfrm>
            <a:off x="646880" y="863494"/>
            <a:ext cx="6750870" cy="3138170"/>
          </a:xfrm>
          <a:prstGeom prst="rect">
            <a:avLst/>
          </a:prstGeom>
          <a:noFill/>
        </p:spPr>
        <p:txBody>
          <a:bodyPr wrap="square" rtlCol="0">
            <a:spAutoFit/>
          </a:bodyPr>
          <a:lstStyle/>
          <a:p>
            <a:r>
              <a:rPr lang="en-US" altLang="zh-CN" dirty="0"/>
              <a:t>         </a:t>
            </a:r>
            <a:r>
              <a:rPr lang="zh-CN" altLang="en-US" dirty="0"/>
              <a:t>首先将源代码进行形式化的描述，然后</a:t>
            </a:r>
            <a:r>
              <a:rPr lang="zh-CN" altLang="en-US" b="1" dirty="0"/>
              <a:t>利用推理、证明等数学方法验证或发现形式化描述</a:t>
            </a:r>
            <a:r>
              <a:rPr lang="zh-CN" altLang="en-US" dirty="0"/>
              <a:t>的一些性质，以此推断程序是否存在某种类型的漏洞。</a:t>
            </a:r>
            <a:endParaRPr lang="en-US" altLang="zh-CN" dirty="0"/>
          </a:p>
          <a:p>
            <a:r>
              <a:rPr lang="en-US" altLang="zh-CN" dirty="0"/>
              <a:t>          </a:t>
            </a:r>
            <a:r>
              <a:rPr lang="zh-CN" altLang="en-US" dirty="0"/>
              <a:t>过程：</a:t>
            </a:r>
            <a:endParaRPr lang="en-US" altLang="zh-CN" dirty="0"/>
          </a:p>
          <a:p>
            <a:r>
              <a:rPr lang="en-US" altLang="zh-CN" dirty="0"/>
              <a:t>	1</a:t>
            </a:r>
            <a:r>
              <a:rPr lang="zh-CN" altLang="en-US" dirty="0"/>
              <a:t>）</a:t>
            </a:r>
            <a:r>
              <a:rPr lang="zh-CN" altLang="en-US" b="1" dirty="0"/>
              <a:t>形式化建模：</a:t>
            </a:r>
            <a:r>
              <a:rPr lang="zh-CN" altLang="en-US" dirty="0"/>
              <a:t>对程序代码进行形式化描述的过程也称为形式化建模，所得的形式化模型是一组数学表达式。</a:t>
            </a:r>
            <a:endParaRPr lang="en-US" altLang="zh-CN" dirty="0"/>
          </a:p>
          <a:p>
            <a:r>
              <a:rPr lang="en-US" altLang="zh-CN" dirty="0"/>
              <a:t>	2</a:t>
            </a:r>
            <a:r>
              <a:rPr lang="zh-CN" altLang="en-US" dirty="0"/>
              <a:t>）</a:t>
            </a:r>
            <a:r>
              <a:rPr lang="zh-CN" altLang="en-US" b="1" dirty="0"/>
              <a:t>基于逻辑推理的漏洞分析：</a:t>
            </a:r>
            <a:r>
              <a:rPr lang="zh-CN" altLang="en-US" dirty="0"/>
              <a:t>即检测程序的形式化模型是否符合给定的形式化条件的过程，即验证形式化模型过程</a:t>
            </a:r>
            <a:endParaRPr lang="en-US" altLang="zh-CN" dirty="0"/>
          </a:p>
          <a:p>
            <a:r>
              <a:rPr lang="zh-CN" altLang="en-US" dirty="0"/>
              <a:t>两种常见技术：</a:t>
            </a:r>
            <a:endParaRPr lang="en-US" altLang="zh-CN" dirty="0"/>
          </a:p>
          <a:p>
            <a:r>
              <a:rPr lang="en-US" altLang="zh-CN" dirty="0"/>
              <a:t>	</a:t>
            </a:r>
            <a:r>
              <a:rPr lang="en-US" altLang="zh-CN" dirty="0">
                <a:solidFill>
                  <a:schemeClr val="tx2"/>
                </a:solidFill>
              </a:rPr>
              <a:t>1</a:t>
            </a:r>
            <a:r>
              <a:rPr lang="zh-CN" altLang="en-US" dirty="0">
                <a:solidFill>
                  <a:schemeClr val="tx2"/>
                </a:solidFill>
              </a:rPr>
              <a:t>）模型检验技术</a:t>
            </a:r>
            <a:endParaRPr lang="en-US" altLang="zh-CN" dirty="0">
              <a:solidFill>
                <a:schemeClr val="tx2"/>
              </a:solidFill>
            </a:endParaRPr>
          </a:p>
          <a:p>
            <a:r>
              <a:rPr lang="en-US" altLang="zh-CN" dirty="0">
                <a:solidFill>
                  <a:schemeClr val="tx2"/>
                </a:solidFill>
              </a:rPr>
              <a:t>	2</a:t>
            </a:r>
            <a:r>
              <a:rPr lang="zh-CN" altLang="en-US" dirty="0">
                <a:solidFill>
                  <a:schemeClr val="tx2"/>
                </a:solidFill>
              </a:rPr>
              <a:t>）定理证明技术</a:t>
            </a:r>
            <a:endParaRPr lang="en-US" altLang="zh-CN" dirty="0">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4" descr="F:\0PPT素材\背景及图片\白麻子.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p:cNvCxnSpPr/>
          <p:nvPr/>
        </p:nvCxnSpPr>
        <p:spPr>
          <a:xfrm flipV="1">
            <a:off x="2458116" y="1511574"/>
            <a:ext cx="759478" cy="1008492"/>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grpSp>
        <p:nvGrpSpPr>
          <p:cNvPr id="98" name="组合 97"/>
          <p:cNvGrpSpPr/>
          <p:nvPr/>
        </p:nvGrpSpPr>
        <p:grpSpPr>
          <a:xfrm>
            <a:off x="3137984" y="1144857"/>
            <a:ext cx="1414632" cy="636545"/>
            <a:chOff x="1591195" y="3531392"/>
            <a:chExt cx="1721136" cy="774463"/>
          </a:xfrm>
          <a:effectLst>
            <a:outerShdw blurRad="444500" dist="254000" dir="8100000" algn="tr" rotWithShape="0">
              <a:prstClr val="black">
                <a:alpha val="50000"/>
              </a:prstClr>
            </a:outerShdw>
          </a:effectLst>
        </p:grpSpPr>
        <p:sp>
          <p:nvSpPr>
            <p:cNvPr id="99"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1" name="组合 100"/>
          <p:cNvGrpSpPr/>
          <p:nvPr/>
        </p:nvGrpSpPr>
        <p:grpSpPr>
          <a:xfrm>
            <a:off x="3228663" y="3673040"/>
            <a:ext cx="1414632" cy="636545"/>
            <a:chOff x="1591195" y="3531392"/>
            <a:chExt cx="1721136" cy="774463"/>
          </a:xfrm>
          <a:effectLst>
            <a:outerShdw blurRad="444500" dist="254000" dir="8100000" algn="tr" rotWithShape="0">
              <a:prstClr val="black">
                <a:alpha val="50000"/>
              </a:prstClr>
            </a:outerShdw>
          </a:effectLst>
        </p:grpSpPr>
        <p:sp>
          <p:nvSpPr>
            <p:cNvPr id="102"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9" name="TextBox 108"/>
          <p:cNvSpPr txBox="1"/>
          <p:nvPr/>
        </p:nvSpPr>
        <p:spPr>
          <a:xfrm>
            <a:off x="3175886" y="1371097"/>
            <a:ext cx="1415772" cy="338554"/>
          </a:xfrm>
          <a:prstGeom prst="rect">
            <a:avLst/>
          </a:prstGeom>
          <a:noFill/>
        </p:spPr>
        <p:txBody>
          <a:bodyPr wrap="none" rtlCol="0">
            <a:spAutoFit/>
          </a:bodyPr>
          <a:lstStyle/>
          <a:p>
            <a:r>
              <a:rPr lang="zh-CN" altLang="en-US" sz="1600" dirty="0">
                <a:solidFill>
                  <a:schemeClr val="tx2"/>
                </a:solidFill>
              </a:rPr>
              <a:t>模型检验技术</a:t>
            </a:r>
            <a:endParaRPr lang="en-US" altLang="zh-CN" sz="1600" dirty="0">
              <a:solidFill>
                <a:schemeClr val="tx2"/>
              </a:solidFill>
            </a:endParaRPr>
          </a:p>
        </p:txBody>
      </p:sp>
      <p:sp>
        <p:nvSpPr>
          <p:cNvPr id="111" name="TextBox 110"/>
          <p:cNvSpPr txBox="1"/>
          <p:nvPr/>
        </p:nvSpPr>
        <p:spPr>
          <a:xfrm>
            <a:off x="3233172" y="3848902"/>
            <a:ext cx="1415772" cy="338554"/>
          </a:xfrm>
          <a:prstGeom prst="rect">
            <a:avLst/>
          </a:prstGeom>
          <a:noFill/>
        </p:spPr>
        <p:txBody>
          <a:bodyPr wrap="none" rtlCol="0">
            <a:spAutoFit/>
          </a:bodyPr>
          <a:lstStyle/>
          <a:p>
            <a:r>
              <a:rPr lang="zh-CN" altLang="en-US" sz="1600" dirty="0">
                <a:solidFill>
                  <a:schemeClr val="tx2"/>
                </a:solidFill>
              </a:rPr>
              <a:t>定理证明技术</a:t>
            </a:r>
            <a:endParaRPr lang="en-US" altLang="zh-CN" sz="1600" dirty="0">
              <a:solidFill>
                <a:schemeClr val="tx2"/>
              </a:solidFill>
            </a:endParaRPr>
          </a:p>
        </p:txBody>
      </p:sp>
      <p:grpSp>
        <p:nvGrpSpPr>
          <p:cNvPr id="112" name="组合 111"/>
          <p:cNvGrpSpPr/>
          <p:nvPr/>
        </p:nvGrpSpPr>
        <p:grpSpPr>
          <a:xfrm>
            <a:off x="1206029" y="2066956"/>
            <a:ext cx="1382075" cy="1382075"/>
            <a:chOff x="3746633" y="1810030"/>
            <a:chExt cx="1382075" cy="1382075"/>
          </a:xfrm>
        </p:grpSpPr>
        <p:grpSp>
          <p:nvGrpSpPr>
            <p:cNvPr id="113" name="组合 112"/>
            <p:cNvGrpSpPr/>
            <p:nvPr/>
          </p:nvGrpSpPr>
          <p:grpSpPr>
            <a:xfrm>
              <a:off x="3746633" y="1810030"/>
              <a:ext cx="1382075" cy="1382075"/>
              <a:chOff x="304800" y="673100"/>
              <a:chExt cx="4000500" cy="4000500"/>
            </a:xfrm>
            <a:effectLst>
              <a:outerShdw blurRad="444500" dist="254000" dir="8100000" algn="tr" rotWithShape="0">
                <a:prstClr val="black">
                  <a:alpha val="50000"/>
                </a:prstClr>
              </a:outerShdw>
            </a:effectLst>
          </p:grpSpPr>
          <p:sp>
            <p:nvSpPr>
              <p:cNvPr id="115" name="同心圆 1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6" name="椭圆 115"/>
              <p:cNvSpPr/>
              <p:nvPr/>
            </p:nvSpPr>
            <p:spPr>
              <a:xfrm>
                <a:off x="392112" y="760412"/>
                <a:ext cx="3825877" cy="382587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4" name="TextBox 113"/>
            <p:cNvSpPr txBox="1"/>
            <p:nvPr/>
          </p:nvSpPr>
          <p:spPr>
            <a:xfrm>
              <a:off x="3927371" y="2292282"/>
              <a:ext cx="1020598" cy="492443"/>
            </a:xfrm>
            <a:prstGeom prst="rect">
              <a:avLst/>
            </a:prstGeom>
            <a:no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rPr>
                <a:t>程序是否运行？</a:t>
              </a:r>
            </a:p>
          </p:txBody>
        </p:sp>
      </p:grpSp>
      <p:sp>
        <p:nvSpPr>
          <p:cNvPr id="119" name="TextBox 118"/>
          <p:cNvSpPr txBox="1"/>
          <p:nvPr/>
        </p:nvSpPr>
        <p:spPr>
          <a:xfrm>
            <a:off x="4795807" y="3449233"/>
            <a:ext cx="3189093" cy="1568450"/>
          </a:xfrm>
          <a:prstGeom prst="rect">
            <a:avLst/>
          </a:prstGeom>
          <a:noFill/>
        </p:spPr>
        <p:txBody>
          <a:bodyPr wrap="square" rtlCol="0">
            <a:spAutoFit/>
          </a:bodyPr>
          <a:lstStyle/>
          <a:p>
            <a:pPr latinLnBrk="1"/>
            <a:r>
              <a:rPr lang="en-US" altLang="zh-CN" sz="1600" dirty="0"/>
              <a:t>         </a:t>
            </a:r>
            <a:r>
              <a:rPr lang="zh-CN" altLang="en-US" sz="1600" dirty="0"/>
              <a:t>定义证明通过</a:t>
            </a:r>
            <a:r>
              <a:rPr lang="zh-CN" altLang="en-US" sz="1600" b="1" dirty="0"/>
              <a:t>将验证问题转为数学上的定理证明问题来判断待分析程序是否满足指定属性</a:t>
            </a:r>
            <a:r>
              <a:rPr lang="zh-CN" altLang="en-US" sz="1600" dirty="0"/>
              <a:t>，是较为复杂但准确的方法。</a:t>
            </a:r>
            <a:r>
              <a:rPr lang="zh-CN" altLang="en-US" sz="1600" dirty="0">
                <a:sym typeface="+mn-ea"/>
              </a:rPr>
              <a:t>要求程序员通过向源代码中添加特殊形式的注释，难以广泛应用。</a:t>
            </a:r>
            <a:endParaRPr lang="zh-CN" altLang="en-US" sz="1600" dirty="0">
              <a:latin typeface="微软雅黑" panose="020B0503020204020204" pitchFamily="34" charset="-122"/>
              <a:ea typeface="微软雅黑" panose="020B0503020204020204" pitchFamily="34" charset="-122"/>
              <a:sym typeface="+mn-ea"/>
            </a:endParaRPr>
          </a:p>
        </p:txBody>
      </p:sp>
      <p:sp>
        <p:nvSpPr>
          <p:cNvPr id="120" name="TextBox 119"/>
          <p:cNvSpPr txBox="1"/>
          <p:nvPr/>
        </p:nvSpPr>
        <p:spPr>
          <a:xfrm>
            <a:off x="4067565" y="991398"/>
            <a:ext cx="2448272" cy="290977"/>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                                                                                                                                                           </a:t>
            </a:r>
            <a:endParaRPr lang="en-US" altLang="zh-CN" sz="1100" dirty="0">
              <a:latin typeface="微软雅黑" panose="020B0503020204020204" pitchFamily="34" charset="-122"/>
              <a:ea typeface="微软雅黑" panose="020B0503020204020204" pitchFamily="34" charset="-122"/>
            </a:endParaRPr>
          </a:p>
        </p:txBody>
      </p:sp>
      <p:pic>
        <p:nvPicPr>
          <p:cNvPr id="9" name="图片 8" descr="暨大3"/>
          <p:cNvPicPr>
            <a:picLocks noChangeAspect="1"/>
          </p:cNvPicPr>
          <p:nvPr/>
        </p:nvPicPr>
        <p:blipFill>
          <a:blip r:embed="rId5"/>
          <a:stretch>
            <a:fillRect/>
          </a:stretch>
        </p:blipFill>
        <p:spPr>
          <a:xfrm>
            <a:off x="7244080" y="0"/>
            <a:ext cx="1762125" cy="664845"/>
          </a:xfrm>
          <a:prstGeom prst="rect">
            <a:avLst/>
          </a:prstGeom>
        </p:spPr>
      </p:pic>
      <p:cxnSp>
        <p:nvCxnSpPr>
          <p:cNvPr id="3" name="直接连接符 2"/>
          <p:cNvCxnSpPr>
            <a:stCxn id="115" idx="5"/>
          </p:cNvCxnSpPr>
          <p:nvPr/>
        </p:nvCxnSpPr>
        <p:spPr>
          <a:xfrm>
            <a:off x="2385704" y="3246631"/>
            <a:ext cx="789314" cy="823093"/>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sp>
        <p:nvSpPr>
          <p:cNvPr id="2" name="TextBox 118"/>
          <p:cNvSpPr txBox="1"/>
          <p:nvPr/>
        </p:nvSpPr>
        <p:spPr>
          <a:xfrm>
            <a:off x="4643295" y="872937"/>
            <a:ext cx="3136006" cy="1076325"/>
          </a:xfrm>
          <a:prstGeom prst="rect">
            <a:avLst/>
          </a:prstGeom>
          <a:noFill/>
        </p:spPr>
        <p:txBody>
          <a:bodyPr wrap="square" rtlCol="0">
            <a:spAutoFit/>
          </a:bodyPr>
          <a:lstStyle/>
          <a:p>
            <a:pPr latinLnBrk="1"/>
            <a:r>
              <a:rPr lang="en-US" altLang="zh-CN" sz="1600" dirty="0">
                <a:sym typeface="微软雅黑" panose="020B0503020204020204" pitchFamily="34" charset="-122"/>
              </a:rPr>
              <a:t>         </a:t>
            </a:r>
            <a:r>
              <a:rPr lang="zh-CN" altLang="en-US" sz="1600" dirty="0">
                <a:sym typeface="微软雅黑" panose="020B0503020204020204" pitchFamily="34" charset="-122"/>
              </a:rPr>
              <a:t>模型检验通常</a:t>
            </a:r>
            <a:r>
              <a:rPr lang="zh-CN" altLang="en-US" sz="1600" b="1" dirty="0">
                <a:sym typeface="微软雅黑" panose="020B0503020204020204" pitchFamily="34" charset="-122"/>
              </a:rPr>
              <a:t>基于程序的有限状态模型。通过搜索模型的状态空间，检验该模型是否满足所期望的性质</a:t>
            </a:r>
            <a:r>
              <a:rPr lang="zh-CN" altLang="en-US" sz="1600" dirty="0">
                <a:sym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TextBox 34"/>
          <p:cNvSpPr txBox="1"/>
          <p:nvPr/>
        </p:nvSpPr>
        <p:spPr>
          <a:xfrm>
            <a:off x="908957" y="206330"/>
            <a:ext cx="4019049" cy="400110"/>
          </a:xfrm>
          <a:prstGeom prst="rect">
            <a:avLst/>
          </a:prstGeom>
          <a:noFill/>
        </p:spPr>
        <p:txBody>
          <a:bodyPr wrap="none" rtlCol="0">
            <a:spAutoFit/>
          </a:bodyPr>
          <a:lstStyle/>
          <a:p>
            <a:r>
              <a:rPr lang="zh-CN" altLang="en-US" sz="2000" spc="300" dirty="0">
                <a:latin typeface="等线" panose="02010600030101010101" pitchFamily="2" charset="-122"/>
                <a:ea typeface="等线" panose="02010600030101010101" pitchFamily="2" charset="-122"/>
              </a:rPr>
              <a:t>基于逻辑推理的静态分析技术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0C56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773787"/>
            <a:ext cx="4698722" cy="584775"/>
          </a:xfrm>
          <a:prstGeom prst="rect">
            <a:avLst/>
          </a:prstGeom>
          <a:noFill/>
        </p:spPr>
        <p:txBody>
          <a:bodyPr wrap="none" rtlCol="0">
            <a:spAutoFit/>
          </a:bodyPr>
          <a:lstStyle/>
          <a:p>
            <a:r>
              <a:rPr lang="zh-CN" altLang="en-US" sz="3200" b="1" dirty="0">
                <a:latin typeface="等线" panose="02010600030101010101" pitchFamily="2" charset="-122"/>
                <a:ea typeface="等线" panose="02010600030101010101" pitchFamily="2" charset="-122"/>
              </a:rPr>
              <a:t>基于二进制码的漏洞分析</a:t>
            </a:r>
          </a:p>
        </p:txBody>
      </p:sp>
      <p:sp>
        <p:nvSpPr>
          <p:cNvPr id="3" name="TextBox 2"/>
          <p:cNvSpPr txBox="1"/>
          <p:nvPr/>
        </p:nvSpPr>
        <p:spPr>
          <a:xfrm>
            <a:off x="2394866" y="2896649"/>
            <a:ext cx="1241030" cy="307777"/>
          </a:xfrm>
          <a:prstGeom prst="rect">
            <a:avLst/>
          </a:prstGeom>
          <a:noFill/>
        </p:spPr>
        <p:txBody>
          <a:bodyPr wrap="square" lIns="0" tIns="0" rIns="0" bIns="0"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第三部分</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grpSp>
      <p:sp>
        <p:nvSpPr>
          <p:cNvPr id="15" name="TextBox 14"/>
          <p:cNvSpPr txBox="1"/>
          <p:nvPr/>
        </p:nvSpPr>
        <p:spPr>
          <a:xfrm>
            <a:off x="4450203" y="2490902"/>
            <a:ext cx="1569660"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静态漏洞分析</a:t>
            </a:r>
          </a:p>
        </p:txBody>
      </p:sp>
      <p:sp>
        <p:nvSpPr>
          <p:cNvPr id="24" name="椭圆 23"/>
          <p:cNvSpPr/>
          <p:nvPr/>
        </p:nvSpPr>
        <p:spPr>
          <a:xfrm>
            <a:off x="4156315" y="2518400"/>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8" name="TextBox 27"/>
          <p:cNvSpPr txBox="1"/>
          <p:nvPr/>
        </p:nvSpPr>
        <p:spPr>
          <a:xfrm>
            <a:off x="4450203" y="2906617"/>
            <a:ext cx="1569660"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动态漏洞分析</a:t>
            </a:r>
          </a:p>
        </p:txBody>
      </p:sp>
      <p:sp>
        <p:nvSpPr>
          <p:cNvPr id="30" name="椭圆 29"/>
          <p:cNvSpPr/>
          <p:nvPr/>
        </p:nvSpPr>
        <p:spPr>
          <a:xfrm>
            <a:off x="4156315" y="2929670"/>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4" descr="F:\0PPT素材\背景及图片\白麻子.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4019049"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基于二进制码的静态漏洞分析</a:t>
            </a:r>
          </a:p>
        </p:txBody>
      </p:sp>
      <p:sp>
        <p:nvSpPr>
          <p:cNvPr id="88" name="TextBox 87"/>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cxnSp>
        <p:nvCxnSpPr>
          <p:cNvPr id="90" name="直接连接符 89"/>
          <p:cNvCxnSpPr/>
          <p:nvPr/>
        </p:nvCxnSpPr>
        <p:spPr>
          <a:xfrm flipV="1">
            <a:off x="2724155" y="1405393"/>
            <a:ext cx="759478" cy="1008492"/>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4D57DB70-B429-A4B8-9746-2C34EF52374D}"/>
              </a:ext>
            </a:extLst>
          </p:cNvPr>
          <p:cNvGrpSpPr/>
          <p:nvPr/>
        </p:nvGrpSpPr>
        <p:grpSpPr>
          <a:xfrm>
            <a:off x="3541932" y="3736513"/>
            <a:ext cx="1292320" cy="675480"/>
            <a:chOff x="3541932" y="3736513"/>
            <a:chExt cx="1292320" cy="675480"/>
          </a:xfrm>
        </p:grpSpPr>
        <p:sp>
          <p:nvSpPr>
            <p:cNvPr id="6" name="矩形: 圆角 5">
              <a:extLst>
                <a:ext uri="{FF2B5EF4-FFF2-40B4-BE49-F238E27FC236}">
                  <a16:creationId xmlns:a16="http://schemas.microsoft.com/office/drawing/2014/main" id="{EFE907E0-C026-69BA-E086-6980D55772C1}"/>
                </a:ext>
              </a:extLst>
            </p:cNvPr>
            <p:cNvSpPr/>
            <p:nvPr/>
          </p:nvSpPr>
          <p:spPr>
            <a:xfrm>
              <a:off x="3541932" y="3736513"/>
              <a:ext cx="1292320" cy="675480"/>
            </a:xfrm>
            <a:prstGeom prst="roundRect">
              <a:avLst/>
            </a:prstGeom>
            <a:solidFill>
              <a:srgbClr val="E3E3E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TextBox 110"/>
            <p:cNvSpPr txBox="1"/>
            <p:nvPr/>
          </p:nvSpPr>
          <p:spPr>
            <a:xfrm>
              <a:off x="3556828" y="3781865"/>
              <a:ext cx="1262525" cy="584775"/>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基于二进制代码比对</a:t>
              </a:r>
            </a:p>
          </p:txBody>
        </p:sp>
      </p:grpSp>
      <p:grpSp>
        <p:nvGrpSpPr>
          <p:cNvPr id="4" name="组合 3">
            <a:extLst>
              <a:ext uri="{FF2B5EF4-FFF2-40B4-BE49-F238E27FC236}">
                <a16:creationId xmlns:a16="http://schemas.microsoft.com/office/drawing/2014/main" id="{4FDE52E0-99F5-0396-645F-65D43BA55F90}"/>
              </a:ext>
            </a:extLst>
          </p:cNvPr>
          <p:cNvGrpSpPr/>
          <p:nvPr/>
        </p:nvGrpSpPr>
        <p:grpSpPr>
          <a:xfrm>
            <a:off x="3541932" y="1138456"/>
            <a:ext cx="1292321" cy="436982"/>
            <a:chOff x="2633186" y="1129520"/>
            <a:chExt cx="1090718" cy="436982"/>
          </a:xfrm>
        </p:grpSpPr>
        <p:sp>
          <p:nvSpPr>
            <p:cNvPr id="2" name="矩形: 圆角 1">
              <a:extLst>
                <a:ext uri="{FF2B5EF4-FFF2-40B4-BE49-F238E27FC236}">
                  <a16:creationId xmlns:a16="http://schemas.microsoft.com/office/drawing/2014/main" id="{974E0B59-D116-9B3E-EBEE-4F634ABFF92F}"/>
                </a:ext>
              </a:extLst>
            </p:cNvPr>
            <p:cNvSpPr/>
            <p:nvPr/>
          </p:nvSpPr>
          <p:spPr>
            <a:xfrm>
              <a:off x="2633186" y="1129520"/>
              <a:ext cx="1090718" cy="436982"/>
            </a:xfrm>
            <a:prstGeom prst="roundRect">
              <a:avLst/>
            </a:prstGeom>
            <a:solidFill>
              <a:srgbClr val="E3E3E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 name="TextBox 108"/>
            <p:cNvSpPr txBox="1"/>
            <p:nvPr/>
          </p:nvSpPr>
          <p:spPr>
            <a:xfrm>
              <a:off x="2754264" y="1175744"/>
              <a:ext cx="848560" cy="338554"/>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基于模式</a:t>
              </a:r>
            </a:p>
          </p:txBody>
        </p:sp>
      </p:grpSp>
      <p:grpSp>
        <p:nvGrpSpPr>
          <p:cNvPr id="112" name="组合 111"/>
          <p:cNvGrpSpPr/>
          <p:nvPr/>
        </p:nvGrpSpPr>
        <p:grpSpPr>
          <a:xfrm>
            <a:off x="1472068" y="1960775"/>
            <a:ext cx="1382075" cy="1382075"/>
            <a:chOff x="3746633" y="1810030"/>
            <a:chExt cx="1382075" cy="1382075"/>
          </a:xfrm>
        </p:grpSpPr>
        <p:grpSp>
          <p:nvGrpSpPr>
            <p:cNvPr id="113" name="组合 112"/>
            <p:cNvGrpSpPr/>
            <p:nvPr/>
          </p:nvGrpSpPr>
          <p:grpSpPr>
            <a:xfrm>
              <a:off x="3746633" y="1810030"/>
              <a:ext cx="1382075" cy="1382075"/>
              <a:chOff x="304800" y="673100"/>
              <a:chExt cx="4000500" cy="4000500"/>
            </a:xfrm>
            <a:effectLst>
              <a:outerShdw blurRad="444500" dist="254000" dir="8100000" algn="tr" rotWithShape="0">
                <a:prstClr val="black">
                  <a:alpha val="50000"/>
                </a:prstClr>
              </a:outerShdw>
            </a:effectLst>
          </p:grpSpPr>
          <p:sp>
            <p:nvSpPr>
              <p:cNvPr id="115" name="同心圆 1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6" name="椭圆 115"/>
              <p:cNvSpPr/>
              <p:nvPr/>
            </p:nvSpPr>
            <p:spPr>
              <a:xfrm>
                <a:off x="392112" y="760412"/>
                <a:ext cx="3825877" cy="382587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14" name="TextBox 113"/>
            <p:cNvSpPr txBox="1"/>
            <p:nvPr/>
          </p:nvSpPr>
          <p:spPr>
            <a:xfrm>
              <a:off x="3885363" y="2131735"/>
              <a:ext cx="1098275" cy="738664"/>
            </a:xfrm>
            <a:prstGeom prst="rect">
              <a:avLst/>
            </a:prstGeom>
            <a:noFill/>
          </p:spPr>
          <p:txBody>
            <a:bodyPr wrap="square" lIns="0" tIns="0" rIns="0" bIns="0" rtlCol="0">
              <a:spAutoFit/>
            </a:bodyPr>
            <a:lstStyle/>
            <a:p>
              <a:pPr algn="ctr"/>
              <a:r>
                <a:rPr lang="zh-CN" altLang="en-US" sz="1600" b="1" dirty="0">
                  <a:solidFill>
                    <a:srgbClr val="C00000"/>
                  </a:solidFill>
                  <a:latin typeface="微软雅黑" panose="020B0503020204020204" pitchFamily="34" charset="-122"/>
                  <a:ea typeface="微软雅黑" panose="020B0503020204020204" pitchFamily="34" charset="-122"/>
                </a:rPr>
                <a:t>基于二进制码的静态漏洞分析</a:t>
              </a:r>
            </a:p>
          </p:txBody>
        </p:sp>
      </p:grpSp>
      <p:sp>
        <p:nvSpPr>
          <p:cNvPr id="119" name="TextBox 118"/>
          <p:cNvSpPr txBox="1"/>
          <p:nvPr/>
        </p:nvSpPr>
        <p:spPr>
          <a:xfrm>
            <a:off x="4885933" y="3624829"/>
            <a:ext cx="2590331" cy="905248"/>
          </a:xfrm>
          <a:prstGeom prst="rect">
            <a:avLst/>
          </a:prstGeom>
          <a:noFill/>
        </p:spPr>
        <p:txBody>
          <a:bodyPr wrap="square" rtlCol="0">
            <a:spAutoFit/>
          </a:bodyPr>
          <a:lstStyle/>
          <a:p>
            <a:pPr>
              <a:lnSpc>
                <a:spcPct val="130000"/>
              </a:lnSpc>
            </a:pPr>
            <a:r>
              <a:rPr lang="zh-CN" altLang="en-US" sz="1400" dirty="0">
                <a:latin typeface="微软雅黑" panose="020B0503020204020204" pitchFamily="34" charset="-122"/>
                <a:ea typeface="微软雅黑" panose="020B0503020204020204" pitchFamily="34" charset="-122"/>
              </a:rPr>
              <a:t>通过比较两个或多个不同版本的二进制代码，寻找其中的差异并识别出可能存在的漏洞</a:t>
            </a:r>
            <a:endParaRPr lang="en-US" altLang="zh-CN" sz="1400" dirty="0">
              <a:latin typeface="微软雅黑" panose="020B0503020204020204" pitchFamily="34" charset="-122"/>
              <a:ea typeface="微软雅黑" panose="020B0503020204020204" pitchFamily="34" charset="-122"/>
            </a:endParaRPr>
          </a:p>
        </p:txBody>
      </p:sp>
      <p:sp>
        <p:nvSpPr>
          <p:cNvPr id="120" name="TextBox 119"/>
          <p:cNvSpPr txBox="1"/>
          <p:nvPr/>
        </p:nvSpPr>
        <p:spPr>
          <a:xfrm>
            <a:off x="4885934" y="897043"/>
            <a:ext cx="2590331" cy="905248"/>
          </a:xfrm>
          <a:prstGeom prst="rect">
            <a:avLst/>
          </a:prstGeom>
          <a:noFill/>
        </p:spPr>
        <p:txBody>
          <a:bodyPr wrap="square" rtlCol="0">
            <a:spAutoFit/>
          </a:bodyPr>
          <a:lstStyle/>
          <a:p>
            <a:pPr>
              <a:lnSpc>
                <a:spcPct val="130000"/>
              </a:lnSpc>
            </a:pPr>
            <a:r>
              <a:rPr lang="zh-CN" altLang="en-US" sz="1400" dirty="0">
                <a:latin typeface="微软雅黑" panose="020B0503020204020204" pitchFamily="34" charset="-122"/>
                <a:ea typeface="微软雅黑" panose="020B0503020204020204" pitchFamily="34" charset="-122"/>
              </a:rPr>
              <a:t>通过识别和分析代码中的特定模式和结构，来发现潜在的安全漏洞和其他问题</a:t>
            </a:r>
            <a:endParaRPr lang="en-US" altLang="zh-CN" sz="1400" dirty="0">
              <a:latin typeface="微软雅黑" panose="020B0503020204020204" pitchFamily="34" charset="-122"/>
              <a:ea typeface="微软雅黑" panose="020B0503020204020204" pitchFamily="34" charset="-122"/>
            </a:endParaRPr>
          </a:p>
        </p:txBody>
      </p:sp>
      <p:pic>
        <p:nvPicPr>
          <p:cNvPr id="9" name="图片 8" descr="暨大3"/>
          <p:cNvPicPr>
            <a:picLocks noChangeAspect="1"/>
          </p:cNvPicPr>
          <p:nvPr/>
        </p:nvPicPr>
        <p:blipFill>
          <a:blip r:embed="rId5"/>
          <a:stretch>
            <a:fillRect/>
          </a:stretch>
        </p:blipFill>
        <p:spPr>
          <a:xfrm>
            <a:off x="7244080" y="0"/>
            <a:ext cx="1762125" cy="664845"/>
          </a:xfrm>
          <a:prstGeom prst="rect">
            <a:avLst/>
          </a:prstGeom>
        </p:spPr>
      </p:pic>
      <p:cxnSp>
        <p:nvCxnSpPr>
          <p:cNvPr id="3" name="直接连接符 2"/>
          <p:cNvCxnSpPr>
            <a:stCxn id="115" idx="5"/>
          </p:cNvCxnSpPr>
          <p:nvPr/>
        </p:nvCxnSpPr>
        <p:spPr>
          <a:xfrm>
            <a:off x="2651743" y="3140450"/>
            <a:ext cx="752280" cy="852819"/>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sp>
        <p:nvSpPr>
          <p:cNvPr id="14" name="TextBox 119">
            <a:extLst>
              <a:ext uri="{FF2B5EF4-FFF2-40B4-BE49-F238E27FC236}">
                <a16:creationId xmlns:a16="http://schemas.microsoft.com/office/drawing/2014/main" id="{B6D80C16-BCEB-51C7-77BE-8F25A38FAFAF}"/>
              </a:ext>
            </a:extLst>
          </p:cNvPr>
          <p:cNvSpPr txBox="1"/>
          <p:nvPr/>
        </p:nvSpPr>
        <p:spPr>
          <a:xfrm>
            <a:off x="2884307" y="2199188"/>
            <a:ext cx="2697660" cy="905248"/>
          </a:xfrm>
          <a:prstGeom prst="rect">
            <a:avLst/>
          </a:prstGeom>
          <a:noFill/>
        </p:spPr>
        <p:txBody>
          <a:bodyPr wrap="square" rtlCol="0">
            <a:spAutoFit/>
          </a:bodyPr>
          <a:lstStyle/>
          <a:p>
            <a:pPr>
              <a:lnSpc>
                <a:spcPct val="130000"/>
              </a:lnSpc>
            </a:pPr>
            <a:r>
              <a:rPr lang="zh-CN" altLang="en-US" sz="1400" dirty="0">
                <a:latin typeface="微软雅黑" panose="020B0503020204020204" pitchFamily="34" charset="-122"/>
                <a:ea typeface="微软雅黑" panose="020B0503020204020204" pitchFamily="34" charset="-122"/>
              </a:rPr>
              <a:t>一种在不实际运行程序的情况下，通过分析程序的二进制代码来检测潜在的安全漏洞的技术</a:t>
            </a:r>
            <a:endParaRPr lang="en-US" altLang="zh-CN" sz="1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3429144"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基于模式的静态漏洞分析</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grpSp>
        <p:nvGrpSpPr>
          <p:cNvPr id="26" name="组合 25">
            <a:extLst>
              <a:ext uri="{FF2B5EF4-FFF2-40B4-BE49-F238E27FC236}">
                <a16:creationId xmlns:a16="http://schemas.microsoft.com/office/drawing/2014/main" id="{41BA096C-0CC7-FA7C-46ED-483588DAF147}"/>
              </a:ext>
            </a:extLst>
          </p:cNvPr>
          <p:cNvGrpSpPr/>
          <p:nvPr/>
        </p:nvGrpSpPr>
        <p:grpSpPr>
          <a:xfrm>
            <a:off x="1939415" y="1288959"/>
            <a:ext cx="2846358" cy="2846358"/>
            <a:chOff x="304800" y="673100"/>
            <a:chExt cx="4000500" cy="4000500"/>
          </a:xfrm>
          <a:effectLst>
            <a:outerShdw blurRad="444500" dist="254000" dir="8100000" algn="tr" rotWithShape="0">
              <a:prstClr val="black">
                <a:alpha val="50000"/>
              </a:prstClr>
            </a:outerShdw>
          </a:effectLst>
        </p:grpSpPr>
        <p:sp>
          <p:nvSpPr>
            <p:cNvPr id="27" name="同心圆 9">
              <a:extLst>
                <a:ext uri="{FF2B5EF4-FFF2-40B4-BE49-F238E27FC236}">
                  <a16:creationId xmlns:a16="http://schemas.microsoft.com/office/drawing/2014/main" id="{0AFE7823-73CD-D906-62D0-E46F7FC403C4}"/>
                </a:ext>
              </a:extLst>
            </p:cNvPr>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a:extLst>
                <a:ext uri="{FF2B5EF4-FFF2-40B4-BE49-F238E27FC236}">
                  <a16:creationId xmlns:a16="http://schemas.microsoft.com/office/drawing/2014/main" id="{319D6805-BB25-9078-BA0F-BFA5062B256A}"/>
                </a:ext>
              </a:extLst>
            </p:cNvPr>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a:extLst>
              <a:ext uri="{FF2B5EF4-FFF2-40B4-BE49-F238E27FC236}">
                <a16:creationId xmlns:a16="http://schemas.microsoft.com/office/drawing/2014/main" id="{97C19F86-4BA7-178C-107D-42949BA7FF88}"/>
              </a:ext>
            </a:extLst>
          </p:cNvPr>
          <p:cNvGrpSpPr/>
          <p:nvPr/>
        </p:nvGrpSpPr>
        <p:grpSpPr>
          <a:xfrm>
            <a:off x="3362594" y="1060076"/>
            <a:ext cx="623903" cy="623903"/>
            <a:chOff x="304800" y="673100"/>
            <a:chExt cx="4000500" cy="4000500"/>
          </a:xfrm>
          <a:effectLst>
            <a:outerShdw blurRad="317500" dist="190500" dir="8100000" algn="tr" rotWithShape="0">
              <a:prstClr val="black">
                <a:alpha val="50000"/>
              </a:prstClr>
            </a:outerShdw>
          </a:effectLst>
        </p:grpSpPr>
        <p:sp>
          <p:nvSpPr>
            <p:cNvPr id="30" name="同心圆 12">
              <a:extLst>
                <a:ext uri="{FF2B5EF4-FFF2-40B4-BE49-F238E27FC236}">
                  <a16:creationId xmlns:a16="http://schemas.microsoft.com/office/drawing/2014/main" id="{97B30D2B-4FEF-4F90-4A5A-B2CEAD4DE8D9}"/>
                </a:ext>
              </a:extLst>
            </p:cNvPr>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rgbClr val="C00000"/>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293AECCD-B928-6647-70D9-E3603EAB31AF}"/>
                </a:ext>
              </a:extLst>
            </p:cNvPr>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rgbClr val="C00000"/>
                  </a:solidFill>
                  <a:latin typeface="微软雅黑" panose="020B0503020204020204" pitchFamily="34" charset="-122"/>
                  <a:ea typeface="微软雅黑" panose="020B0503020204020204" pitchFamily="34" charset="-122"/>
                </a:rPr>
                <a:t>1</a:t>
              </a:r>
              <a:endParaRPr lang="zh-CN" altLang="en-US" sz="2500" b="1" dirty="0">
                <a:solidFill>
                  <a:srgbClr val="C00000"/>
                </a:solidFill>
                <a:latin typeface="微软雅黑" panose="020B0503020204020204" pitchFamily="34" charset="-122"/>
                <a:ea typeface="微软雅黑" panose="020B0503020204020204" pitchFamily="34" charset="-122"/>
              </a:endParaRPr>
            </a:p>
          </p:txBody>
        </p:sp>
      </p:grpSp>
      <p:grpSp>
        <p:nvGrpSpPr>
          <p:cNvPr id="32" name="组合 31">
            <a:extLst>
              <a:ext uri="{FF2B5EF4-FFF2-40B4-BE49-F238E27FC236}">
                <a16:creationId xmlns:a16="http://schemas.microsoft.com/office/drawing/2014/main" id="{293D4720-CE68-0361-346E-310B7478A3B3}"/>
              </a:ext>
            </a:extLst>
          </p:cNvPr>
          <p:cNvGrpSpPr/>
          <p:nvPr/>
        </p:nvGrpSpPr>
        <p:grpSpPr>
          <a:xfrm>
            <a:off x="4359477" y="1724852"/>
            <a:ext cx="623903" cy="623903"/>
            <a:chOff x="304800" y="673100"/>
            <a:chExt cx="4000500" cy="4000500"/>
          </a:xfrm>
          <a:effectLst>
            <a:outerShdw blurRad="317500" dist="190500" dir="8100000" algn="tr" rotWithShape="0">
              <a:prstClr val="black">
                <a:alpha val="50000"/>
              </a:prstClr>
            </a:outerShdw>
          </a:effectLst>
        </p:grpSpPr>
        <p:sp>
          <p:nvSpPr>
            <p:cNvPr id="36" name="同心圆 15">
              <a:extLst>
                <a:ext uri="{FF2B5EF4-FFF2-40B4-BE49-F238E27FC236}">
                  <a16:creationId xmlns:a16="http://schemas.microsoft.com/office/drawing/2014/main" id="{544A183D-56BD-779D-EFB4-D9DFE4456199}"/>
                </a:ext>
              </a:extLst>
            </p:cNvPr>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rgbClr val="C00000"/>
                </a:solidFill>
                <a:latin typeface="微软雅黑" panose="020B0503020204020204" pitchFamily="34" charset="-122"/>
                <a:ea typeface="微软雅黑" panose="020B0503020204020204" pitchFamily="34" charset="-122"/>
              </a:endParaRPr>
            </a:p>
          </p:txBody>
        </p:sp>
        <p:sp>
          <p:nvSpPr>
            <p:cNvPr id="37" name="椭圆 36">
              <a:extLst>
                <a:ext uri="{FF2B5EF4-FFF2-40B4-BE49-F238E27FC236}">
                  <a16:creationId xmlns:a16="http://schemas.microsoft.com/office/drawing/2014/main" id="{09E0102C-099D-BF3C-D1E1-E3AB93060A7F}"/>
                </a:ext>
              </a:extLst>
            </p:cNvPr>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rgbClr val="C00000"/>
                  </a:solidFill>
                  <a:latin typeface="微软雅黑" panose="020B0503020204020204" pitchFamily="34" charset="-122"/>
                  <a:ea typeface="微软雅黑" panose="020B0503020204020204" pitchFamily="34" charset="-122"/>
                </a:rPr>
                <a:t>2</a:t>
              </a:r>
              <a:endParaRPr lang="zh-CN" altLang="en-US" sz="2500" b="1" dirty="0">
                <a:solidFill>
                  <a:srgbClr val="C00000"/>
                </a:solidFill>
                <a:latin typeface="微软雅黑" panose="020B0503020204020204" pitchFamily="34" charset="-122"/>
                <a:ea typeface="微软雅黑" panose="020B0503020204020204" pitchFamily="34" charset="-122"/>
              </a:endParaRPr>
            </a:p>
          </p:txBody>
        </p:sp>
      </p:grpSp>
      <p:grpSp>
        <p:nvGrpSpPr>
          <p:cNvPr id="38" name="组合 37">
            <a:extLst>
              <a:ext uri="{FF2B5EF4-FFF2-40B4-BE49-F238E27FC236}">
                <a16:creationId xmlns:a16="http://schemas.microsoft.com/office/drawing/2014/main" id="{247B8F81-5200-64A3-E267-92159341DC40}"/>
              </a:ext>
            </a:extLst>
          </p:cNvPr>
          <p:cNvGrpSpPr/>
          <p:nvPr/>
        </p:nvGrpSpPr>
        <p:grpSpPr>
          <a:xfrm>
            <a:off x="4359477" y="2930926"/>
            <a:ext cx="623903" cy="623903"/>
            <a:chOff x="-2521916" y="2095922"/>
            <a:chExt cx="4000500" cy="4000500"/>
          </a:xfrm>
          <a:effectLst>
            <a:outerShdw blurRad="317500" dist="190500" dir="8100000" algn="tr" rotWithShape="0">
              <a:prstClr val="black">
                <a:alpha val="50000"/>
              </a:prstClr>
            </a:outerShdw>
          </a:effectLst>
        </p:grpSpPr>
        <p:sp>
          <p:nvSpPr>
            <p:cNvPr id="39" name="同心圆 18">
              <a:extLst>
                <a:ext uri="{FF2B5EF4-FFF2-40B4-BE49-F238E27FC236}">
                  <a16:creationId xmlns:a16="http://schemas.microsoft.com/office/drawing/2014/main" id="{342AD3ED-7F2B-3DBE-9852-9D8F3290191B}"/>
                </a:ext>
              </a:extLst>
            </p:cNvPr>
            <p:cNvSpPr/>
            <p:nvPr/>
          </p:nvSpPr>
          <p:spPr>
            <a:xfrm>
              <a:off x="-2521916" y="2095922"/>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rgbClr val="C00000"/>
                </a:solidFill>
                <a:latin typeface="微软雅黑" panose="020B0503020204020204" pitchFamily="34" charset="-122"/>
                <a:ea typeface="微软雅黑" panose="020B0503020204020204" pitchFamily="34" charset="-122"/>
              </a:endParaRPr>
            </a:p>
          </p:txBody>
        </p:sp>
        <p:sp>
          <p:nvSpPr>
            <p:cNvPr id="40" name="椭圆 39">
              <a:extLst>
                <a:ext uri="{FF2B5EF4-FFF2-40B4-BE49-F238E27FC236}">
                  <a16:creationId xmlns:a16="http://schemas.microsoft.com/office/drawing/2014/main" id="{B7933D10-CA0E-917E-2563-73357F963E8B}"/>
                </a:ext>
              </a:extLst>
            </p:cNvPr>
            <p:cNvSpPr/>
            <p:nvPr/>
          </p:nvSpPr>
          <p:spPr>
            <a:xfrm>
              <a:off x="-2521916" y="209592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rgbClr val="C00000"/>
                  </a:solidFill>
                  <a:latin typeface="微软雅黑" panose="020B0503020204020204" pitchFamily="34" charset="-122"/>
                  <a:ea typeface="微软雅黑" panose="020B0503020204020204" pitchFamily="34" charset="-122"/>
                </a:rPr>
                <a:t>3</a:t>
              </a:r>
              <a:endParaRPr lang="zh-CN" altLang="en-US" sz="2500" b="1" dirty="0">
                <a:solidFill>
                  <a:srgbClr val="C00000"/>
                </a:solidFill>
                <a:latin typeface="微软雅黑" panose="020B0503020204020204" pitchFamily="34" charset="-122"/>
                <a:ea typeface="微软雅黑" panose="020B0503020204020204" pitchFamily="34" charset="-122"/>
              </a:endParaRPr>
            </a:p>
          </p:txBody>
        </p:sp>
      </p:grpSp>
      <p:sp>
        <p:nvSpPr>
          <p:cNvPr id="41" name="TextBox 24">
            <a:extLst>
              <a:ext uri="{FF2B5EF4-FFF2-40B4-BE49-F238E27FC236}">
                <a16:creationId xmlns:a16="http://schemas.microsoft.com/office/drawing/2014/main" id="{C88793F8-BD81-D2FA-F47B-3CF4ED8B18A5}"/>
              </a:ext>
            </a:extLst>
          </p:cNvPr>
          <p:cNvSpPr txBox="1"/>
          <p:nvPr/>
        </p:nvSpPr>
        <p:spPr>
          <a:xfrm>
            <a:off x="2168905" y="2419486"/>
            <a:ext cx="2360143" cy="295337"/>
          </a:xfrm>
          <a:prstGeom prst="rect">
            <a:avLst/>
          </a:prstGeom>
          <a:noFill/>
        </p:spPr>
        <p:txBody>
          <a:bodyPr wrap="square" lIns="0" tIns="0" rIns="0" bIns="0" rtlCol="0">
            <a:spAutoFit/>
          </a:bodyPr>
          <a:lstStyle/>
          <a:p>
            <a:pPr algn="ctr">
              <a:lnSpc>
                <a:spcPct val="130000"/>
              </a:lnSpc>
            </a:pPr>
            <a:r>
              <a:rPr lang="zh-CN" altLang="en-US" sz="1600" b="1" dirty="0">
                <a:solidFill>
                  <a:schemeClr val="tx1">
                    <a:lumMod val="85000"/>
                    <a:lumOff val="15000"/>
                  </a:schemeClr>
                </a:solidFill>
                <a:latin typeface="华文宋体" panose="02010600040101010101" pitchFamily="2" charset="-122"/>
                <a:ea typeface="华文宋体" panose="02010600040101010101" pitchFamily="2" charset="-122"/>
                <a:sym typeface="微软雅黑" panose="020B0503020204020204" pitchFamily="34" charset="-122"/>
              </a:rPr>
              <a:t>基于模式的静态漏洞分析</a:t>
            </a:r>
            <a:endParaRPr lang="en-US" altLang="zh-CN" sz="1600" b="1" dirty="0">
              <a:latin typeface="微软雅黑" panose="020B0503020204020204" pitchFamily="34" charset="-122"/>
              <a:ea typeface="微软雅黑" panose="020B0503020204020204" pitchFamily="34" charset="-122"/>
            </a:endParaRPr>
          </a:p>
        </p:txBody>
      </p:sp>
      <p:sp>
        <p:nvSpPr>
          <p:cNvPr id="42" name="TextBox 21">
            <a:extLst>
              <a:ext uri="{FF2B5EF4-FFF2-40B4-BE49-F238E27FC236}">
                <a16:creationId xmlns:a16="http://schemas.microsoft.com/office/drawing/2014/main" id="{B4FE8741-E641-71FB-B768-C560310933E9}"/>
              </a:ext>
            </a:extLst>
          </p:cNvPr>
          <p:cNvSpPr txBox="1"/>
          <p:nvPr/>
        </p:nvSpPr>
        <p:spPr>
          <a:xfrm>
            <a:off x="4088359" y="1213482"/>
            <a:ext cx="3084553" cy="246221"/>
          </a:xfrm>
          <a:prstGeom prst="rect">
            <a:avLst/>
          </a:prstGeom>
          <a:noFill/>
        </p:spPr>
        <p:txBody>
          <a:bodyPr wrap="square" lIns="0" tIns="0" rIns="0" bIns="0" rtlCol="0">
            <a:spAutoFit/>
          </a:bodyPr>
          <a:lstStyle/>
          <a:p>
            <a:pPr algn="just"/>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生成并分析反汇编代码</a:t>
            </a:r>
            <a:endPar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3" name="TextBox 21">
            <a:extLst>
              <a:ext uri="{FF2B5EF4-FFF2-40B4-BE49-F238E27FC236}">
                <a16:creationId xmlns:a16="http://schemas.microsoft.com/office/drawing/2014/main" id="{04788963-D6EC-00AE-06A0-A1A7CA8B43F8}"/>
              </a:ext>
            </a:extLst>
          </p:cNvPr>
          <p:cNvSpPr txBox="1"/>
          <p:nvPr/>
        </p:nvSpPr>
        <p:spPr>
          <a:xfrm>
            <a:off x="5059558" y="1910818"/>
            <a:ext cx="3084553" cy="246221"/>
          </a:xfrm>
          <a:prstGeom prst="rect">
            <a:avLst/>
          </a:prstGeom>
          <a:noFill/>
        </p:spPr>
        <p:txBody>
          <a:bodyPr wrap="square" lIns="0" tIns="0" rIns="0" bIns="0" rtlCol="0">
            <a:spAutoFit/>
          </a:bodyPr>
          <a:lstStyle/>
          <a:p>
            <a:pPr algn="just"/>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生成并分析中间表示（</a:t>
            </a:r>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IR</a:t>
            </a: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）代码</a:t>
            </a:r>
            <a:endPar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4" name="TextBox 21">
            <a:extLst>
              <a:ext uri="{FF2B5EF4-FFF2-40B4-BE49-F238E27FC236}">
                <a16:creationId xmlns:a16="http://schemas.microsoft.com/office/drawing/2014/main" id="{10EC1F8A-D20E-E4C9-FAC0-639EF276ACDC}"/>
              </a:ext>
            </a:extLst>
          </p:cNvPr>
          <p:cNvSpPr txBox="1"/>
          <p:nvPr/>
        </p:nvSpPr>
        <p:spPr>
          <a:xfrm>
            <a:off x="5111441" y="3119766"/>
            <a:ext cx="3084553" cy="246221"/>
          </a:xfrm>
          <a:prstGeom prst="rect">
            <a:avLst/>
          </a:prstGeom>
          <a:noFill/>
        </p:spPr>
        <p:txBody>
          <a:bodyPr wrap="square" lIns="0" tIns="0" rIns="0" bIns="0" rtlCol="0">
            <a:spAutoFit/>
          </a:bodyPr>
          <a:lstStyle/>
          <a:p>
            <a:pPr algn="just"/>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建立漏洞模式</a:t>
            </a:r>
            <a:endPar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45" name="组合 44">
            <a:extLst>
              <a:ext uri="{FF2B5EF4-FFF2-40B4-BE49-F238E27FC236}">
                <a16:creationId xmlns:a16="http://schemas.microsoft.com/office/drawing/2014/main" id="{F08E5CE1-BEF5-517D-FE61-90B1A52F67E2}"/>
              </a:ext>
            </a:extLst>
          </p:cNvPr>
          <p:cNvGrpSpPr/>
          <p:nvPr/>
        </p:nvGrpSpPr>
        <p:grpSpPr>
          <a:xfrm>
            <a:off x="3348977" y="3750188"/>
            <a:ext cx="623903" cy="623903"/>
            <a:chOff x="-2609229" y="1921296"/>
            <a:chExt cx="4000500" cy="4000500"/>
          </a:xfrm>
          <a:effectLst>
            <a:outerShdw blurRad="317500" dist="190500" dir="8100000" algn="tr" rotWithShape="0">
              <a:prstClr val="black">
                <a:alpha val="50000"/>
              </a:prstClr>
            </a:outerShdw>
          </a:effectLst>
        </p:grpSpPr>
        <p:sp>
          <p:nvSpPr>
            <p:cNvPr id="46" name="同心圆 18">
              <a:extLst>
                <a:ext uri="{FF2B5EF4-FFF2-40B4-BE49-F238E27FC236}">
                  <a16:creationId xmlns:a16="http://schemas.microsoft.com/office/drawing/2014/main" id="{6C68E602-5ECF-25C7-556E-6BED539AACA9}"/>
                </a:ext>
              </a:extLst>
            </p:cNvPr>
            <p:cNvSpPr/>
            <p:nvPr/>
          </p:nvSpPr>
          <p:spPr>
            <a:xfrm>
              <a:off x="-2609229" y="1921296"/>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rgbClr val="C00000"/>
                </a:solidFill>
                <a:latin typeface="微软雅黑" panose="020B0503020204020204" pitchFamily="34" charset="-122"/>
                <a:ea typeface="微软雅黑" panose="020B0503020204020204" pitchFamily="34" charset="-122"/>
              </a:endParaRPr>
            </a:p>
          </p:txBody>
        </p:sp>
        <p:sp>
          <p:nvSpPr>
            <p:cNvPr id="47" name="椭圆 46">
              <a:extLst>
                <a:ext uri="{FF2B5EF4-FFF2-40B4-BE49-F238E27FC236}">
                  <a16:creationId xmlns:a16="http://schemas.microsoft.com/office/drawing/2014/main" id="{56F63587-C5BA-B6AB-D385-8AA085EB478C}"/>
                </a:ext>
              </a:extLst>
            </p:cNvPr>
            <p:cNvSpPr/>
            <p:nvPr/>
          </p:nvSpPr>
          <p:spPr>
            <a:xfrm>
              <a:off x="-2521916" y="209592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rgbClr val="C00000"/>
                  </a:solidFill>
                  <a:latin typeface="微软雅黑" panose="020B0503020204020204" pitchFamily="34" charset="-122"/>
                  <a:ea typeface="微软雅黑" panose="020B0503020204020204" pitchFamily="34" charset="-122"/>
                </a:rPr>
                <a:t>4</a:t>
              </a:r>
              <a:endParaRPr lang="zh-CN" altLang="en-US" sz="2500" b="1" dirty="0">
                <a:solidFill>
                  <a:srgbClr val="C00000"/>
                </a:solidFill>
                <a:latin typeface="微软雅黑" panose="020B0503020204020204" pitchFamily="34" charset="-122"/>
                <a:ea typeface="微软雅黑" panose="020B0503020204020204" pitchFamily="34" charset="-122"/>
              </a:endParaRPr>
            </a:p>
          </p:txBody>
        </p:sp>
      </p:grpSp>
      <p:sp>
        <p:nvSpPr>
          <p:cNvPr id="48" name="TextBox 21">
            <a:extLst>
              <a:ext uri="{FF2B5EF4-FFF2-40B4-BE49-F238E27FC236}">
                <a16:creationId xmlns:a16="http://schemas.microsoft.com/office/drawing/2014/main" id="{260AED52-98A3-94CE-6CD2-5B5026B1EB1B}"/>
              </a:ext>
            </a:extLst>
          </p:cNvPr>
          <p:cNvSpPr txBox="1"/>
          <p:nvPr/>
        </p:nvSpPr>
        <p:spPr>
          <a:xfrm>
            <a:off x="4088359" y="4002341"/>
            <a:ext cx="3084553" cy="246221"/>
          </a:xfrm>
          <a:prstGeom prst="rect">
            <a:avLst/>
          </a:prstGeom>
          <a:noFill/>
        </p:spPr>
        <p:txBody>
          <a:bodyPr wrap="square" lIns="0" tIns="0" rIns="0" bIns="0" rtlCol="0">
            <a:spAutoFit/>
          </a:bodyPr>
          <a:lstStyle/>
          <a:p>
            <a:pPr algn="just"/>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基于漏洞模式检测漏洞</a:t>
            </a:r>
            <a:endPar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98156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3134191"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生成并分析反汇编代码</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41" name="TextBox 24">
            <a:extLst>
              <a:ext uri="{FF2B5EF4-FFF2-40B4-BE49-F238E27FC236}">
                <a16:creationId xmlns:a16="http://schemas.microsoft.com/office/drawing/2014/main" id="{C88793F8-BD81-D2FA-F47B-3CF4ED8B18A5}"/>
              </a:ext>
            </a:extLst>
          </p:cNvPr>
          <p:cNvSpPr txBox="1"/>
          <p:nvPr/>
        </p:nvSpPr>
        <p:spPr>
          <a:xfrm>
            <a:off x="515258" y="781405"/>
            <a:ext cx="8113486" cy="1908215"/>
          </a:xfrm>
          <a:prstGeom prst="rect">
            <a:avLst/>
          </a:prstGeom>
          <a:noFill/>
        </p:spPr>
        <p:txBody>
          <a:bodyPr wrap="square" lIns="0" tIns="0" rIns="0" bIns="0" rtlCol="0">
            <a:spAutoFit/>
          </a:bodyPr>
          <a:lstStyle/>
          <a:p>
            <a:pPr algn="just">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生成并分析反汇编代码：</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使用反汇编工具将二进制文件代码转换为汇编代码，得到用于程序分析的一些重要信息（例如反汇编文本、函数信息和交叉引用等）。这里的反汇编工具可以是专门的反汇编器（例如</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IDA Pro</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和</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W32DASM</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等），也可以是集成开发环境（</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IDE</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）或调试器中提供的反汇编功能。</a:t>
            </a: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使用汇编语言知识和调试技巧分析反汇编代码，查找代码中的漏洞。这包括查看代码的流程、识别函数调用、分析变量和内存使用等方面。</a:t>
            </a:r>
          </a:p>
        </p:txBody>
      </p:sp>
      <p:pic>
        <p:nvPicPr>
          <p:cNvPr id="3074" name="Picture 2">
            <a:extLst>
              <a:ext uri="{FF2B5EF4-FFF2-40B4-BE49-F238E27FC236}">
                <a16:creationId xmlns:a16="http://schemas.microsoft.com/office/drawing/2014/main" id="{0751E377-C981-D293-C81F-D446BBA2CB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302" y="2806180"/>
            <a:ext cx="3067050" cy="18573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CB2DB92C-C5A5-5FCB-5CF3-57F928D25C1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3820"/>
          <a:stretch/>
        </p:blipFill>
        <p:spPr bwMode="auto">
          <a:xfrm>
            <a:off x="4353000" y="2585284"/>
            <a:ext cx="4186698" cy="2350656"/>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5C8A4C61-2761-822F-C02A-3663F7F9ED43}"/>
              </a:ext>
            </a:extLst>
          </p:cNvPr>
          <p:cNvPicPr>
            <a:picLocks noChangeAspect="1"/>
          </p:cNvPicPr>
          <p:nvPr/>
        </p:nvPicPr>
        <p:blipFill>
          <a:blip r:embed="rId6"/>
          <a:stretch>
            <a:fillRect/>
          </a:stretch>
        </p:blipFill>
        <p:spPr>
          <a:xfrm>
            <a:off x="951546" y="4763195"/>
            <a:ext cx="2362200" cy="276225"/>
          </a:xfrm>
          <a:prstGeom prst="rect">
            <a:avLst/>
          </a:prstGeom>
        </p:spPr>
      </p:pic>
      <p:pic>
        <p:nvPicPr>
          <p:cNvPr id="6" name="图片 5">
            <a:extLst>
              <a:ext uri="{FF2B5EF4-FFF2-40B4-BE49-F238E27FC236}">
                <a16:creationId xmlns:a16="http://schemas.microsoft.com/office/drawing/2014/main" id="{34DFF0F6-6BEB-F706-7095-46C867118B75}"/>
              </a:ext>
            </a:extLst>
          </p:cNvPr>
          <p:cNvPicPr>
            <a:picLocks noChangeAspect="1"/>
          </p:cNvPicPr>
          <p:nvPr/>
        </p:nvPicPr>
        <p:blipFill>
          <a:blip r:embed="rId7"/>
          <a:stretch>
            <a:fillRect/>
          </a:stretch>
        </p:blipFill>
        <p:spPr>
          <a:xfrm>
            <a:off x="602646" y="2806180"/>
            <a:ext cx="3067050" cy="2229926"/>
          </a:xfrm>
          <a:prstGeom prst="rect">
            <a:avLst/>
          </a:prstGeom>
        </p:spPr>
      </p:pic>
      <p:pic>
        <p:nvPicPr>
          <p:cNvPr id="4" name="图片 3">
            <a:extLst>
              <a:ext uri="{FF2B5EF4-FFF2-40B4-BE49-F238E27FC236}">
                <a16:creationId xmlns:a16="http://schemas.microsoft.com/office/drawing/2014/main" id="{922D0D20-8DE9-0780-252E-080C2C045B7C}"/>
              </a:ext>
            </a:extLst>
          </p:cNvPr>
          <p:cNvPicPr>
            <a:picLocks noChangeAspect="1"/>
          </p:cNvPicPr>
          <p:nvPr/>
        </p:nvPicPr>
        <p:blipFill>
          <a:blip r:embed="rId8"/>
          <a:stretch>
            <a:fillRect/>
          </a:stretch>
        </p:blipFill>
        <p:spPr>
          <a:xfrm>
            <a:off x="4353000" y="2585284"/>
            <a:ext cx="4191000" cy="2352675"/>
          </a:xfrm>
          <a:prstGeom prst="rect">
            <a:avLst/>
          </a:prstGeom>
        </p:spPr>
      </p:pic>
    </p:spTree>
    <p:extLst>
      <p:ext uri="{BB962C8B-B14F-4D97-AF65-F5344CB8AC3E}">
        <p14:creationId xmlns:p14="http://schemas.microsoft.com/office/powerpoint/2010/main" val="266524098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4338047"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生成并分析中间表示（</a:t>
            </a:r>
            <a:r>
              <a:rPr lang="en-US" altLang="zh-CN" sz="2000" spc="300" dirty="0">
                <a:latin typeface="微软雅黑" panose="020B0503020204020204" pitchFamily="34" charset="-122"/>
                <a:ea typeface="微软雅黑" panose="020B0503020204020204" pitchFamily="34" charset="-122"/>
              </a:rPr>
              <a:t>IR</a:t>
            </a:r>
            <a:r>
              <a:rPr lang="zh-CN" altLang="en-US" sz="2000" spc="300" dirty="0">
                <a:latin typeface="微软雅黑" panose="020B0503020204020204" pitchFamily="34" charset="-122"/>
                <a:ea typeface="微软雅黑" panose="020B0503020204020204" pitchFamily="34" charset="-122"/>
              </a:rPr>
              <a:t>）代码</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41" name="TextBox 24">
            <a:extLst>
              <a:ext uri="{FF2B5EF4-FFF2-40B4-BE49-F238E27FC236}">
                <a16:creationId xmlns:a16="http://schemas.microsoft.com/office/drawing/2014/main" id="{C88793F8-BD81-D2FA-F47B-3CF4ED8B18A5}"/>
              </a:ext>
            </a:extLst>
          </p:cNvPr>
          <p:cNvSpPr txBox="1"/>
          <p:nvPr/>
        </p:nvSpPr>
        <p:spPr>
          <a:xfrm>
            <a:off x="515258" y="781405"/>
            <a:ext cx="8113486" cy="1908215"/>
          </a:xfrm>
          <a:prstGeom prst="rect">
            <a:avLst/>
          </a:prstGeom>
          <a:noFill/>
        </p:spPr>
        <p:txBody>
          <a:bodyPr wrap="square" lIns="0" tIns="0" rIns="0" bIns="0" rtlCol="0">
            <a:spAutoFit/>
          </a:bodyPr>
          <a:lstStyle/>
          <a:p>
            <a:pPr algn="just">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生成并分析中间表示（</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IR</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）代码：</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对反汇编代码进行抽象，转换为中间表示（</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IR</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）代码。中间表示具有完整性和通用性，即既能够正确、全面地表示程序的所有信息，同时又独立于</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CPU</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架构，具有二进制代码的原始特点和一定的自然语义特性。</a:t>
            </a: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使用静态代码分析工具分析中间表示代码，使用模式匹配技术来查找特定的代码结构或模式。这包括查看代码的流程、识别函数调用、分析变量和内存使用等方面。</a:t>
            </a:r>
          </a:p>
        </p:txBody>
      </p:sp>
      <p:pic>
        <p:nvPicPr>
          <p:cNvPr id="4098" name="Picture 2">
            <a:extLst>
              <a:ext uri="{FF2B5EF4-FFF2-40B4-BE49-F238E27FC236}">
                <a16:creationId xmlns:a16="http://schemas.microsoft.com/office/drawing/2014/main" id="{F7D6D178-FEDE-E155-F561-F4A3309E86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3371" y="2806180"/>
            <a:ext cx="5677258" cy="217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52535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1954381"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建立漏洞模式</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41" name="TextBox 24">
            <a:extLst>
              <a:ext uri="{FF2B5EF4-FFF2-40B4-BE49-F238E27FC236}">
                <a16:creationId xmlns:a16="http://schemas.microsoft.com/office/drawing/2014/main" id="{C88793F8-BD81-D2FA-F47B-3CF4ED8B18A5}"/>
              </a:ext>
            </a:extLst>
          </p:cNvPr>
          <p:cNvSpPr txBox="1"/>
          <p:nvPr/>
        </p:nvSpPr>
        <p:spPr>
          <a:xfrm>
            <a:off x="515258" y="781405"/>
            <a:ext cx="8113486" cy="1900905"/>
          </a:xfrm>
          <a:prstGeom prst="rect">
            <a:avLst/>
          </a:prstGeom>
          <a:noFill/>
        </p:spPr>
        <p:txBody>
          <a:bodyPr wrap="square" lIns="0" tIns="0" rIns="0" bIns="0" rtlCol="0">
            <a:spAutoFit/>
          </a:bodyPr>
          <a:lstStyle/>
          <a:p>
            <a:pPr algn="just">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建立漏洞模式：</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首先需要根据不同的漏洞类型，定义漏洞的特征和模式。常见的漏洞类型包括缓冲区溢出、格式化字符串漏洞、内存泄漏等，这通常需要对漏洞的原理、攻击方式、代码结构等方面进行详细的分析。</a:t>
            </a: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根据定义的漏洞类型和已知的漏洞样本，建立漏洞模式。可以根据定义的漏洞类型对特定的漏洞样本进行分析，找出漏洞的共性，例如漏洞触发条件、漏洞利用方式等，然后建立一种可以重复利用的漏洞模式。</a:t>
            </a:r>
          </a:p>
        </p:txBody>
      </p:sp>
      <p:pic>
        <p:nvPicPr>
          <p:cNvPr id="5122" name="Picture 2">
            <a:extLst>
              <a:ext uri="{FF2B5EF4-FFF2-40B4-BE49-F238E27FC236}">
                <a16:creationId xmlns:a16="http://schemas.microsoft.com/office/drawing/2014/main" id="{17E14177-B6DB-B6FD-28E5-94B888ADE8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218" y="3428379"/>
            <a:ext cx="3818525" cy="1091007"/>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049EEB1F-0847-EC08-8501-4589A219C68D}"/>
              </a:ext>
            </a:extLst>
          </p:cNvPr>
          <p:cNvSpPr txBox="1"/>
          <p:nvPr/>
        </p:nvSpPr>
        <p:spPr>
          <a:xfrm>
            <a:off x="4810218" y="2987505"/>
            <a:ext cx="1150570" cy="307777"/>
          </a:xfrm>
          <a:prstGeom prst="rect">
            <a:avLst/>
          </a:prstGeom>
          <a:noFill/>
        </p:spPr>
        <p:txBody>
          <a:bodyPr wrap="square" rtlCol="0">
            <a:spAutoFit/>
          </a:bodyPr>
          <a:lstStyle/>
          <a:p>
            <a:r>
              <a:rPr lang="zh-CN" altLang="en-US" sz="1400" dirty="0">
                <a:latin typeface="华文仿宋" panose="02010600040101010101" pitchFamily="2" charset="-122"/>
                <a:ea typeface="华文仿宋" panose="02010600040101010101" pitchFamily="2" charset="-122"/>
              </a:rPr>
              <a:t>漏洞模式：</a:t>
            </a:r>
          </a:p>
        </p:txBody>
      </p:sp>
      <p:sp>
        <p:nvSpPr>
          <p:cNvPr id="3" name="文本框 2">
            <a:extLst>
              <a:ext uri="{FF2B5EF4-FFF2-40B4-BE49-F238E27FC236}">
                <a16:creationId xmlns:a16="http://schemas.microsoft.com/office/drawing/2014/main" id="{C94A159A-68D6-0ADC-6444-6952EFCB4B63}"/>
              </a:ext>
            </a:extLst>
          </p:cNvPr>
          <p:cNvSpPr txBox="1"/>
          <p:nvPr/>
        </p:nvSpPr>
        <p:spPr>
          <a:xfrm>
            <a:off x="515257" y="2927987"/>
            <a:ext cx="3990713" cy="1677382"/>
          </a:xfrm>
          <a:prstGeom prst="rect">
            <a:avLst/>
          </a:prstGeom>
          <a:noFill/>
        </p:spPr>
        <p:txBody>
          <a:bodyPr wrap="square" rtlCol="0">
            <a:spAutoFit/>
          </a:bodyPr>
          <a:lstStyle/>
          <a:p>
            <a:pPr>
              <a:lnSpc>
                <a:spcPct val="150000"/>
              </a:lnSpc>
            </a:pPr>
            <a:r>
              <a:rPr lang="zh-CN" altLang="en-US" sz="1400" dirty="0">
                <a:latin typeface="华文仿宋" panose="02010600040101010101" pitchFamily="2" charset="-122"/>
                <a:ea typeface="华文仿宋" panose="02010600040101010101" pitchFamily="2" charset="-122"/>
              </a:rPr>
              <a:t>漏洞类型：缓冲区溢出</a:t>
            </a:r>
            <a:endParaRPr lang="en-US" altLang="zh-CN" sz="1400" dirty="0">
              <a:latin typeface="华文仿宋" panose="02010600040101010101" pitchFamily="2" charset="-122"/>
              <a:ea typeface="华文仿宋" panose="02010600040101010101" pitchFamily="2" charset="-122"/>
            </a:endParaRPr>
          </a:p>
          <a:p>
            <a:pPr>
              <a:lnSpc>
                <a:spcPct val="150000"/>
              </a:lnSpc>
            </a:pPr>
            <a:r>
              <a:rPr lang="zh-CN" altLang="en-US" sz="1400" dirty="0">
                <a:latin typeface="华文仿宋" panose="02010600040101010101" pitchFamily="2" charset="-122"/>
                <a:ea typeface="华文仿宋" panose="02010600040101010101" pitchFamily="2" charset="-122"/>
              </a:rPr>
              <a:t>漏洞特征：</a:t>
            </a:r>
          </a:p>
          <a:p>
            <a:pPr marL="285750" indent="-285750">
              <a:lnSpc>
                <a:spcPct val="150000"/>
              </a:lnSpc>
              <a:buFont typeface="Wingdings" panose="05000000000000000000" pitchFamily="2" charset="2"/>
              <a:buChar char="l"/>
            </a:pPr>
            <a:r>
              <a:rPr lang="zh-CN" altLang="en-US" sz="1400" dirty="0">
                <a:latin typeface="华文仿宋" panose="02010600040101010101" pitchFamily="2" charset="-122"/>
                <a:ea typeface="华文仿宋" panose="02010600040101010101" pitchFamily="2" charset="-122"/>
              </a:rPr>
              <a:t>在函数调用中使用了一个缓冲区变量。</a:t>
            </a:r>
            <a:endParaRPr lang="en-US" altLang="zh-CN" sz="1400" dirty="0">
              <a:latin typeface="华文仿宋" panose="02010600040101010101" pitchFamily="2" charset="-122"/>
              <a:ea typeface="华文仿宋" panose="02010600040101010101" pitchFamily="2" charset="-122"/>
            </a:endParaRPr>
          </a:p>
          <a:p>
            <a:pPr marL="285750" indent="-285750">
              <a:lnSpc>
                <a:spcPct val="150000"/>
              </a:lnSpc>
              <a:buFont typeface="Wingdings" panose="05000000000000000000" pitchFamily="2" charset="2"/>
              <a:buChar char="l"/>
            </a:pPr>
            <a:r>
              <a:rPr lang="zh-CN" altLang="en-US" sz="1400" dirty="0">
                <a:latin typeface="华文仿宋" panose="02010600040101010101" pitchFamily="2" charset="-122"/>
                <a:ea typeface="华文仿宋" panose="02010600040101010101" pitchFamily="2" charset="-122"/>
              </a:rPr>
              <a:t>在函数调用中使用了一个无法保证其大小的输入。</a:t>
            </a:r>
          </a:p>
        </p:txBody>
      </p:sp>
    </p:spTree>
    <p:extLst>
      <p:ext uri="{BB962C8B-B14F-4D97-AF65-F5344CB8AC3E}">
        <p14:creationId xmlns:p14="http://schemas.microsoft.com/office/powerpoint/2010/main" val="195860772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3134191"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基于漏洞模式检测漏洞</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41" name="TextBox 24">
            <a:extLst>
              <a:ext uri="{FF2B5EF4-FFF2-40B4-BE49-F238E27FC236}">
                <a16:creationId xmlns:a16="http://schemas.microsoft.com/office/drawing/2014/main" id="{C88793F8-BD81-D2FA-F47B-3CF4ED8B18A5}"/>
              </a:ext>
            </a:extLst>
          </p:cNvPr>
          <p:cNvSpPr txBox="1"/>
          <p:nvPr/>
        </p:nvSpPr>
        <p:spPr>
          <a:xfrm>
            <a:off x="515258" y="781405"/>
            <a:ext cx="8113486" cy="1577740"/>
          </a:xfrm>
          <a:prstGeom prst="rect">
            <a:avLst/>
          </a:prstGeom>
          <a:noFill/>
        </p:spPr>
        <p:txBody>
          <a:bodyPr wrap="square" lIns="0" tIns="0" rIns="0" bIns="0" rtlCol="0">
            <a:spAutoFit/>
          </a:bodyPr>
          <a:lstStyle/>
          <a:p>
            <a:pPr algn="just">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基于漏洞模式检测漏洞：</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应用前面所建立的漏洞模式，在代码中检测潜在的漏洞。漏洞模式的匹配可以基于正则表达式、语法树匹配等技术进行。</a:t>
            </a: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对于检测到的漏洞，使用手动或自动的验证技术进行验证，确认漏洞的存在性和危害性。这包括模拟攻击、分析代码执行流程、重现漏洞等方面。</a:t>
            </a:r>
          </a:p>
        </p:txBody>
      </p:sp>
      <p:pic>
        <p:nvPicPr>
          <p:cNvPr id="6146" name="Picture 2">
            <a:extLst>
              <a:ext uri="{FF2B5EF4-FFF2-40B4-BE49-F238E27FC236}">
                <a16:creationId xmlns:a16="http://schemas.microsoft.com/office/drawing/2014/main" id="{6890F26F-D8EC-5221-9165-43D3195B386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4527"/>
          <a:stretch/>
        </p:blipFill>
        <p:spPr bwMode="auto">
          <a:xfrm>
            <a:off x="770736" y="2784356"/>
            <a:ext cx="3600000" cy="196957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0098BD87-F52C-9BAF-B7B3-D0E9D310E83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5034"/>
          <a:stretch/>
        </p:blipFill>
        <p:spPr bwMode="auto">
          <a:xfrm>
            <a:off x="4773264" y="3108885"/>
            <a:ext cx="3600000" cy="1051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73001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4" descr="F:\0PPT素材\背景及图片\白麻子.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4903907"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基于二进制代码比对的静态漏洞分析</a:t>
            </a:r>
          </a:p>
        </p:txBody>
      </p:sp>
      <p:sp>
        <p:nvSpPr>
          <p:cNvPr id="88" name="TextBox 87"/>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cxnSp>
        <p:nvCxnSpPr>
          <p:cNvPr id="89" name="直接连接符 88"/>
          <p:cNvCxnSpPr>
            <a:cxnSpLocks/>
          </p:cNvCxnSpPr>
          <p:nvPr/>
        </p:nvCxnSpPr>
        <p:spPr>
          <a:xfrm flipH="1" flipV="1">
            <a:off x="2501057" y="1471991"/>
            <a:ext cx="4033862" cy="1958047"/>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a:cxnSpLocks/>
          </p:cNvCxnSpPr>
          <p:nvPr/>
        </p:nvCxnSpPr>
        <p:spPr>
          <a:xfrm flipV="1">
            <a:off x="2492931" y="1376889"/>
            <a:ext cx="3907490" cy="2053149"/>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B0CA9819-1053-1CB1-A72D-CE080E4DE34F}"/>
              </a:ext>
            </a:extLst>
          </p:cNvPr>
          <p:cNvGrpSpPr/>
          <p:nvPr/>
        </p:nvGrpSpPr>
        <p:grpSpPr>
          <a:xfrm>
            <a:off x="992398" y="1003032"/>
            <a:ext cx="1469257" cy="697443"/>
            <a:chOff x="992398" y="1003032"/>
            <a:chExt cx="1469257" cy="697443"/>
          </a:xfrm>
        </p:grpSpPr>
        <p:sp>
          <p:nvSpPr>
            <p:cNvPr id="3" name="椭圆 2">
              <a:extLst>
                <a:ext uri="{FF2B5EF4-FFF2-40B4-BE49-F238E27FC236}">
                  <a16:creationId xmlns:a16="http://schemas.microsoft.com/office/drawing/2014/main" id="{3751C32B-59E5-C71A-FA6F-C6593932126C}"/>
                </a:ext>
              </a:extLst>
            </p:cNvPr>
            <p:cNvSpPr/>
            <p:nvPr/>
          </p:nvSpPr>
          <p:spPr>
            <a:xfrm>
              <a:off x="992398" y="1003032"/>
              <a:ext cx="1469257" cy="697443"/>
            </a:xfrm>
            <a:prstGeom prst="ellipse">
              <a:avLst/>
            </a:prstGeom>
            <a:solidFill>
              <a:srgbClr val="EFEFEF"/>
            </a:solidFill>
            <a:ln>
              <a:solidFill>
                <a:srgbClr val="DFDF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TextBox 107"/>
            <p:cNvSpPr txBox="1"/>
            <p:nvPr/>
          </p:nvSpPr>
          <p:spPr>
            <a:xfrm>
              <a:off x="1085803" y="1223001"/>
              <a:ext cx="1261884"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基于文本比对</a:t>
              </a:r>
            </a:p>
          </p:txBody>
        </p:sp>
      </p:grpSp>
      <p:grpSp>
        <p:nvGrpSpPr>
          <p:cNvPr id="112" name="组合 111"/>
          <p:cNvGrpSpPr/>
          <p:nvPr/>
        </p:nvGrpSpPr>
        <p:grpSpPr>
          <a:xfrm>
            <a:off x="3746633" y="1810030"/>
            <a:ext cx="1382075" cy="1382075"/>
            <a:chOff x="3746633" y="1810030"/>
            <a:chExt cx="1382075" cy="1382075"/>
          </a:xfrm>
        </p:grpSpPr>
        <p:grpSp>
          <p:nvGrpSpPr>
            <p:cNvPr id="113" name="组合 112"/>
            <p:cNvGrpSpPr/>
            <p:nvPr/>
          </p:nvGrpSpPr>
          <p:grpSpPr>
            <a:xfrm>
              <a:off x="3746633" y="1810030"/>
              <a:ext cx="1382075" cy="1382075"/>
              <a:chOff x="304800" y="673100"/>
              <a:chExt cx="4000500" cy="4000500"/>
            </a:xfrm>
            <a:effectLst>
              <a:outerShdw blurRad="444500" dist="254000" dir="8100000" algn="tr" rotWithShape="0">
                <a:prstClr val="black">
                  <a:alpha val="50000"/>
                </a:prstClr>
              </a:outerShdw>
            </a:effectLst>
          </p:grpSpPr>
          <p:sp>
            <p:nvSpPr>
              <p:cNvPr id="115" name="同心圆 1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6" name="椭圆 115"/>
              <p:cNvSpPr/>
              <p:nvPr/>
            </p:nvSpPr>
            <p:spPr>
              <a:xfrm>
                <a:off x="392112" y="760412"/>
                <a:ext cx="3825877" cy="382587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4" name="TextBox 113"/>
            <p:cNvSpPr txBox="1"/>
            <p:nvPr/>
          </p:nvSpPr>
          <p:spPr>
            <a:xfrm>
              <a:off x="3983467" y="2070180"/>
              <a:ext cx="926418" cy="861774"/>
            </a:xfrm>
            <a:prstGeom prst="rect">
              <a:avLst/>
            </a:prstGeom>
            <a:noFill/>
          </p:spPr>
          <p:txBody>
            <a:bodyPr wrap="square" lIns="0" tIns="0" rIns="0" bIns="0" rtlCol="0">
              <a:spAutoFit/>
            </a:bodyPr>
            <a:lstStyle/>
            <a:p>
              <a:r>
                <a:rPr lang="zh-CN" altLang="en-US" sz="1400" b="1" spc="300" dirty="0">
                  <a:solidFill>
                    <a:srgbClr val="C00000"/>
                  </a:solidFill>
                  <a:latin typeface="微软雅黑" panose="020B0503020204020204" pitchFamily="34" charset="-122"/>
                  <a:ea typeface="微软雅黑" panose="020B0503020204020204" pitchFamily="34" charset="-122"/>
                </a:rPr>
                <a:t>基于二进制代码比对的静态漏洞分析</a:t>
              </a:r>
            </a:p>
          </p:txBody>
        </p:sp>
      </p:grpSp>
      <p:sp>
        <p:nvSpPr>
          <p:cNvPr id="117" name="TextBox 116"/>
          <p:cNvSpPr txBox="1"/>
          <p:nvPr/>
        </p:nvSpPr>
        <p:spPr>
          <a:xfrm>
            <a:off x="444047" y="1700475"/>
            <a:ext cx="2448272" cy="95115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一种将二进制代码或反汇编代码转化为可读的文本格式，并使用文本比对工具（例如</a:t>
            </a:r>
            <a:r>
              <a:rPr lang="en-US" altLang="zh-CN" sz="1100" dirty="0" err="1">
                <a:latin typeface="微软雅黑" panose="020B0503020204020204" pitchFamily="34" charset="-122"/>
                <a:ea typeface="微软雅黑" panose="020B0503020204020204" pitchFamily="34" charset="-122"/>
              </a:rPr>
              <a:t>WinDiff</a:t>
            </a: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Beyond Compare</a:t>
            </a:r>
            <a:r>
              <a:rPr lang="zh-CN" altLang="en-US" sz="1100" dirty="0">
                <a:latin typeface="微软雅黑" panose="020B0503020204020204" pitchFamily="34" charset="-122"/>
                <a:ea typeface="微软雅黑" panose="020B0503020204020204" pitchFamily="34" charset="-122"/>
              </a:rPr>
              <a:t>等）进行比较的方法。</a:t>
            </a:r>
            <a:endParaRPr lang="en-US" altLang="zh-CN" sz="1100" dirty="0">
              <a:latin typeface="微软雅黑" panose="020B0503020204020204" pitchFamily="34" charset="-122"/>
              <a:ea typeface="微软雅黑" panose="020B0503020204020204" pitchFamily="34" charset="-122"/>
            </a:endParaRPr>
          </a:p>
        </p:txBody>
      </p:sp>
      <p:sp>
        <p:nvSpPr>
          <p:cNvPr id="118" name="TextBox 117"/>
          <p:cNvSpPr txBox="1"/>
          <p:nvPr/>
        </p:nvSpPr>
        <p:spPr>
          <a:xfrm>
            <a:off x="449579" y="3920499"/>
            <a:ext cx="2448272" cy="117121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一种将二进制代码表示为结构化信息（例如抽象语法树、控制流图等），并使用结构化信息比对工具（例如</a:t>
            </a:r>
            <a:r>
              <a:rPr lang="en-US" altLang="zh-CN" sz="1100" dirty="0" err="1">
                <a:latin typeface="微软雅黑" panose="020B0503020204020204" pitchFamily="34" charset="-122"/>
                <a:ea typeface="微软雅黑" panose="020B0503020204020204" pitchFamily="34" charset="-122"/>
              </a:rPr>
              <a:t>BinDiff</a:t>
            </a: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 </a:t>
            </a:r>
            <a:r>
              <a:rPr lang="en-US" altLang="zh-CN" sz="1100" dirty="0" err="1">
                <a:latin typeface="微软雅黑" panose="020B0503020204020204" pitchFamily="34" charset="-122"/>
                <a:ea typeface="微软雅黑" panose="020B0503020204020204" pitchFamily="34" charset="-122"/>
              </a:rPr>
              <a:t>DiffChecker</a:t>
            </a:r>
            <a:r>
              <a:rPr lang="zh-CN" altLang="en-US" sz="1100" dirty="0">
                <a:latin typeface="微软雅黑" panose="020B0503020204020204" pitchFamily="34" charset="-122"/>
                <a:ea typeface="微软雅黑" panose="020B0503020204020204" pitchFamily="34" charset="-122"/>
              </a:rPr>
              <a:t>和</a:t>
            </a:r>
            <a:r>
              <a:rPr lang="en-US" altLang="zh-CN" sz="1100" dirty="0" err="1">
                <a:latin typeface="微软雅黑" panose="020B0503020204020204" pitchFamily="34" charset="-122"/>
                <a:ea typeface="微软雅黑" panose="020B0503020204020204" pitchFamily="34" charset="-122"/>
              </a:rPr>
              <a:t>Ghidra</a:t>
            </a:r>
            <a:r>
              <a:rPr lang="zh-CN" altLang="en-US" sz="1100" dirty="0">
                <a:latin typeface="微软雅黑" panose="020B0503020204020204" pitchFamily="34" charset="-122"/>
                <a:ea typeface="微软雅黑" panose="020B0503020204020204" pitchFamily="34" charset="-122"/>
              </a:rPr>
              <a:t>等</a:t>
            </a:r>
          </a:p>
          <a:p>
            <a:pPr>
              <a:lnSpc>
                <a:spcPct val="130000"/>
              </a:lnSpc>
            </a:pPr>
            <a:r>
              <a:rPr lang="zh-CN" altLang="en-US" sz="1100" dirty="0">
                <a:latin typeface="微软雅黑" panose="020B0503020204020204" pitchFamily="34" charset="-122"/>
                <a:ea typeface="微软雅黑" panose="020B0503020204020204" pitchFamily="34" charset="-122"/>
              </a:rPr>
              <a:t>）进行比较的方法。</a:t>
            </a:r>
          </a:p>
        </p:txBody>
      </p:sp>
      <p:sp>
        <p:nvSpPr>
          <p:cNvPr id="119" name="TextBox 118"/>
          <p:cNvSpPr txBox="1"/>
          <p:nvPr/>
        </p:nvSpPr>
        <p:spPr>
          <a:xfrm>
            <a:off x="6268629" y="3923146"/>
            <a:ext cx="2448272" cy="95115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一种综合使用多种分析方法和技术的分析方法。该方法通过综合比对不同的分析结果，从而得到更准确和全面的分析结果。</a:t>
            </a:r>
            <a:endParaRPr lang="en-US" altLang="zh-CN" sz="1100" dirty="0">
              <a:latin typeface="微软雅黑" panose="020B0503020204020204" pitchFamily="34" charset="-122"/>
              <a:ea typeface="微软雅黑" panose="020B0503020204020204" pitchFamily="34" charset="-122"/>
            </a:endParaRPr>
          </a:p>
        </p:txBody>
      </p:sp>
      <p:sp>
        <p:nvSpPr>
          <p:cNvPr id="120" name="TextBox 119"/>
          <p:cNvSpPr txBox="1"/>
          <p:nvPr/>
        </p:nvSpPr>
        <p:spPr>
          <a:xfrm>
            <a:off x="6268629" y="1700475"/>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一种将二进制代码表示为图形结构（例如控制流图、数据依赖图等） ，并使用图形比对工具进行比较的方法。</a:t>
            </a:r>
            <a:endParaRPr lang="en-US" altLang="zh-CN" sz="1100" dirty="0">
              <a:latin typeface="微软雅黑" panose="020B0503020204020204" pitchFamily="34" charset="-122"/>
              <a:ea typeface="微软雅黑" panose="020B0503020204020204" pitchFamily="34" charset="-122"/>
            </a:endParaRPr>
          </a:p>
        </p:txBody>
      </p:sp>
      <p:pic>
        <p:nvPicPr>
          <p:cNvPr id="9" name="图片 8" descr="暨大3"/>
          <p:cNvPicPr>
            <a:picLocks noChangeAspect="1"/>
          </p:cNvPicPr>
          <p:nvPr/>
        </p:nvPicPr>
        <p:blipFill>
          <a:blip r:embed="rId5"/>
          <a:stretch>
            <a:fillRect/>
          </a:stretch>
        </p:blipFill>
        <p:spPr>
          <a:xfrm>
            <a:off x="7244080" y="0"/>
            <a:ext cx="1762125" cy="664845"/>
          </a:xfrm>
          <a:prstGeom prst="rect">
            <a:avLst/>
          </a:prstGeom>
        </p:spPr>
      </p:pic>
      <p:grpSp>
        <p:nvGrpSpPr>
          <p:cNvPr id="8" name="组合 7">
            <a:extLst>
              <a:ext uri="{FF2B5EF4-FFF2-40B4-BE49-F238E27FC236}">
                <a16:creationId xmlns:a16="http://schemas.microsoft.com/office/drawing/2014/main" id="{F11E3D61-B6A5-0AAC-6A43-07729276FA60}"/>
              </a:ext>
            </a:extLst>
          </p:cNvPr>
          <p:cNvGrpSpPr/>
          <p:nvPr/>
        </p:nvGrpSpPr>
        <p:grpSpPr>
          <a:xfrm>
            <a:off x="6543045" y="1003032"/>
            <a:ext cx="1483198" cy="697443"/>
            <a:chOff x="978457" y="1003032"/>
            <a:chExt cx="1483198" cy="697443"/>
          </a:xfrm>
        </p:grpSpPr>
        <p:sp>
          <p:nvSpPr>
            <p:cNvPr id="10" name="椭圆 9">
              <a:extLst>
                <a:ext uri="{FF2B5EF4-FFF2-40B4-BE49-F238E27FC236}">
                  <a16:creationId xmlns:a16="http://schemas.microsoft.com/office/drawing/2014/main" id="{7B05E1E3-C337-E0B0-E0C3-D5FD391E3C88}"/>
                </a:ext>
              </a:extLst>
            </p:cNvPr>
            <p:cNvSpPr/>
            <p:nvPr/>
          </p:nvSpPr>
          <p:spPr>
            <a:xfrm>
              <a:off x="992398" y="1003032"/>
              <a:ext cx="1469257" cy="697443"/>
            </a:xfrm>
            <a:prstGeom prst="ellipse">
              <a:avLst/>
            </a:prstGeom>
            <a:solidFill>
              <a:srgbClr val="EFEFEF"/>
            </a:solidFill>
            <a:ln>
              <a:solidFill>
                <a:srgbClr val="DFDF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7">
              <a:extLst>
                <a:ext uri="{FF2B5EF4-FFF2-40B4-BE49-F238E27FC236}">
                  <a16:creationId xmlns:a16="http://schemas.microsoft.com/office/drawing/2014/main" id="{21037E3D-7A7D-B38F-C756-7C52212295FC}"/>
                </a:ext>
              </a:extLst>
            </p:cNvPr>
            <p:cNvSpPr txBox="1"/>
            <p:nvPr/>
          </p:nvSpPr>
          <p:spPr>
            <a:xfrm>
              <a:off x="978457" y="1182645"/>
              <a:ext cx="1476576"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基于图同构比对</a:t>
              </a:r>
            </a:p>
          </p:txBody>
        </p:sp>
      </p:grpSp>
      <p:grpSp>
        <p:nvGrpSpPr>
          <p:cNvPr id="18" name="组合 17">
            <a:extLst>
              <a:ext uri="{FF2B5EF4-FFF2-40B4-BE49-F238E27FC236}">
                <a16:creationId xmlns:a16="http://schemas.microsoft.com/office/drawing/2014/main" id="{50AF284A-480F-E009-417E-C4545D7D36E2}"/>
              </a:ext>
            </a:extLst>
          </p:cNvPr>
          <p:cNvGrpSpPr/>
          <p:nvPr/>
        </p:nvGrpSpPr>
        <p:grpSpPr>
          <a:xfrm>
            <a:off x="6631444" y="3161941"/>
            <a:ext cx="1469257" cy="697443"/>
            <a:chOff x="992398" y="1003032"/>
            <a:chExt cx="1469257" cy="697443"/>
          </a:xfrm>
        </p:grpSpPr>
        <p:sp>
          <p:nvSpPr>
            <p:cNvPr id="19" name="椭圆 18">
              <a:extLst>
                <a:ext uri="{FF2B5EF4-FFF2-40B4-BE49-F238E27FC236}">
                  <a16:creationId xmlns:a16="http://schemas.microsoft.com/office/drawing/2014/main" id="{3F1FA312-1CDA-1913-7706-A0A00D87CD36}"/>
                </a:ext>
              </a:extLst>
            </p:cNvPr>
            <p:cNvSpPr/>
            <p:nvPr/>
          </p:nvSpPr>
          <p:spPr>
            <a:xfrm>
              <a:off x="992398" y="1003032"/>
              <a:ext cx="1469257" cy="697443"/>
            </a:xfrm>
            <a:prstGeom prst="ellipse">
              <a:avLst/>
            </a:prstGeom>
            <a:solidFill>
              <a:srgbClr val="EFEFEF"/>
            </a:solidFill>
            <a:ln>
              <a:solidFill>
                <a:srgbClr val="DFDF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07">
              <a:extLst>
                <a:ext uri="{FF2B5EF4-FFF2-40B4-BE49-F238E27FC236}">
                  <a16:creationId xmlns:a16="http://schemas.microsoft.com/office/drawing/2014/main" id="{D3F67975-E4A2-2D70-CDB5-81971562408A}"/>
                </a:ext>
              </a:extLst>
            </p:cNvPr>
            <p:cNvSpPr txBox="1"/>
            <p:nvPr/>
          </p:nvSpPr>
          <p:spPr>
            <a:xfrm>
              <a:off x="1085803" y="1223001"/>
              <a:ext cx="1261884"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基于综合比对</a:t>
              </a:r>
            </a:p>
          </p:txBody>
        </p:sp>
      </p:grpSp>
      <p:grpSp>
        <p:nvGrpSpPr>
          <p:cNvPr id="21" name="组合 20">
            <a:extLst>
              <a:ext uri="{FF2B5EF4-FFF2-40B4-BE49-F238E27FC236}">
                <a16:creationId xmlns:a16="http://schemas.microsoft.com/office/drawing/2014/main" id="{347407B6-9BE6-0746-AAE7-E7BA601F2B41}"/>
              </a:ext>
            </a:extLst>
          </p:cNvPr>
          <p:cNvGrpSpPr/>
          <p:nvPr/>
        </p:nvGrpSpPr>
        <p:grpSpPr>
          <a:xfrm>
            <a:off x="483117" y="3178638"/>
            <a:ext cx="1963111" cy="697443"/>
            <a:chOff x="498544" y="1003032"/>
            <a:chExt cx="1963111" cy="697443"/>
          </a:xfrm>
        </p:grpSpPr>
        <p:sp>
          <p:nvSpPr>
            <p:cNvPr id="22" name="椭圆 21">
              <a:extLst>
                <a:ext uri="{FF2B5EF4-FFF2-40B4-BE49-F238E27FC236}">
                  <a16:creationId xmlns:a16="http://schemas.microsoft.com/office/drawing/2014/main" id="{40FF0369-E812-CEB0-0616-98987EF44A55}"/>
                </a:ext>
              </a:extLst>
            </p:cNvPr>
            <p:cNvSpPr/>
            <p:nvPr/>
          </p:nvSpPr>
          <p:spPr>
            <a:xfrm>
              <a:off x="498544" y="1003032"/>
              <a:ext cx="1963111" cy="697443"/>
            </a:xfrm>
            <a:prstGeom prst="ellipse">
              <a:avLst/>
            </a:prstGeom>
            <a:solidFill>
              <a:srgbClr val="EFEFEF"/>
            </a:solidFill>
            <a:ln>
              <a:solidFill>
                <a:srgbClr val="DFDF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107">
              <a:extLst>
                <a:ext uri="{FF2B5EF4-FFF2-40B4-BE49-F238E27FC236}">
                  <a16:creationId xmlns:a16="http://schemas.microsoft.com/office/drawing/2014/main" id="{6A29460A-1568-27A7-9ABA-7C9C4F8A1100}"/>
                </a:ext>
              </a:extLst>
            </p:cNvPr>
            <p:cNvSpPr txBox="1"/>
            <p:nvPr/>
          </p:nvSpPr>
          <p:spPr>
            <a:xfrm>
              <a:off x="540295" y="1197864"/>
              <a:ext cx="1879607"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基于结构化信息比对</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908957" y="206330"/>
            <a:ext cx="4903907"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基于二进制代码比对的静态漏洞分析</a:t>
            </a:r>
          </a:p>
        </p:txBody>
      </p:sp>
      <p:pic>
        <p:nvPicPr>
          <p:cNvPr id="9" name="图片 8" descr="暨大3"/>
          <p:cNvPicPr>
            <a:picLocks noChangeAspect="1"/>
          </p:cNvPicPr>
          <p:nvPr/>
        </p:nvPicPr>
        <p:blipFill>
          <a:blip r:embed="rId3"/>
          <a:stretch>
            <a:fillRect/>
          </a:stretch>
        </p:blipFill>
        <p:spPr>
          <a:xfrm>
            <a:off x="7244080" y="0"/>
            <a:ext cx="1762125" cy="664845"/>
          </a:xfrm>
          <a:prstGeom prst="rect">
            <a:avLst/>
          </a:prstGeom>
        </p:spPr>
      </p:pic>
      <p:sp>
        <p:nvSpPr>
          <p:cNvPr id="2" name="TextBox 24">
            <a:extLst>
              <a:ext uri="{FF2B5EF4-FFF2-40B4-BE49-F238E27FC236}">
                <a16:creationId xmlns:a16="http://schemas.microsoft.com/office/drawing/2014/main" id="{54E64D37-6969-5DC3-57FC-822ECE86A0A3}"/>
              </a:ext>
            </a:extLst>
          </p:cNvPr>
          <p:cNvSpPr txBox="1"/>
          <p:nvPr/>
        </p:nvSpPr>
        <p:spPr>
          <a:xfrm>
            <a:off x="515258" y="781405"/>
            <a:ext cx="8113486" cy="2547236"/>
          </a:xfrm>
          <a:prstGeom prst="rect">
            <a:avLst/>
          </a:prstGeom>
          <a:noFill/>
        </p:spPr>
        <p:txBody>
          <a:bodyPr wrap="square" lIns="0" tIns="0" rIns="0" bIns="0" rtlCol="0">
            <a:spAutoFit/>
          </a:bodyPr>
          <a:lstStyle/>
          <a:p>
            <a:pPr algn="just">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基于二进制代码对比的静态漏洞检测的实例：</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假设我们要检测一个应用程序的安全性，我们可以使用基于二进制代码对比的静态漏洞检测工具（例如</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PANDA</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sz="1400" dirty="0" err="1">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BinDiff</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等）对应用程序的两个版本进行比较，其中一个版本是已知安全的，另一个版本是待检测的。</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比较过程如下：</a:t>
            </a: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针对两个版本的二进制代码，分别提取函数、指令、数据等信息。</a:t>
            </a: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对两个版本的二进制代码进行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diff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比较，识别其中的差异。</a:t>
            </a:r>
          </a:p>
          <a:p>
            <a:pPr marL="342900" indent="-342900" algn="just">
              <a:lnSpc>
                <a:spcPct val="150000"/>
              </a:lnSpc>
              <a:buFont typeface="+mj-lt"/>
              <a:buAutoNum type="arabicPeriod"/>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对差异进行分析，判断是否存在潜在的漏洞。</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8196" name="Picture 4">
            <a:extLst>
              <a:ext uri="{FF2B5EF4-FFF2-40B4-BE49-F238E27FC236}">
                <a16:creationId xmlns:a16="http://schemas.microsoft.com/office/drawing/2014/main" id="{88E93A28-803A-364C-832F-D586B302AD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8745" y="3648201"/>
            <a:ext cx="3780000" cy="79098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A55A3210-46EB-787D-96D7-193B5114DB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257" y="3595863"/>
            <a:ext cx="3780000" cy="895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27085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4019049"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基于二进制码的动态漏洞分析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5"/>
          <a:stretch>
            <a:fillRect/>
          </a:stretch>
        </p:blipFill>
        <p:spPr>
          <a:xfrm>
            <a:off x="7244080" y="0"/>
            <a:ext cx="1762125" cy="664845"/>
          </a:xfrm>
          <a:prstGeom prst="rect">
            <a:avLst/>
          </a:prstGeom>
        </p:spPr>
      </p:pic>
      <p:sp>
        <p:nvSpPr>
          <p:cNvPr id="3" name="文本框 2"/>
          <p:cNvSpPr txBox="1"/>
          <p:nvPr/>
        </p:nvSpPr>
        <p:spPr>
          <a:xfrm>
            <a:off x="462915" y="1114425"/>
            <a:ext cx="8166100" cy="398780"/>
          </a:xfrm>
          <a:prstGeom prst="rect">
            <a:avLst/>
          </a:prstGeom>
          <a:noFill/>
        </p:spPr>
        <p:txBody>
          <a:bodyPr wrap="square" rtlCol="0">
            <a:spAutoFit/>
          </a:bodyPr>
          <a:lstStyle/>
          <a:p>
            <a:r>
              <a:rPr lang="zh-CN" altLang="en-US" sz="2000">
                <a:solidFill>
                  <a:srgbClr val="FF0000"/>
                </a:solidFill>
              </a:rPr>
              <a:t>动态分析</a:t>
            </a:r>
            <a:r>
              <a:rPr lang="zh-CN" altLang="en-US" sz="2000"/>
              <a:t>：通过</a:t>
            </a:r>
            <a:r>
              <a:rPr lang="zh-CN" altLang="en-US" sz="2000" b="1" u="sng"/>
              <a:t>执行程序</a:t>
            </a:r>
            <a:r>
              <a:rPr lang="zh-CN" altLang="en-US" sz="2000"/>
              <a:t>并观察其运行情况来找出程序中的漏洞。</a:t>
            </a:r>
          </a:p>
        </p:txBody>
      </p:sp>
      <p:sp>
        <p:nvSpPr>
          <p:cNvPr id="2" name="文本框 1"/>
          <p:cNvSpPr txBox="1"/>
          <p:nvPr>
            <p:custDataLst>
              <p:tags r:id="rId2"/>
            </p:custDataLst>
          </p:nvPr>
        </p:nvSpPr>
        <p:spPr>
          <a:xfrm>
            <a:off x="462915" y="2204720"/>
            <a:ext cx="8166100" cy="983615"/>
          </a:xfrm>
          <a:prstGeom prst="rect">
            <a:avLst/>
          </a:prstGeom>
          <a:noFill/>
        </p:spPr>
        <p:txBody>
          <a:bodyPr wrap="square" rtlCol="0">
            <a:spAutoFit/>
          </a:bodyPr>
          <a:lstStyle/>
          <a:p>
            <a:r>
              <a:rPr lang="zh-CN" altLang="en-US" sz="2000">
                <a:solidFill>
                  <a:srgbClr val="FF0000"/>
                </a:solidFill>
              </a:rPr>
              <a:t>主要技术</a:t>
            </a:r>
            <a:r>
              <a:rPr lang="zh-CN" altLang="en-US" sz="2000"/>
              <a:t>：</a:t>
            </a:r>
          </a:p>
          <a:p>
            <a:r>
              <a:rPr lang="zh-CN" altLang="en-US" sz="2000"/>
              <a:t> </a:t>
            </a:r>
            <a:r>
              <a:rPr lang="en-US" altLang="zh-CN" sz="2000"/>
              <a:t>        </a:t>
            </a:r>
            <a:r>
              <a:rPr lang="zh-CN" altLang="en-US" sz="2000"/>
              <a:t>模糊（</a:t>
            </a:r>
            <a:r>
              <a:rPr lang="en-US" altLang="zh-CN" sz="2000"/>
              <a:t>Fuzzing</a:t>
            </a:r>
            <a:r>
              <a:rPr lang="zh-CN" altLang="en-US" sz="2000"/>
              <a:t>）测试：</a:t>
            </a:r>
            <a:r>
              <a:rPr lang="zh-CN">
                <a:solidFill>
                  <a:srgbClr val="000000"/>
                </a:solidFill>
                <a:ea typeface="宋体" panose="02010600030101010101" pitchFamily="2" charset="-122"/>
                <a:sym typeface="+mn-ea"/>
              </a:rPr>
              <a:t>一种黑盒测试技术，不需要了解被测程序内部的结构和逻辑等信息。</a:t>
            </a:r>
            <a:endParaRPr lang="zh-CN" altLang="en-US">
              <a:solidFill>
                <a:srgbClr val="000000"/>
              </a:solidFill>
              <a:ea typeface="宋体" panose="02010600030101010101" pitchFamily="2" charset="-122"/>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4019049"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基于二进制码的动态漏洞分析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20"/>
          <a:stretch>
            <a:fillRect/>
          </a:stretch>
        </p:blipFill>
        <p:spPr>
          <a:xfrm>
            <a:off x="7244080" y="0"/>
            <a:ext cx="1762125" cy="664845"/>
          </a:xfrm>
          <a:prstGeom prst="rect">
            <a:avLst/>
          </a:prstGeom>
        </p:spPr>
      </p:pic>
      <p:cxnSp>
        <p:nvCxnSpPr>
          <p:cNvPr id="90" name="直接连接符 89"/>
          <p:cNvCxnSpPr/>
          <p:nvPr>
            <p:custDataLst>
              <p:tags r:id="rId2"/>
            </p:custDataLst>
          </p:nvPr>
        </p:nvCxnSpPr>
        <p:spPr>
          <a:xfrm flipV="1">
            <a:off x="1715918" y="1555365"/>
            <a:ext cx="315595" cy="747395"/>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grpSp>
        <p:nvGrpSpPr>
          <p:cNvPr id="98" name="组合 97"/>
          <p:cNvGrpSpPr/>
          <p:nvPr/>
        </p:nvGrpSpPr>
        <p:grpSpPr>
          <a:xfrm>
            <a:off x="2117725" y="1242695"/>
            <a:ext cx="2265045" cy="512445"/>
            <a:chOff x="1591195" y="3531392"/>
            <a:chExt cx="1721136" cy="774463"/>
          </a:xfrm>
          <a:effectLst>
            <a:outerShdw blurRad="444500" dist="254000" dir="8100000" algn="tr" rotWithShape="0">
              <a:prstClr val="black">
                <a:alpha val="50000"/>
              </a:prstClr>
            </a:outerShdw>
          </a:effectLst>
        </p:grpSpPr>
        <p:sp>
          <p:nvSpPr>
            <p:cNvPr id="99" name="圆角矩形 104"/>
            <p:cNvSpPr/>
            <p:nvPr>
              <p:custDataLst>
                <p:tags r:id="rId16"/>
              </p:custDataLst>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100"/>
            <p:cNvSpPr/>
            <p:nvPr>
              <p:custDataLst>
                <p:tags r:id="rId17"/>
              </p:custDataLst>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1" name="组合 100"/>
          <p:cNvGrpSpPr/>
          <p:nvPr/>
        </p:nvGrpSpPr>
        <p:grpSpPr>
          <a:xfrm>
            <a:off x="2058670" y="3589020"/>
            <a:ext cx="2269490" cy="466090"/>
            <a:chOff x="1591195" y="3531392"/>
            <a:chExt cx="1721136" cy="774463"/>
          </a:xfrm>
          <a:effectLst>
            <a:outerShdw blurRad="444500" dist="254000" dir="8100000" algn="tr" rotWithShape="0">
              <a:prstClr val="black">
                <a:alpha val="50000"/>
              </a:prstClr>
            </a:outerShdw>
          </a:effectLst>
        </p:grpSpPr>
        <p:sp>
          <p:nvSpPr>
            <p:cNvPr id="102" name="圆角矩形 104"/>
            <p:cNvSpPr/>
            <p:nvPr>
              <p:custDataLst>
                <p:tags r:id="rId14"/>
              </p:custDataLst>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圆角矩形 100"/>
            <p:cNvSpPr/>
            <p:nvPr>
              <p:custDataLst>
                <p:tags r:id="rId15"/>
              </p:custDataLst>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chemeClr val="bg1"/>
                </a:gs>
                <a:gs pos="100000">
                  <a:schemeClr val="bg1">
                    <a:lumMod val="7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9" name="TextBox 108"/>
          <p:cNvSpPr txBox="1"/>
          <p:nvPr>
            <p:custDataLst>
              <p:tags r:id="rId3"/>
            </p:custDataLst>
          </p:nvPr>
        </p:nvSpPr>
        <p:spPr>
          <a:xfrm>
            <a:off x="2185314" y="1401105"/>
            <a:ext cx="2087880" cy="32194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基于变异的模糊测试器</a:t>
            </a:r>
          </a:p>
        </p:txBody>
      </p:sp>
      <p:sp>
        <p:nvSpPr>
          <p:cNvPr id="111" name="TextBox 110"/>
          <p:cNvSpPr txBox="1"/>
          <p:nvPr>
            <p:custDataLst>
              <p:tags r:id="rId4"/>
            </p:custDataLst>
          </p:nvPr>
        </p:nvSpPr>
        <p:spPr>
          <a:xfrm>
            <a:off x="2087229" y="3750197"/>
            <a:ext cx="2087880" cy="321945"/>
          </a:xfrm>
          <a:prstGeom prst="rect">
            <a:avLst/>
          </a:prstGeom>
          <a:noFill/>
        </p:spPr>
        <p:txBody>
          <a:bodyPr wrap="none" rtlCol="0">
            <a:spAutoFit/>
          </a:bodyPr>
          <a:lstStyle/>
          <a:p>
            <a:pPr algn="l"/>
            <a:r>
              <a:rPr lang="zh-CN" altLang="en-US" sz="1500" dirty="0">
                <a:latin typeface="微软雅黑" panose="020B0503020204020204" pitchFamily="34" charset="-122"/>
                <a:ea typeface="微软雅黑" panose="020B0503020204020204" pitchFamily="34" charset="-122"/>
              </a:rPr>
              <a:t>基于生成的模糊测试器</a:t>
            </a:r>
          </a:p>
        </p:txBody>
      </p:sp>
      <p:grpSp>
        <p:nvGrpSpPr>
          <p:cNvPr id="2" name="组合 1"/>
          <p:cNvGrpSpPr/>
          <p:nvPr/>
        </p:nvGrpSpPr>
        <p:grpSpPr>
          <a:xfrm>
            <a:off x="477166" y="1961410"/>
            <a:ext cx="1382075" cy="1382075"/>
            <a:chOff x="3746633" y="1810030"/>
            <a:chExt cx="1382075" cy="1382075"/>
          </a:xfrm>
        </p:grpSpPr>
        <p:grpSp>
          <p:nvGrpSpPr>
            <p:cNvPr id="5" name="组合 4"/>
            <p:cNvGrpSpPr/>
            <p:nvPr/>
          </p:nvGrpSpPr>
          <p:grpSpPr>
            <a:xfrm>
              <a:off x="3746633" y="1810030"/>
              <a:ext cx="1382075" cy="1382075"/>
              <a:chOff x="304800" y="673100"/>
              <a:chExt cx="4000500" cy="4000500"/>
            </a:xfrm>
            <a:effectLst>
              <a:outerShdw blurRad="444500" dist="254000" dir="8100000" algn="tr" rotWithShape="0">
                <a:prstClr val="black">
                  <a:alpha val="50000"/>
                </a:prstClr>
              </a:outerShdw>
            </a:effectLst>
          </p:grpSpPr>
          <p:sp>
            <p:nvSpPr>
              <p:cNvPr id="6" name="同心圆 5"/>
              <p:cNvSpPr/>
              <p:nvPr>
                <p:custDataLst>
                  <p:tags r:id="rId12"/>
                </p:custDataLst>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椭圆 6"/>
              <p:cNvSpPr/>
              <p:nvPr>
                <p:custDataLst>
                  <p:tags r:id="rId13"/>
                </p:custDataLst>
              </p:nvPr>
            </p:nvSpPr>
            <p:spPr>
              <a:xfrm>
                <a:off x="392112" y="760412"/>
                <a:ext cx="3825877" cy="3825877"/>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TextBox 113"/>
            <p:cNvSpPr txBox="1"/>
            <p:nvPr>
              <p:custDataLst>
                <p:tags r:id="rId11"/>
              </p:custDataLst>
            </p:nvPr>
          </p:nvSpPr>
          <p:spPr>
            <a:xfrm>
              <a:off x="3978122" y="2255095"/>
              <a:ext cx="926418" cy="492125"/>
            </a:xfrm>
            <a:prstGeom prst="rect">
              <a:avLst/>
            </a:prstGeom>
            <a:noFill/>
          </p:spPr>
          <p:txBody>
            <a:bodyPr wrap="square" lIns="0" tIns="0" rIns="0" bIns="0" rtlCol="0">
              <a:spAutoFit/>
            </a:bodyPr>
            <a:lstStyle/>
            <a:p>
              <a:pPr algn="ctr"/>
              <a:r>
                <a:rPr lang="zh-CN" altLang="en-US" sz="1600" dirty="0">
                  <a:solidFill>
                    <a:srgbClr val="FF0000"/>
                  </a:solidFill>
                  <a:latin typeface="微软雅黑" panose="020B0503020204020204" pitchFamily="34" charset="-122"/>
                  <a:ea typeface="微软雅黑" panose="020B0503020204020204" pitchFamily="34" charset="-122"/>
                </a:rPr>
                <a:t>模糊测试器分类</a:t>
              </a:r>
            </a:p>
          </p:txBody>
        </p:sp>
      </p:grpSp>
      <p:sp>
        <p:nvSpPr>
          <p:cNvPr id="119" name="TextBox 118"/>
          <p:cNvSpPr txBox="1"/>
          <p:nvPr>
            <p:custDataLst>
              <p:tags r:id="rId5"/>
            </p:custDataLst>
          </p:nvPr>
        </p:nvSpPr>
        <p:spPr>
          <a:xfrm>
            <a:off x="1934845" y="4127500"/>
            <a:ext cx="2631440" cy="530860"/>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：生成随机的测试用例，这些测试用例通常不是从现有的测试用例中派生的。</a:t>
            </a:r>
          </a:p>
        </p:txBody>
      </p:sp>
      <p:sp>
        <p:nvSpPr>
          <p:cNvPr id="120" name="TextBox 119"/>
          <p:cNvSpPr txBox="1"/>
          <p:nvPr>
            <p:custDataLst>
              <p:tags r:id="rId6"/>
            </p:custDataLst>
          </p:nvPr>
        </p:nvSpPr>
        <p:spPr>
          <a:xfrm>
            <a:off x="2117725" y="1755140"/>
            <a:ext cx="2448560" cy="530860"/>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：通过对已有的数据样本进行变异来创建测试用例。</a:t>
            </a:r>
          </a:p>
        </p:txBody>
      </p:sp>
      <p:cxnSp>
        <p:nvCxnSpPr>
          <p:cNvPr id="10" name="直接连接符 9"/>
          <p:cNvCxnSpPr>
            <a:stCxn id="6" idx="5"/>
          </p:cNvCxnSpPr>
          <p:nvPr>
            <p:custDataLst>
              <p:tags r:id="rId7"/>
            </p:custDataLst>
          </p:nvPr>
        </p:nvCxnSpPr>
        <p:spPr>
          <a:xfrm>
            <a:off x="1656841" y="3140450"/>
            <a:ext cx="430530" cy="684530"/>
          </a:xfrm>
          <a:prstGeom prst="line">
            <a:avLst/>
          </a:prstGeom>
          <a:ln w="76200">
            <a:solidFill>
              <a:srgbClr val="1A3F6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8"/>
            </p:custDataLst>
          </p:nvPr>
        </p:nvCxnSpPr>
        <p:spPr>
          <a:xfrm rot="5400000">
            <a:off x="2531472" y="2959093"/>
            <a:ext cx="424815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Box 119"/>
          <p:cNvSpPr txBox="1"/>
          <p:nvPr>
            <p:custDataLst>
              <p:tags r:id="rId9"/>
            </p:custDataLst>
          </p:nvPr>
        </p:nvSpPr>
        <p:spPr>
          <a:xfrm>
            <a:off x="4745355" y="1268095"/>
            <a:ext cx="4075430" cy="1322070"/>
          </a:xfrm>
          <a:prstGeom prst="rect">
            <a:avLst/>
          </a:prstGeom>
          <a:noFill/>
        </p:spPr>
        <p:txBody>
          <a:bodyPr wrap="square" rtlCol="0">
            <a:noAutofit/>
          </a:bodyPr>
          <a:lstStyle/>
          <a:p>
            <a:pPr>
              <a:lnSpc>
                <a:spcPct val="130000"/>
              </a:lnSpc>
            </a:pPr>
            <a:r>
              <a:rPr lang="zh-CN" altLang="en-US" sz="1100" dirty="0">
                <a:solidFill>
                  <a:srgbClr val="FF0000"/>
                </a:solidFill>
                <a:latin typeface="微软雅黑" panose="020B0503020204020204" pitchFamily="34" charset="-122"/>
                <a:ea typeface="微软雅黑" panose="020B0503020204020204" pitchFamily="34" charset="-122"/>
              </a:rPr>
              <a:t>例如</a:t>
            </a:r>
            <a:r>
              <a:rPr lang="zh-CN" altLang="en-US" sz="1100" dirty="0">
                <a:latin typeface="微软雅黑" panose="020B0503020204020204" pitchFamily="34" charset="-122"/>
                <a:ea typeface="微软雅黑" panose="020B0503020204020204" pitchFamily="34" charset="-122"/>
              </a:rPr>
              <a:t>：针对一个计算机程序的一个合法的程序输入“3+0”进行变异操作，指定的变异操作（由程序员人为指定的）为：</a:t>
            </a:r>
          </a:p>
          <a:p>
            <a:pPr>
              <a:lnSpc>
                <a:spcPct val="170000"/>
              </a:lnSpc>
            </a:pPr>
            <a:r>
              <a:rPr lang="zh-CN" altLang="en-US" sz="1100" dirty="0">
                <a:latin typeface="微软雅黑" panose="020B0503020204020204" pitchFamily="34" charset="-122"/>
                <a:ea typeface="微软雅黑" panose="020B0503020204020204" pitchFamily="34" charset="-122"/>
              </a:rPr>
              <a:t>（1）随机增加某个字符</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sym typeface="+mn-ea"/>
              </a:rPr>
              <a:t>3+-0 （增加了一个字符“-”）</a:t>
            </a:r>
            <a:endParaRPr lang="zh-CN" altLang="en-US" sz="1100" dirty="0">
              <a:latin typeface="微软雅黑" panose="020B0503020204020204" pitchFamily="34" charset="-122"/>
              <a:ea typeface="微软雅黑" panose="020B0503020204020204" pitchFamily="34" charset="-122"/>
            </a:endParaRPr>
          </a:p>
          <a:p>
            <a:pPr>
              <a:lnSpc>
                <a:spcPct val="170000"/>
              </a:lnSpc>
            </a:pPr>
            <a:r>
              <a:rPr lang="zh-CN" altLang="en-US" sz="1100" dirty="0">
                <a:latin typeface="微软雅黑" panose="020B0503020204020204" pitchFamily="34" charset="-122"/>
                <a:ea typeface="微软雅黑" panose="020B0503020204020204" pitchFamily="34" charset="-122"/>
              </a:rPr>
              <a:t>（2）随机删除某个字符</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sym typeface="+mn-ea"/>
              </a:rPr>
              <a:t>3+ （删除了一个字符“0”）</a:t>
            </a:r>
            <a:endParaRPr lang="zh-CN" altLang="en-US" sz="1100" dirty="0">
              <a:latin typeface="微软雅黑" panose="020B0503020204020204" pitchFamily="34" charset="-122"/>
              <a:ea typeface="微软雅黑" panose="020B0503020204020204" pitchFamily="34" charset="-122"/>
            </a:endParaRPr>
          </a:p>
          <a:p>
            <a:pPr>
              <a:lnSpc>
                <a:spcPct val="170000"/>
              </a:lnSpc>
            </a:pPr>
            <a:r>
              <a:rPr lang="zh-CN" altLang="en-US" sz="1100" dirty="0">
                <a:latin typeface="微软雅黑" panose="020B0503020204020204" pitchFamily="34" charset="-122"/>
                <a:ea typeface="微软雅黑" panose="020B0503020204020204" pitchFamily="34" charset="-122"/>
              </a:rPr>
              <a:t>（3）随机替换某个字符</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sym typeface="+mn-ea"/>
              </a:rPr>
              <a:t>3/0 （把 “+” 变成 “/”）</a:t>
            </a:r>
            <a:endParaRPr lang="zh-CN" altLang="en-US" sz="1100" dirty="0">
              <a:latin typeface="微软雅黑" panose="020B0503020204020204" pitchFamily="34" charset="-122"/>
              <a:ea typeface="微软雅黑" panose="020B0503020204020204" pitchFamily="34" charset="-122"/>
            </a:endParaRPr>
          </a:p>
          <a:p>
            <a:pPr>
              <a:lnSpc>
                <a:spcPct val="130000"/>
              </a:lnSpc>
            </a:pPr>
            <a:endParaRPr lang="zh-CN" altLang="en-US" sz="1100" dirty="0">
              <a:latin typeface="微软雅黑" panose="020B0503020204020204" pitchFamily="34" charset="-122"/>
              <a:ea typeface="微软雅黑" panose="020B0503020204020204" pitchFamily="34" charset="-122"/>
            </a:endParaRPr>
          </a:p>
        </p:txBody>
      </p:sp>
      <p:sp>
        <p:nvSpPr>
          <p:cNvPr id="20" name="TextBox 119"/>
          <p:cNvSpPr txBox="1"/>
          <p:nvPr>
            <p:custDataLst>
              <p:tags r:id="rId10"/>
            </p:custDataLst>
          </p:nvPr>
        </p:nvSpPr>
        <p:spPr>
          <a:xfrm>
            <a:off x="4745355" y="3589020"/>
            <a:ext cx="4075430" cy="639445"/>
          </a:xfrm>
          <a:prstGeom prst="rect">
            <a:avLst/>
          </a:prstGeom>
          <a:noFill/>
        </p:spPr>
        <p:txBody>
          <a:bodyPr wrap="square" rtlCol="0">
            <a:noAutofit/>
          </a:bodyPr>
          <a:lstStyle/>
          <a:p>
            <a:pPr>
              <a:lnSpc>
                <a:spcPct val="130000"/>
              </a:lnSpc>
            </a:pPr>
            <a:r>
              <a:rPr lang="zh-CN" altLang="en-US" sz="1100" dirty="0">
                <a:solidFill>
                  <a:srgbClr val="FF0000"/>
                </a:solidFill>
                <a:latin typeface="微软雅黑" panose="020B0503020204020204" pitchFamily="34" charset="-122"/>
                <a:ea typeface="微软雅黑" panose="020B0503020204020204" pitchFamily="34" charset="-122"/>
              </a:rPr>
              <a:t>例如</a:t>
            </a:r>
            <a:r>
              <a:rPr lang="zh-CN" altLang="en-US" sz="1100" b="1"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GAN（生成式对抗网络）可以生成看起来像图片或语音的随机数据，检测生成的数据与训练数据的差异</a:t>
            </a:r>
          </a:p>
          <a:p>
            <a:pPr>
              <a:lnSpc>
                <a:spcPct val="130000"/>
              </a:lnSpc>
            </a:pPr>
            <a:endParaRPr lang="zh-CN" altLang="en-US" sz="11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4019049"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基于二进制码的动态漏洞分析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6"/>
          <a:stretch>
            <a:fillRect/>
          </a:stretch>
        </p:blipFill>
        <p:spPr>
          <a:xfrm>
            <a:off x="7244080" y="0"/>
            <a:ext cx="1762125" cy="664845"/>
          </a:xfrm>
          <a:prstGeom prst="rect">
            <a:avLst/>
          </a:prstGeom>
        </p:spPr>
      </p:pic>
      <p:sp>
        <p:nvSpPr>
          <p:cNvPr id="3" name="文本框 2"/>
          <p:cNvSpPr txBox="1"/>
          <p:nvPr/>
        </p:nvSpPr>
        <p:spPr>
          <a:xfrm>
            <a:off x="462915" y="884555"/>
            <a:ext cx="8166100" cy="398780"/>
          </a:xfrm>
          <a:prstGeom prst="rect">
            <a:avLst/>
          </a:prstGeom>
          <a:noFill/>
        </p:spPr>
        <p:txBody>
          <a:bodyPr wrap="square" rtlCol="0">
            <a:spAutoFit/>
          </a:bodyPr>
          <a:lstStyle/>
          <a:p>
            <a:r>
              <a:rPr lang="zh-CN" altLang="en-US" sz="2000">
                <a:solidFill>
                  <a:srgbClr val="FF0000"/>
                </a:solidFill>
              </a:rPr>
              <a:t>二进制代码漏洞分析模糊测试过程</a:t>
            </a:r>
          </a:p>
        </p:txBody>
      </p:sp>
      <p:pic>
        <p:nvPicPr>
          <p:cNvPr id="2" name="图片 1" descr="IMG_256"/>
          <p:cNvPicPr>
            <a:picLocks noChangeAspect="1"/>
          </p:cNvPicPr>
          <p:nvPr>
            <p:custDataLst>
              <p:tags r:id="rId2"/>
            </p:custDataLst>
          </p:nvPr>
        </p:nvPicPr>
        <p:blipFill>
          <a:blip r:embed="rId7"/>
          <a:stretch>
            <a:fillRect/>
          </a:stretch>
        </p:blipFill>
        <p:spPr>
          <a:xfrm>
            <a:off x="462915" y="1283335"/>
            <a:ext cx="7249160" cy="1616710"/>
          </a:xfrm>
          <a:prstGeom prst="rect">
            <a:avLst/>
          </a:prstGeom>
          <a:noFill/>
          <a:ln w="9525">
            <a:noFill/>
          </a:ln>
        </p:spPr>
      </p:pic>
      <p:sp>
        <p:nvSpPr>
          <p:cNvPr id="20" name="TextBox 119"/>
          <p:cNvSpPr txBox="1"/>
          <p:nvPr>
            <p:custDataLst>
              <p:tags r:id="rId3"/>
            </p:custDataLst>
          </p:nvPr>
        </p:nvSpPr>
        <p:spPr>
          <a:xfrm>
            <a:off x="462915" y="2621915"/>
            <a:ext cx="7919085" cy="2016760"/>
          </a:xfrm>
          <a:prstGeom prst="rect">
            <a:avLst/>
          </a:prstGeom>
          <a:noFill/>
        </p:spPr>
        <p:txBody>
          <a:bodyPr wrap="square" rtlCol="0">
            <a:noAutofit/>
          </a:bodyPr>
          <a:lstStyle/>
          <a:p>
            <a:pPr>
              <a:lnSpc>
                <a:spcPct val="220000"/>
              </a:lnSpc>
            </a:pP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1</a:t>
            </a:r>
            <a:r>
              <a:rPr lang="zh-CN" altLang="en-US" sz="1100" dirty="0">
                <a:latin typeface="微软雅黑" panose="020B0503020204020204" pitchFamily="34" charset="-122"/>
                <a:ea typeface="微软雅黑" panose="020B0503020204020204" pitchFamily="34" charset="-122"/>
              </a:rPr>
              <a:t>）识别目标：确定要测试的程序或库</a:t>
            </a:r>
          </a:p>
          <a:p>
            <a:pPr>
              <a:lnSpc>
                <a:spcPct val="220000"/>
              </a:lnSpc>
            </a:pP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2</a:t>
            </a:r>
            <a:r>
              <a:rPr lang="zh-CN" altLang="en-US" sz="1100" dirty="0">
                <a:latin typeface="微软雅黑" panose="020B0503020204020204" pitchFamily="34" charset="-122"/>
                <a:ea typeface="微软雅黑" panose="020B0503020204020204" pitchFamily="34" charset="-122"/>
              </a:rPr>
              <a:t>）识别输入：确定针对目标程序的输入数据并生成不同类型的输入数据。比如发送一个HTTP POST等。</a:t>
            </a:r>
          </a:p>
          <a:p>
            <a:pPr>
              <a:lnSpc>
                <a:spcPct val="220000"/>
              </a:lnSpc>
            </a:pP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3</a:t>
            </a:r>
            <a:r>
              <a:rPr lang="zh-CN" altLang="en-US" sz="1100" dirty="0">
                <a:latin typeface="微软雅黑" panose="020B0503020204020204" pitchFamily="34" charset="-122"/>
                <a:ea typeface="微软雅黑" panose="020B0503020204020204" pitchFamily="34" charset="-122"/>
              </a:rPr>
              <a:t>）生成模糊测试用例：自动完成向测试目标发送大量测试数据的过程；</a:t>
            </a:r>
          </a:p>
          <a:p>
            <a:pPr>
              <a:lnSpc>
                <a:spcPct val="220000"/>
              </a:lnSpc>
            </a:pP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4</a:t>
            </a:r>
            <a:r>
              <a:rPr lang="zh-CN" altLang="en-US" sz="1100" dirty="0">
                <a:latin typeface="微软雅黑" panose="020B0503020204020204" pitchFamily="34" charset="-122"/>
                <a:ea typeface="微软雅黑" panose="020B0503020204020204" pitchFamily="34" charset="-122"/>
              </a:rPr>
              <a:t>）监视执行并发现异常：监视目标程序的执行，以便发现任何异常情况。</a:t>
            </a:r>
          </a:p>
          <a:p>
            <a:pPr>
              <a:lnSpc>
                <a:spcPct val="220000"/>
              </a:lnSpc>
            </a:pP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5</a:t>
            </a:r>
            <a:r>
              <a:rPr lang="zh-CN" altLang="en-US" sz="1100" dirty="0">
                <a:latin typeface="微软雅黑" panose="020B0503020204020204" pitchFamily="34" charset="-122"/>
                <a:ea typeface="微软雅黑" panose="020B0503020204020204" pitchFamily="34" charset="-122"/>
              </a:rPr>
              <a:t>）确定漏洞的可利用性：确定是否可以使用该漏洞执行有意义的攻击等。利用这些漏洞来获取更多的信息或控制目标程序。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4019049"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基于二进制码的动态漏洞分析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5"/>
          <a:stretch>
            <a:fillRect/>
          </a:stretch>
        </p:blipFill>
        <p:spPr>
          <a:xfrm>
            <a:off x="7244080" y="0"/>
            <a:ext cx="1762125" cy="664845"/>
          </a:xfrm>
          <a:prstGeom prst="rect">
            <a:avLst/>
          </a:prstGeom>
        </p:spPr>
      </p:pic>
      <p:sp>
        <p:nvSpPr>
          <p:cNvPr id="3" name="文本框 2"/>
          <p:cNvSpPr txBox="1"/>
          <p:nvPr/>
        </p:nvSpPr>
        <p:spPr>
          <a:xfrm>
            <a:off x="462915" y="884555"/>
            <a:ext cx="8166100" cy="398780"/>
          </a:xfrm>
          <a:prstGeom prst="rect">
            <a:avLst/>
          </a:prstGeom>
          <a:noFill/>
        </p:spPr>
        <p:txBody>
          <a:bodyPr wrap="square" rtlCol="0">
            <a:spAutoFit/>
          </a:bodyPr>
          <a:lstStyle/>
          <a:p>
            <a:r>
              <a:rPr lang="zh-CN" altLang="en-US" sz="2000">
                <a:solidFill>
                  <a:srgbClr val="FF0000"/>
                </a:solidFill>
              </a:rPr>
              <a:t>二进制代码漏洞分析模糊测试过程举例</a:t>
            </a:r>
          </a:p>
        </p:txBody>
      </p:sp>
      <p:sp>
        <p:nvSpPr>
          <p:cNvPr id="20" name="TextBox 119"/>
          <p:cNvSpPr txBox="1"/>
          <p:nvPr>
            <p:custDataLst>
              <p:tags r:id="rId2"/>
            </p:custDataLst>
          </p:nvPr>
        </p:nvSpPr>
        <p:spPr>
          <a:xfrm>
            <a:off x="462915" y="1240155"/>
            <a:ext cx="7919085" cy="2016760"/>
          </a:xfrm>
          <a:prstGeom prst="rect">
            <a:avLst/>
          </a:prstGeom>
          <a:noFill/>
        </p:spPr>
        <p:txBody>
          <a:bodyPr wrap="square" rtlCol="0">
            <a:noAutofit/>
          </a:bodyPr>
          <a:lstStyle/>
          <a:p>
            <a:pPr>
              <a:lnSpc>
                <a:spcPct val="220000"/>
              </a:lnSpc>
            </a:pPr>
            <a:r>
              <a:rPr lang="zh-CN" altLang="en-US" sz="1100" dirty="0">
                <a:solidFill>
                  <a:srgbClr val="FF0000"/>
                </a:solidFill>
                <a:latin typeface="微软雅黑" panose="020B0503020204020204" pitchFamily="34" charset="-122"/>
                <a:ea typeface="微软雅黑" panose="020B0503020204020204" pitchFamily="34" charset="-122"/>
              </a:rPr>
              <a:t>假设我们正在对一个网络服务器的二进制代码进行模糊测试，以下是每个步骤的详细说明：</a:t>
            </a:r>
            <a:endParaRPr lang="zh-CN" altLang="en-US" sz="1100" dirty="0">
              <a:latin typeface="微软雅黑" panose="020B0503020204020204" pitchFamily="34" charset="-122"/>
              <a:ea typeface="微软雅黑" panose="020B0503020204020204" pitchFamily="34" charset="-122"/>
            </a:endParaRPr>
          </a:p>
          <a:p>
            <a:pPr>
              <a:lnSpc>
                <a:spcPct val="220000"/>
              </a:lnSpc>
            </a:pPr>
            <a:r>
              <a:rPr lang="zh-CN" altLang="en-US" sz="1100" b="1" dirty="0">
                <a:latin typeface="微软雅黑" panose="020B0503020204020204" pitchFamily="34" charset="-122"/>
                <a:ea typeface="微软雅黑" panose="020B0503020204020204" pitchFamily="34" charset="-122"/>
              </a:rPr>
              <a:t>（</a:t>
            </a:r>
            <a:r>
              <a:rPr lang="en-US" altLang="zh-CN" sz="1100" b="1" dirty="0">
                <a:latin typeface="微软雅黑" panose="020B0503020204020204" pitchFamily="34" charset="-122"/>
                <a:ea typeface="微软雅黑" panose="020B0503020204020204" pitchFamily="34" charset="-122"/>
              </a:rPr>
              <a:t>1</a:t>
            </a:r>
            <a:r>
              <a:rPr lang="zh-CN" altLang="en-US" sz="1100" b="1" dirty="0">
                <a:latin typeface="微软雅黑" panose="020B0503020204020204" pitchFamily="34" charset="-122"/>
                <a:ea typeface="微软雅黑" panose="020B0503020204020204" pitchFamily="34" charset="-122"/>
              </a:rPr>
              <a:t>）识别目标</a:t>
            </a:r>
            <a:r>
              <a:rPr lang="zh-CN" altLang="en-US" sz="1100" dirty="0">
                <a:latin typeface="微软雅黑" panose="020B0503020204020204" pitchFamily="34" charset="-122"/>
                <a:ea typeface="微软雅黑" panose="020B0503020204020204" pitchFamily="34" charset="-122"/>
              </a:rPr>
              <a:t>：需要找到服务器的二进制文件以及它的输入接口（如HTTP请求）和输出接口（如HTTP响应）。</a:t>
            </a:r>
          </a:p>
          <a:p>
            <a:pPr>
              <a:lnSpc>
                <a:spcPct val="220000"/>
              </a:lnSpc>
            </a:pPr>
            <a:r>
              <a:rPr lang="zh-CN" altLang="en-US" sz="1100" b="1" dirty="0">
                <a:latin typeface="微软雅黑" panose="020B0503020204020204" pitchFamily="34" charset="-122"/>
                <a:ea typeface="微软雅黑" panose="020B0503020204020204" pitchFamily="34" charset="-122"/>
              </a:rPr>
              <a:t>（</a:t>
            </a:r>
            <a:r>
              <a:rPr lang="en-US" altLang="zh-CN" sz="1100" b="1" dirty="0">
                <a:latin typeface="微软雅黑" panose="020B0503020204020204" pitchFamily="34" charset="-122"/>
                <a:ea typeface="微软雅黑" panose="020B0503020204020204" pitchFamily="34" charset="-122"/>
              </a:rPr>
              <a:t>2</a:t>
            </a:r>
            <a:r>
              <a:rPr lang="zh-CN" altLang="en-US" sz="1100" b="1" dirty="0">
                <a:latin typeface="微软雅黑" panose="020B0503020204020204" pitchFamily="34" charset="-122"/>
                <a:ea typeface="微软雅黑" panose="020B0503020204020204" pitchFamily="34" charset="-122"/>
              </a:rPr>
              <a:t>）识别输入</a:t>
            </a:r>
            <a:r>
              <a:rPr lang="zh-CN" altLang="en-US"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sym typeface="+mn-ea"/>
              </a:rPr>
              <a:t>使用Fuzzing输入生成器工具来生成各种类型的HTTP请求，包括GET、POST、PUT、DELETE等，并为每种请求类型生成随机的数据</a:t>
            </a:r>
            <a:r>
              <a:rPr lang="zh-CN" altLang="en-US" sz="1100" dirty="0">
                <a:latin typeface="微软雅黑" panose="020B0503020204020204" pitchFamily="34" charset="-122"/>
                <a:ea typeface="微软雅黑" panose="020B0503020204020204" pitchFamily="34" charset="-122"/>
              </a:rPr>
              <a:t>。</a:t>
            </a:r>
          </a:p>
          <a:p>
            <a:pPr>
              <a:lnSpc>
                <a:spcPct val="220000"/>
              </a:lnSpc>
            </a:pPr>
            <a:r>
              <a:rPr lang="zh-CN" altLang="en-US" sz="1100" b="1" dirty="0">
                <a:latin typeface="微软雅黑" panose="020B0503020204020204" pitchFamily="34" charset="-122"/>
                <a:ea typeface="微软雅黑" panose="020B0503020204020204" pitchFamily="34" charset="-122"/>
              </a:rPr>
              <a:t>（</a:t>
            </a:r>
            <a:r>
              <a:rPr lang="en-US" altLang="zh-CN" sz="1100" b="1" dirty="0">
                <a:latin typeface="微软雅黑" panose="020B0503020204020204" pitchFamily="34" charset="-122"/>
                <a:ea typeface="微软雅黑" panose="020B0503020204020204" pitchFamily="34" charset="-122"/>
              </a:rPr>
              <a:t>3</a:t>
            </a:r>
            <a:r>
              <a:rPr lang="zh-CN" altLang="en-US" sz="1100" b="1" dirty="0">
                <a:latin typeface="微软雅黑" panose="020B0503020204020204" pitchFamily="34" charset="-122"/>
                <a:ea typeface="微软雅黑" panose="020B0503020204020204" pitchFamily="34" charset="-122"/>
              </a:rPr>
              <a:t>）生成模糊测试用例</a:t>
            </a:r>
            <a:r>
              <a:rPr lang="zh-CN" altLang="en-US" sz="1100" dirty="0">
                <a:latin typeface="微软雅黑" panose="020B0503020204020204" pitchFamily="34" charset="-122"/>
                <a:ea typeface="微软雅黑" panose="020B0503020204020204" pitchFamily="34" charset="-122"/>
              </a:rPr>
              <a:t>：使用Fuzzing工具来自动发送HTTP请求，并在每个请求中注入随机的数据和异常情况，如无效的字符、格式错误、长度错误等等。</a:t>
            </a:r>
          </a:p>
          <a:p>
            <a:pPr>
              <a:lnSpc>
                <a:spcPct val="220000"/>
              </a:lnSpc>
            </a:pPr>
            <a:r>
              <a:rPr lang="zh-CN" altLang="en-US" sz="1100" b="1" dirty="0">
                <a:latin typeface="微软雅黑" panose="020B0503020204020204" pitchFamily="34" charset="-122"/>
                <a:ea typeface="微软雅黑" panose="020B0503020204020204" pitchFamily="34" charset="-122"/>
              </a:rPr>
              <a:t>（</a:t>
            </a:r>
            <a:r>
              <a:rPr lang="en-US" altLang="zh-CN" sz="1100" b="1" dirty="0">
                <a:latin typeface="微软雅黑" panose="020B0503020204020204" pitchFamily="34" charset="-122"/>
                <a:ea typeface="微软雅黑" panose="020B0503020204020204" pitchFamily="34" charset="-122"/>
              </a:rPr>
              <a:t>4</a:t>
            </a:r>
            <a:r>
              <a:rPr lang="zh-CN" altLang="en-US" sz="1100" b="1" dirty="0">
                <a:latin typeface="微软雅黑" panose="020B0503020204020204" pitchFamily="34" charset="-122"/>
                <a:ea typeface="微软雅黑" panose="020B0503020204020204" pitchFamily="34" charset="-122"/>
              </a:rPr>
              <a:t>）监视执行并发现异常</a:t>
            </a:r>
            <a:r>
              <a:rPr lang="zh-CN" altLang="en-US" sz="1100" dirty="0">
                <a:latin typeface="微软雅黑" panose="020B0503020204020204" pitchFamily="34" charset="-122"/>
                <a:ea typeface="微软雅黑" panose="020B0503020204020204" pitchFamily="34" charset="-122"/>
              </a:rPr>
              <a:t>：使用Fuzzing工具来自动监视目标服务器的响应，并记录任何异常情况。</a:t>
            </a:r>
          </a:p>
          <a:p>
            <a:pPr>
              <a:lnSpc>
                <a:spcPct val="220000"/>
              </a:lnSpc>
            </a:pPr>
            <a:r>
              <a:rPr lang="zh-CN" altLang="en-US" sz="1100" b="1" dirty="0">
                <a:latin typeface="微软雅黑" panose="020B0503020204020204" pitchFamily="34" charset="-122"/>
                <a:ea typeface="微软雅黑" panose="020B0503020204020204" pitchFamily="34" charset="-122"/>
              </a:rPr>
              <a:t>（</a:t>
            </a:r>
            <a:r>
              <a:rPr lang="en-US" altLang="zh-CN" sz="1100" b="1" dirty="0">
                <a:latin typeface="微软雅黑" panose="020B0503020204020204" pitchFamily="34" charset="-122"/>
                <a:ea typeface="微软雅黑" panose="020B0503020204020204" pitchFamily="34" charset="-122"/>
              </a:rPr>
              <a:t>5</a:t>
            </a:r>
            <a:r>
              <a:rPr lang="zh-CN" altLang="en-US" sz="1100" b="1" dirty="0">
                <a:latin typeface="微软雅黑" panose="020B0503020204020204" pitchFamily="34" charset="-122"/>
                <a:ea typeface="微软雅黑" panose="020B0503020204020204" pitchFamily="34" charset="-122"/>
              </a:rPr>
              <a:t>）确定漏洞的可利用性</a:t>
            </a:r>
            <a:r>
              <a:rPr lang="zh-CN" altLang="en-US" sz="1100" dirty="0">
                <a:latin typeface="微软雅黑" panose="020B0503020204020204" pitchFamily="34" charset="-122"/>
                <a:ea typeface="微软雅黑" panose="020B0503020204020204" pitchFamily="34" charset="-122"/>
              </a:rPr>
              <a:t>：使用调试器和漏洞分析工具来分析服务器的崩溃和异常，并确定它们是否与漏洞相关。如果是，进一步测试和利用这些漏洞来获取更多的信息或访问服务器的敏感数据。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4019049"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基于二进制码的动态漏洞分析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5"/>
          <a:stretch>
            <a:fillRect/>
          </a:stretch>
        </p:blipFill>
        <p:spPr>
          <a:xfrm>
            <a:off x="7244080" y="0"/>
            <a:ext cx="1762125" cy="664845"/>
          </a:xfrm>
          <a:prstGeom prst="rect">
            <a:avLst/>
          </a:prstGeom>
        </p:spPr>
      </p:pic>
      <p:graphicFrame>
        <p:nvGraphicFramePr>
          <p:cNvPr id="4" name="表格 3"/>
          <p:cNvGraphicFramePr>
            <a:graphicFrameLocks noGrp="1"/>
          </p:cNvGraphicFramePr>
          <p:nvPr>
            <p:custDataLst>
              <p:tags r:id="rId2"/>
            </p:custDataLst>
          </p:nvPr>
        </p:nvGraphicFramePr>
        <p:xfrm>
          <a:off x="562610" y="1023620"/>
          <a:ext cx="8065770" cy="3204845"/>
        </p:xfrm>
        <a:graphic>
          <a:graphicData uri="http://schemas.openxmlformats.org/drawingml/2006/table">
            <a:tbl>
              <a:tblPr firstRow="1" bandRow="1">
                <a:tableStyleId>{ED083AE6-46FA-4A59-8FB0-9F97EB10719F}</a:tableStyleId>
              </a:tblPr>
              <a:tblGrid>
                <a:gridCol w="2201545">
                  <a:extLst>
                    <a:ext uri="{9D8B030D-6E8A-4147-A177-3AD203B41FA5}">
                      <a16:colId xmlns:a16="http://schemas.microsoft.com/office/drawing/2014/main" val="20000"/>
                    </a:ext>
                  </a:extLst>
                </a:gridCol>
                <a:gridCol w="3311525">
                  <a:extLst>
                    <a:ext uri="{9D8B030D-6E8A-4147-A177-3AD203B41FA5}">
                      <a16:colId xmlns:a16="http://schemas.microsoft.com/office/drawing/2014/main" val="20001"/>
                    </a:ext>
                  </a:extLst>
                </a:gridCol>
                <a:gridCol w="2552700">
                  <a:extLst>
                    <a:ext uri="{9D8B030D-6E8A-4147-A177-3AD203B41FA5}">
                      <a16:colId xmlns:a16="http://schemas.microsoft.com/office/drawing/2014/main" val="20002"/>
                    </a:ext>
                  </a:extLst>
                </a:gridCol>
              </a:tblGrid>
              <a:tr h="448310">
                <a:tc gridSpan="3">
                  <a:txBody>
                    <a:bodyPr/>
                    <a:lstStyle/>
                    <a:p>
                      <a:pPr algn="ctr" fontAlgn="auto">
                        <a:lnSpc>
                          <a:spcPct val="120000"/>
                        </a:lnSpc>
                      </a:pPr>
                      <a:r>
                        <a:rPr lang="zh-CN" altLang="en-US" sz="1700">
                          <a:solidFill>
                            <a:srgbClr val="FF0000"/>
                          </a:solidFill>
                          <a:sym typeface="+mn-ea"/>
                        </a:rPr>
                        <a:t>常用的模糊测试工具</a:t>
                      </a:r>
                      <a:endParaRPr lang="zh-CN" altLang="en-US" sz="1700" b="1" spc="130" dirty="0">
                        <a:solidFill>
                          <a:schemeClr val="accent1">
                            <a:lumMod val="50000"/>
                          </a:schemeClr>
                        </a:solidFill>
                        <a:uFillTx/>
                        <a:latin typeface="Arial" panose="020B0604020202020204" pitchFamily="34" charset="0"/>
                        <a:ea typeface="方正兰亭粗黑_GBK" panose="02000000000000000000" pitchFamily="2" charset="-122"/>
                      </a:endParaRPr>
                    </a:p>
                  </a:txBody>
                  <a:tcPr marL="88900" marR="88900" marT="47625" marB="47625"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p>
                  </a:txBody>
                  <a:tcPr marL="108192" marR="108192" marT="54096" marB="54096" anchor="ctr">
                    <a:lnL w="12700" cap="flat" cmpd="sng" algn="ctr">
                      <a:solidFill>
                        <a:schemeClr val="accent4">
                          <a:lumMod val="75000"/>
                        </a:schemeClr>
                      </a:solidFill>
                      <a:prstDash val="solid"/>
                      <a:round/>
                      <a:headEnd type="none" w="med" len="med"/>
                      <a:tailEnd type="none" w="med" len="med"/>
                    </a:lnL>
                    <a:lnR w="12700" cap="flat" cmpd="sng" algn="ctr">
                      <a:solidFill>
                        <a:schemeClr val="accent4">
                          <a:lumMod val="75000"/>
                        </a:schemeClr>
                      </a:solid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zh-CN"/>
                    </a:p>
                  </a:txBody>
                  <a:tcPr marL="108192" marR="108192" marT="54096" marB="54096" anchor="ctr">
                    <a:lnL w="12700" cap="flat" cmpd="sng" algn="ctr">
                      <a:solidFill>
                        <a:schemeClr val="accent4">
                          <a:lumMod val="75000"/>
                        </a:schemeClr>
                      </a:solidFill>
                      <a:prstDash val="solid"/>
                      <a:round/>
                      <a:headEnd type="none" w="med" len="med"/>
                      <a:tailEnd type="none" w="med" len="med"/>
                    </a:lnL>
                    <a:lnR w="12700" cap="flat" cmpd="sng" algn="ctr">
                      <a:solidFill>
                        <a:schemeClr val="accent4">
                          <a:lumMod val="75000"/>
                        </a:schemeClr>
                      </a:solid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0000"/>
                  </a:ext>
                </a:extLst>
              </a:tr>
              <a:tr h="533400">
                <a:tc>
                  <a:txBody>
                    <a:bodyPr/>
                    <a:lstStyle/>
                    <a:p>
                      <a:pPr algn="ctr" fontAlgn="auto">
                        <a:lnSpc>
                          <a:spcPct val="120000"/>
                        </a:lnSpc>
                      </a:pPr>
                      <a:r>
                        <a:rPr lang="zh-CN" altLang="en-US" sz="1200" b="1" spc="120" dirty="0">
                          <a:solidFill>
                            <a:schemeClr val="tx1"/>
                          </a:solidFill>
                          <a:uFillTx/>
                          <a:latin typeface="Arial" panose="020B0604020202020204" pitchFamily="34" charset="0"/>
                          <a:ea typeface="方正兰亭粗黑_GBK" panose="02000000000000000000" pitchFamily="2" charset="-122"/>
                        </a:rPr>
                        <a:t>类型</a:t>
                      </a:r>
                    </a:p>
                  </a:txBody>
                  <a:tcPr marL="88900" marR="88900" marT="47625" marB="47625"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auto">
                        <a:lnSpc>
                          <a:spcPct val="120000"/>
                        </a:lnSpc>
                      </a:pPr>
                      <a:r>
                        <a:rPr lang="zh-CN" altLang="en-US" sz="1200" b="1" spc="120" dirty="0">
                          <a:solidFill>
                            <a:schemeClr val="tx1"/>
                          </a:solidFill>
                          <a:uFillTx/>
                          <a:latin typeface="Arial" panose="020B0604020202020204" pitchFamily="34" charset="0"/>
                          <a:ea typeface="方正兰亭粗黑_GBK" panose="02000000000000000000" pitchFamily="2" charset="-122"/>
                        </a:rPr>
                        <a:t>定义</a:t>
                      </a: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auto">
                        <a:lnSpc>
                          <a:spcPct val="120000"/>
                        </a:lnSpc>
                      </a:pPr>
                      <a:r>
                        <a:rPr lang="zh-CN" altLang="en-US" sz="1200" b="1" spc="120" dirty="0">
                          <a:solidFill>
                            <a:schemeClr val="tx1"/>
                          </a:solidFill>
                          <a:uFillTx/>
                          <a:latin typeface="Arial" panose="020B0604020202020204" pitchFamily="34" charset="0"/>
                          <a:ea typeface="方正兰亭粗黑_GBK" panose="02000000000000000000" pitchFamily="2" charset="-122"/>
                        </a:rPr>
                        <a:t>典型工具</a:t>
                      </a:r>
                    </a:p>
                  </a:txBody>
                  <a:tcPr marL="88900" marR="88900" marT="47625" marB="47625" anchor="ctr">
                    <a:lnL w="952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05460">
                <a:tc>
                  <a:txBody>
                    <a:bodyPr/>
                    <a:lstStyle/>
                    <a:p>
                      <a:pPr algn="ctr" fontAlgn="auto">
                        <a:lnSpc>
                          <a:spcPct val="120000"/>
                        </a:lnSpc>
                      </a:pPr>
                      <a:r>
                        <a:rPr lang="zh-CN" altLang="en-US" sz="1000" b="0" spc="120" dirty="0">
                          <a:solidFill>
                            <a:schemeClr val="tx1"/>
                          </a:solidFill>
                          <a:uFillTx/>
                          <a:latin typeface="Arial" panose="020B0604020202020204" pitchFamily="34" charset="0"/>
                          <a:ea typeface="方正兰亭粗黑_GBK" panose="02000000000000000000" pitchFamily="2" charset="-122"/>
                        </a:rPr>
                        <a:t>通用测试工具</a:t>
                      </a:r>
                    </a:p>
                  </a:txBody>
                  <a:tcPr marL="88900" marR="88900" marT="47625" marB="47625"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zh-CN" altLang="en-US" sz="1100" b="0" spc="60" dirty="0">
                          <a:solidFill>
                            <a:schemeClr val="tx1"/>
                          </a:solidFill>
                          <a:uFillTx/>
                          <a:latin typeface="Arial" panose="020B0604020202020204" pitchFamily="34" charset="0"/>
                          <a:ea typeface="方正兰亭粗黑_GBK" panose="02000000000000000000" pitchFamily="2" charset="-122"/>
                          <a:cs typeface="黑体" panose="02010609060101010101" charset="-122"/>
                        </a:rPr>
                        <a:t>Peach Fuzzer</a:t>
                      </a:r>
                    </a:p>
                  </a:txBody>
                  <a:tcPr marL="88900" marR="88900" marT="47625" marB="47625" anchor="ctr">
                    <a:lnL w="952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p>
                  </a:txBody>
                  <a:tcPr marL="88900" marR="88900" marT="47625" marB="47625" anchor="ctr">
                    <a:lnL w="952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71170">
                <a:tc>
                  <a:txBody>
                    <a:bodyPr/>
                    <a:lstStyle/>
                    <a:p>
                      <a:pPr algn="ctr" fontAlgn="auto">
                        <a:lnSpc>
                          <a:spcPct val="120000"/>
                        </a:lnSpc>
                      </a:pPr>
                      <a:r>
                        <a:rPr lang="zh-CN" altLang="en-US" sz="1000" b="0" spc="120" dirty="0">
                          <a:solidFill>
                            <a:schemeClr val="tx1"/>
                          </a:solidFill>
                          <a:uFillTx/>
                          <a:latin typeface="Arial" panose="020B0604020202020204" pitchFamily="34" charset="0"/>
                          <a:ea typeface="方正兰亭粗黑_GBK" panose="02000000000000000000" pitchFamily="2" charset="-122"/>
                        </a:rPr>
                        <a:t>针对文件格式的测试工具</a:t>
                      </a:r>
                    </a:p>
                  </a:txBody>
                  <a:tcPr marL="88900" marR="88900" marT="47625" marB="47625"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100" b="0" spc="60" dirty="0">
                          <a:solidFill>
                            <a:schemeClr val="tx1"/>
                          </a:solidFill>
                          <a:uFillTx/>
                          <a:latin typeface="Arial" panose="020B0604020202020204" pitchFamily="34" charset="0"/>
                          <a:ea typeface="方正兰亭粗黑_GBK" panose="02000000000000000000" pitchFamily="2" charset="-122"/>
                          <a:cs typeface="黑体" panose="02010609060101010101" charset="-122"/>
                        </a:rPr>
                        <a:t>专门用于对不同类型文件进行模糊测试的工具</a:t>
                      </a: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pPr>
                      <a:r>
                        <a:rPr lang="zh-CN" altLang="en-US" sz="1000" b="0" spc="60" dirty="0">
                          <a:solidFill>
                            <a:schemeClr val="tx1"/>
                          </a:solidFill>
                          <a:uFillTx/>
                          <a:latin typeface="Arial" panose="020B0604020202020204" pitchFamily="34" charset="0"/>
                          <a:ea typeface="方正兰亭粗黑_GBK" panose="02000000000000000000" pitchFamily="2" charset="-122"/>
                        </a:rPr>
                        <a:t>Domato、AFLSmart、Sulley、</a:t>
                      </a:r>
                    </a:p>
                    <a:p>
                      <a:pPr algn="ctr">
                        <a:lnSpc>
                          <a:spcPct val="110000"/>
                        </a:lnSpc>
                      </a:pPr>
                      <a:r>
                        <a:rPr lang="zh-CN" altLang="en-US" sz="1000" b="0" spc="60" dirty="0">
                          <a:solidFill>
                            <a:schemeClr val="tx1"/>
                          </a:solidFill>
                          <a:uFillTx/>
                          <a:latin typeface="Arial" panose="020B0604020202020204" pitchFamily="34" charset="0"/>
                          <a:ea typeface="方正兰亭粗黑_GBK" panose="02000000000000000000" pitchFamily="2" charset="-122"/>
                        </a:rPr>
                        <a:t>Peach Fuzzer</a:t>
                      </a:r>
                    </a:p>
                  </a:txBody>
                  <a:tcPr marL="88900" marR="88900" marT="47625" marB="47625" anchor="ctr">
                    <a:lnL w="952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01980">
                <a:tc>
                  <a:txBody>
                    <a:bodyPr/>
                    <a:lstStyle/>
                    <a:p>
                      <a:pPr algn="ctr" fontAlgn="auto">
                        <a:lnSpc>
                          <a:spcPct val="120000"/>
                        </a:lnSpc>
                      </a:pPr>
                      <a:r>
                        <a:rPr lang="en-US" altLang="zh-CN" sz="1000" spc="120" dirty="0">
                          <a:solidFill>
                            <a:schemeClr val="tx1"/>
                          </a:solidFill>
                          <a:uFillTx/>
                          <a:latin typeface="Arial" panose="020B0604020202020204" pitchFamily="34" charset="0"/>
                          <a:ea typeface="方正兰亭粗黑_GBK" panose="02000000000000000000" pitchFamily="2" charset="-122"/>
                        </a:rPr>
                        <a:t>针对协议的测试工具</a:t>
                      </a:r>
                    </a:p>
                  </a:txBody>
                  <a:tcPr marL="88900" marR="88900" marT="47625" marB="47625"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100" b="0" spc="60" dirty="0">
                          <a:solidFill>
                            <a:schemeClr val="tx1"/>
                          </a:solidFill>
                          <a:uFillTx/>
                          <a:latin typeface="Arial" panose="020B0604020202020204" pitchFamily="34" charset="0"/>
                          <a:ea typeface="方正兰亭粗黑_GBK" panose="02000000000000000000" pitchFamily="2" charset="-122"/>
                          <a:cs typeface="黑体" panose="02010609060101010101" charset="-122"/>
                        </a:rPr>
                        <a:t>专</a:t>
                      </a:r>
                      <a:r>
                        <a:rPr lang="en-US" altLang="zh-CN" sz="1100" b="0" spc="60" dirty="0">
                          <a:solidFill>
                            <a:schemeClr val="tx1"/>
                          </a:solidFill>
                          <a:uFillTx/>
                          <a:latin typeface="Arial" panose="020B0604020202020204" pitchFamily="34" charset="0"/>
                          <a:ea typeface="方正兰亭粗黑_GBK" panose="02000000000000000000" pitchFamily="2" charset="-122"/>
                          <a:cs typeface="黑体" panose="02010609060101010101" charset="-122"/>
                        </a:rPr>
                        <a:t>门用于对网络协议进行测试的工具</a:t>
                      </a: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pPr>
                      <a:r>
                        <a:rPr lang="zh-CN" altLang="en-US" sz="1000" b="0" spc="60" dirty="0">
                          <a:solidFill>
                            <a:schemeClr val="tx1"/>
                          </a:solidFill>
                          <a:uFillTx/>
                          <a:latin typeface="Arial" panose="020B0604020202020204" pitchFamily="34" charset="0"/>
                          <a:ea typeface="方正兰亭粗黑_GBK" panose="02000000000000000000" pitchFamily="2" charset="-122"/>
                        </a:rPr>
                        <a:t>AFLnet、AutoFuzz、SPIKE、</a:t>
                      </a:r>
                    </a:p>
                    <a:p>
                      <a:pPr algn="ctr">
                        <a:lnSpc>
                          <a:spcPct val="110000"/>
                        </a:lnSpc>
                      </a:pPr>
                      <a:r>
                        <a:rPr lang="zh-CN" altLang="en-US" sz="1000" spc="60" dirty="0">
                          <a:uFillTx/>
                          <a:latin typeface="Arial" panose="020B0604020202020204" pitchFamily="34" charset="0"/>
                          <a:ea typeface="方正兰亭粗黑_GBK" panose="02000000000000000000" pitchFamily="2" charset="-122"/>
                          <a:cs typeface="黑体" panose="02010609060101010101" charset="-122"/>
                          <a:sym typeface="+mn-ea"/>
                        </a:rPr>
                        <a:t>Peach Fuzzer</a:t>
                      </a:r>
                      <a:endParaRPr lang="zh-CN" altLang="en-US" sz="1000" b="0" spc="60" dirty="0">
                        <a:solidFill>
                          <a:schemeClr val="tx1"/>
                        </a:solidFill>
                        <a:uFillTx/>
                        <a:latin typeface="Arial" panose="020B0604020202020204" pitchFamily="34" charset="0"/>
                        <a:ea typeface="方正兰亭粗黑_GBK" panose="02000000000000000000" pitchFamily="2" charset="-122"/>
                        <a:cs typeface="黑体" panose="02010609060101010101" charset="-122"/>
                      </a:endParaRPr>
                    </a:p>
                    <a:p>
                      <a:pPr algn="ctr"/>
                      <a:endParaRPr lang="zh-CN" altLang="en-US" sz="1000" b="0" spc="60" dirty="0">
                        <a:solidFill>
                          <a:schemeClr val="tx1"/>
                        </a:solidFill>
                        <a:uFillTx/>
                        <a:latin typeface="Arial" panose="020B0604020202020204" pitchFamily="34" charset="0"/>
                        <a:ea typeface="方正兰亭粗黑_GBK" panose="02000000000000000000" pitchFamily="2" charset="-122"/>
                      </a:endParaRPr>
                    </a:p>
                  </a:txBody>
                  <a:tcPr marL="88900" marR="88900" marT="47625" marB="47625" anchor="ctr">
                    <a:lnL w="952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44525">
                <a:tc>
                  <a:txBody>
                    <a:bodyPr/>
                    <a:lstStyle/>
                    <a:p>
                      <a:pPr algn="ctr" fontAlgn="auto">
                        <a:lnSpc>
                          <a:spcPct val="120000"/>
                        </a:lnSpc>
                        <a:buNone/>
                      </a:pPr>
                      <a:r>
                        <a:rPr lang="en-US" altLang="zh-CN" sz="1000" b="0" spc="120" dirty="0">
                          <a:solidFill>
                            <a:schemeClr val="tx1"/>
                          </a:solidFill>
                          <a:uFillTx/>
                          <a:latin typeface="Arial" panose="020B0604020202020204" pitchFamily="34" charset="0"/>
                          <a:ea typeface="方正兰亭粗黑_GBK" panose="02000000000000000000" pitchFamily="2" charset="-122"/>
                        </a:rPr>
                        <a:t>针对操作系统内核的测试工具</a:t>
                      </a:r>
                    </a:p>
                  </a:txBody>
                  <a:tcPr marL="88900" marR="88900" marT="47625" marB="47625"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100" b="0" spc="60" dirty="0">
                          <a:solidFill>
                            <a:schemeClr val="tx1"/>
                          </a:solidFill>
                          <a:uFillTx/>
                          <a:latin typeface="Arial" panose="020B0604020202020204" pitchFamily="34" charset="0"/>
                          <a:ea typeface="方正兰亭粗黑_GBK" panose="02000000000000000000" pitchFamily="2" charset="-122"/>
                          <a:cs typeface="黑体" panose="02010609060101010101" charset="-122"/>
                        </a:rPr>
                        <a:t>对操作系统内核进行测试的工具以测试操作系统内核的稳定性、可靠性、安全性等方面的表现。</a:t>
                      </a: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buNone/>
                      </a:pPr>
                      <a:r>
                        <a:rPr lang="zh-CN" altLang="en-US" sz="1000" b="0" spc="60" dirty="0">
                          <a:solidFill>
                            <a:schemeClr val="tx1"/>
                          </a:solidFill>
                          <a:uFillTx/>
                          <a:latin typeface="Arial" panose="020B0604020202020204" pitchFamily="34" charset="0"/>
                          <a:ea typeface="方正兰亭粗黑_GBK" panose="02000000000000000000" pitchFamily="2" charset="-122"/>
                        </a:rPr>
                        <a:t>honggfuzz、libFuzzer、stress-ng、stress、mprimeKernelFuzz</a:t>
                      </a:r>
                    </a:p>
                  </a:txBody>
                  <a:tcPr marL="88900" marR="88900" marT="47625" marB="47625" anchor="ctr">
                    <a:lnL w="952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8"/>
          <p:cNvSpPr txBox="1"/>
          <p:nvPr/>
        </p:nvSpPr>
        <p:spPr>
          <a:xfrm>
            <a:off x="908957" y="206330"/>
            <a:ext cx="4990469"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基于二进制码的动态漏洞分析</a:t>
            </a:r>
            <a:r>
              <a:rPr lang="en-US" altLang="zh-CN" sz="2000" spc="300" dirty="0">
                <a:latin typeface="微软雅黑" panose="020B0503020204020204" pitchFamily="34" charset="-122"/>
                <a:ea typeface="微软雅黑" panose="020B0503020204020204" pitchFamily="34" charset="-122"/>
              </a:rPr>
              <a:t>—</a:t>
            </a:r>
            <a:r>
              <a:rPr lang="zh-CN" altLang="en-US" sz="2000" spc="300" dirty="0">
                <a:latin typeface="微软雅黑" panose="020B0503020204020204" pitchFamily="34" charset="-122"/>
                <a:ea typeface="微软雅黑" panose="020B0503020204020204" pitchFamily="34" charset="-122"/>
              </a:rPr>
              <a:t>实例</a:t>
            </a:r>
          </a:p>
        </p:txBody>
      </p:sp>
      <p:pic>
        <p:nvPicPr>
          <p:cNvPr id="26" name="图片 25" descr="暨大3"/>
          <p:cNvPicPr>
            <a:picLocks noChangeAspect="1"/>
          </p:cNvPicPr>
          <p:nvPr/>
        </p:nvPicPr>
        <p:blipFill>
          <a:blip r:embed="rId3"/>
          <a:stretch>
            <a:fillRect/>
          </a:stretch>
        </p:blipFill>
        <p:spPr>
          <a:xfrm>
            <a:off x="7244080" y="0"/>
            <a:ext cx="1762125" cy="664845"/>
          </a:xfrm>
          <a:prstGeom prst="rect">
            <a:avLst/>
          </a:prstGeom>
        </p:spPr>
      </p:pic>
      <p:sp>
        <p:nvSpPr>
          <p:cNvPr id="2" name="文本框 1">
            <a:extLst>
              <a:ext uri="{FF2B5EF4-FFF2-40B4-BE49-F238E27FC236}">
                <a16:creationId xmlns:a16="http://schemas.microsoft.com/office/drawing/2014/main" id="{F52BAEC4-EE5E-19C9-97B0-D972E89C08D4}"/>
              </a:ext>
            </a:extLst>
          </p:cNvPr>
          <p:cNvSpPr txBox="1"/>
          <p:nvPr/>
        </p:nvSpPr>
        <p:spPr>
          <a:xfrm>
            <a:off x="784267" y="773387"/>
            <a:ext cx="7452105" cy="916533"/>
          </a:xfrm>
          <a:prstGeom prst="rect">
            <a:avLst/>
          </a:prstGeom>
          <a:noFill/>
        </p:spPr>
        <p:txBody>
          <a:bodyPr wrap="square" rtlCol="0">
            <a:spAutoFit/>
          </a:bodyPr>
          <a:lstStyle/>
          <a:p>
            <a:pPr>
              <a:lnSpc>
                <a:spcPct val="150000"/>
              </a:lnSpc>
            </a:pPr>
            <a:r>
              <a:rPr lang="en-US" altLang="zh-CN" sz="1400" dirty="0">
                <a:latin typeface="微软雅黑" panose="020B0503020204020204" pitchFamily="34" charset="-122"/>
                <a:ea typeface="微软雅黑" panose="020B0503020204020204" pitchFamily="34" charset="-122"/>
              </a:rPr>
              <a:t>8.4.2 </a:t>
            </a:r>
            <a:r>
              <a:rPr lang="zh-CN" altLang="en-US" sz="1400" dirty="0">
                <a:latin typeface="微软雅黑" panose="020B0503020204020204" pitchFamily="34" charset="-122"/>
                <a:ea typeface="微软雅黑" panose="020B0503020204020204" pitchFamily="34" charset="-122"/>
              </a:rPr>
              <a:t>基于模糊测试的二进制码漏洞检测实例</a:t>
            </a:r>
            <a:endParaRPr lang="en-US" altLang="zh-CN" sz="14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实例所用的被测程序是一个专为练习漏洞检测技术而编写的 </a:t>
            </a:r>
            <a:r>
              <a:rPr lang="en-US" altLang="zh-CN" sz="1100" dirty="0">
                <a:latin typeface="微软雅黑" panose="020B0503020204020204" pitchFamily="34" charset="-122"/>
                <a:ea typeface="微软雅黑" panose="020B0503020204020204" pitchFamily="34" charset="-122"/>
              </a:rPr>
              <a:t>Windows </a:t>
            </a:r>
            <a:r>
              <a:rPr lang="zh-CN" altLang="en-US" sz="1100" dirty="0">
                <a:latin typeface="微软雅黑" panose="020B0503020204020204" pitchFamily="34" charset="-122"/>
                <a:ea typeface="微软雅黑" panose="020B0503020204020204" pitchFamily="34" charset="-122"/>
              </a:rPr>
              <a:t>服务器应用程序，即</a:t>
            </a:r>
            <a:r>
              <a:rPr lang="en-US" altLang="zh-CN" sz="1100" dirty="0">
                <a:latin typeface="微软雅黑" panose="020B0503020204020204" pitchFamily="34" charset="-122"/>
                <a:ea typeface="微软雅黑" panose="020B0503020204020204" pitchFamily="34" charset="-122"/>
              </a:rPr>
              <a:t>vulnserver.exe,</a:t>
            </a:r>
            <a:r>
              <a:rPr lang="zh-CN" altLang="en-US" sz="1100" dirty="0">
                <a:latin typeface="微软雅黑" panose="020B0503020204020204" pitchFamily="34" charset="-122"/>
                <a:ea typeface="微软雅黑" panose="020B0503020204020204" pitchFamily="34" charset="-122"/>
              </a:rPr>
              <a:t>它包含一系列可供利用的漏洞。该程序在启动运行后</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等待接收来自客户端的 </a:t>
            </a:r>
            <a:r>
              <a:rPr lang="en-US" altLang="zh-CN" sz="1100" dirty="0">
                <a:latin typeface="微软雅黑" panose="020B0503020204020204" pitchFamily="34" charset="-122"/>
                <a:ea typeface="微软雅黑" panose="020B0503020204020204" pitchFamily="34" charset="-122"/>
              </a:rPr>
              <a:t>TCP </a:t>
            </a:r>
            <a:r>
              <a:rPr lang="zh-CN" altLang="en-US" sz="1100" dirty="0">
                <a:latin typeface="微软雅黑" panose="020B0503020204020204" pitchFamily="34" charset="-122"/>
                <a:ea typeface="微软雅黑" panose="020B0503020204020204" pitchFamily="34" charset="-122"/>
              </a:rPr>
              <a:t>连接</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其运行界面如下图所示。</a:t>
            </a:r>
            <a:endParaRPr lang="zh-CN" altLang="en-US" sz="1200" dirty="0">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BC8A1C2C-B27D-0028-0AFC-A6B138D79B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6615" y="1934113"/>
            <a:ext cx="4807736" cy="1397194"/>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40FEE69F-A7E4-865F-CF40-7103F275F907}"/>
              </a:ext>
            </a:extLst>
          </p:cNvPr>
          <p:cNvSpPr txBox="1"/>
          <p:nvPr/>
        </p:nvSpPr>
        <p:spPr>
          <a:xfrm>
            <a:off x="515257" y="3575501"/>
            <a:ext cx="7770453" cy="1078116"/>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rPr>
              <a:t>        实例所用的模糊测试工具是 </a:t>
            </a:r>
            <a:r>
              <a:rPr lang="en-US" altLang="zh-CN" sz="1100" dirty="0" err="1">
                <a:latin typeface="微软雅黑" panose="020B0503020204020204" pitchFamily="34" charset="-122"/>
                <a:ea typeface="微软雅黑" panose="020B0503020204020204" pitchFamily="34" charset="-122"/>
              </a:rPr>
              <a:t>PeachFuzzer</a:t>
            </a:r>
            <a:r>
              <a:rPr lang="zh-CN" altLang="en-US" sz="1100" dirty="0">
                <a:latin typeface="微软雅黑" panose="020B0503020204020204" pitchFamily="34" charset="-122"/>
                <a:ea typeface="微软雅黑" panose="020B0503020204020204" pitchFamily="34" charset="-122"/>
              </a:rPr>
              <a:t>工具。可以在 </a:t>
            </a:r>
            <a:r>
              <a:rPr lang="en-US" altLang="zh-CN" sz="1100" dirty="0">
                <a:latin typeface="微软雅黑" panose="020B0503020204020204" pitchFamily="34" charset="-122"/>
                <a:ea typeface="微软雅黑" panose="020B0503020204020204" pitchFamily="34" charset="-122"/>
              </a:rPr>
              <a:t>Windows </a:t>
            </a:r>
            <a:r>
              <a:rPr lang="zh-CN" altLang="en-US" sz="1100" dirty="0">
                <a:latin typeface="微软雅黑" panose="020B0503020204020204" pitchFamily="34" charset="-122"/>
                <a:ea typeface="微软雅黑" panose="020B0503020204020204" pitchFamily="34" charset="-122"/>
              </a:rPr>
              <a:t>环境下运行 </a:t>
            </a:r>
            <a:r>
              <a:rPr lang="en-US" altLang="zh-CN" sz="1100" dirty="0" err="1">
                <a:latin typeface="微软雅黑" panose="020B0503020204020204" pitchFamily="34" charset="-122"/>
                <a:ea typeface="微软雅黑" panose="020B0503020204020204" pitchFamily="34" charset="-122"/>
              </a:rPr>
              <a:t>PeachFuzzer</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工具，</a:t>
            </a:r>
            <a:r>
              <a:rPr lang="en-US" altLang="zh-CN" sz="1100" dirty="0" err="1">
                <a:latin typeface="微软雅黑" panose="020B0503020204020204" pitchFamily="34" charset="-122"/>
                <a:ea typeface="微软雅黑" panose="020B0503020204020204" pitchFamily="34" charset="-122"/>
              </a:rPr>
              <a:t>PeachFuzzer</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使用一个</a:t>
            </a:r>
            <a:r>
              <a:rPr lang="en-US" altLang="zh-CN" sz="1100" dirty="0">
                <a:latin typeface="微软雅黑" panose="020B0503020204020204" pitchFamily="34" charset="-122"/>
                <a:ea typeface="微软雅黑" panose="020B0503020204020204" pitchFamily="34" charset="-122"/>
              </a:rPr>
              <a:t>XML</a:t>
            </a:r>
            <a:r>
              <a:rPr lang="zh-CN" altLang="en-US" sz="1100" dirty="0">
                <a:latin typeface="微软雅黑" panose="020B0503020204020204" pitchFamily="34" charset="-122"/>
                <a:ea typeface="微软雅黑" panose="020B0503020204020204" pitchFamily="34" charset="-122"/>
              </a:rPr>
              <a:t>格式的配置文件进行模糊测试的参数配置</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可执行基于生成的模糊测试和基于变异的模糊测试。根据书上的</a:t>
            </a:r>
            <a:r>
              <a:rPr lang="en-US" altLang="zh-CN" sz="1100" dirty="0">
                <a:latin typeface="微软雅黑" panose="020B0503020204020204" pitchFamily="34" charset="-122"/>
                <a:ea typeface="微软雅黑" panose="020B0503020204020204" pitchFamily="34" charset="-122"/>
              </a:rPr>
              <a:t>xml</a:t>
            </a:r>
            <a:r>
              <a:rPr lang="zh-CN" altLang="en-US" sz="1100" dirty="0">
                <a:latin typeface="微软雅黑" panose="020B0503020204020204" pitchFamily="34" charset="-122"/>
                <a:ea typeface="微软雅黑" panose="020B0503020204020204" pitchFamily="34" charset="-122"/>
              </a:rPr>
              <a:t>配置，修改了配置文件</a:t>
            </a:r>
            <a:r>
              <a:rPr lang="en-US" altLang="zh-CN" sz="1100" dirty="0">
                <a:latin typeface="微软雅黑" panose="020B0503020204020204" pitchFamily="34" charset="-122"/>
                <a:ea typeface="微软雅黑" panose="020B0503020204020204" pitchFamily="34" charset="-122"/>
              </a:rPr>
              <a:t>vulnserver_peachpit.xml</a:t>
            </a:r>
            <a:r>
              <a:rPr lang="zh-CN" altLang="en-US" sz="1100" dirty="0">
                <a:latin typeface="微软雅黑" panose="020B0503020204020204" pitchFamily="34" charset="-122"/>
                <a:ea typeface="微软雅黑" panose="020B0503020204020204" pitchFamily="34" charset="-122"/>
              </a:rPr>
              <a:t>的路径以及</a:t>
            </a:r>
            <a:r>
              <a:rPr lang="en-US" altLang="zh-CN" sz="1100" dirty="0" err="1">
                <a:latin typeface="微软雅黑" panose="020B0503020204020204" pitchFamily="34" charset="-122"/>
                <a:ea typeface="微软雅黑" panose="020B0503020204020204" pitchFamily="34" charset="-122"/>
              </a:rPr>
              <a:t>windbg</a:t>
            </a:r>
            <a:r>
              <a:rPr lang="zh-CN" altLang="en-US" sz="1100" dirty="0">
                <a:latin typeface="微软雅黑" panose="020B0503020204020204" pitchFamily="34" charset="-122"/>
                <a:ea typeface="微软雅黑" panose="020B0503020204020204" pitchFamily="34" charset="-122"/>
              </a:rPr>
              <a:t>的路径，</a:t>
            </a:r>
            <a:r>
              <a:rPr lang="en-US" altLang="zh-CN" sz="1100" dirty="0" err="1">
                <a:latin typeface="微软雅黑" panose="020B0503020204020204" pitchFamily="34" charset="-122"/>
                <a:ea typeface="微软雅黑" panose="020B0503020204020204" pitchFamily="34" charset="-122"/>
              </a:rPr>
              <a:t>windbg</a:t>
            </a:r>
            <a:r>
              <a:rPr lang="zh-CN" altLang="en-US" sz="1100" dirty="0">
                <a:latin typeface="微软雅黑" panose="020B0503020204020204" pitchFamily="34" charset="-122"/>
                <a:ea typeface="微软雅黑" panose="020B0503020204020204" pitchFamily="34" charset="-122"/>
              </a:rPr>
              <a:t>需要自己另外下载。基于课本上的模糊测试配置文件，在命令行运行 </a:t>
            </a:r>
            <a:r>
              <a:rPr lang="en-US" altLang="zh-CN" sz="1100" dirty="0" err="1">
                <a:latin typeface="微软雅黑" panose="020B0503020204020204" pitchFamily="34" charset="-122"/>
                <a:ea typeface="微软雅黑" panose="020B0503020204020204" pitchFamily="34" charset="-122"/>
              </a:rPr>
              <a:t>PachFuzzer</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工具，对</a:t>
            </a:r>
            <a:r>
              <a:rPr lang="en-US" altLang="zh-CN" sz="1100" dirty="0">
                <a:latin typeface="微软雅黑" panose="020B0503020204020204" pitchFamily="34" charset="-122"/>
                <a:ea typeface="微软雅黑" panose="020B0503020204020204" pitchFamily="34" charset="-122"/>
              </a:rPr>
              <a:t>vulnserver.exe </a:t>
            </a:r>
            <a:r>
              <a:rPr lang="zh-CN" altLang="en-US" sz="1100" dirty="0">
                <a:latin typeface="微软雅黑" panose="020B0503020204020204" pitchFamily="34" charset="-122"/>
                <a:ea typeface="微软雅黑" panose="020B0503020204020204" pitchFamily="34" charset="-122"/>
              </a:rPr>
              <a:t>二进制程序执行模糊测试。</a:t>
            </a: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8"/>
          <p:cNvSpPr txBox="1"/>
          <p:nvPr/>
        </p:nvSpPr>
        <p:spPr>
          <a:xfrm>
            <a:off x="908957" y="206330"/>
            <a:ext cx="4990469"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基于二进制码的动态漏洞分析</a:t>
            </a:r>
            <a:r>
              <a:rPr lang="en-US" altLang="zh-CN" sz="2000" spc="300" dirty="0">
                <a:latin typeface="微软雅黑" panose="020B0503020204020204" pitchFamily="34" charset="-122"/>
                <a:ea typeface="微软雅黑" panose="020B0503020204020204" pitchFamily="34" charset="-122"/>
              </a:rPr>
              <a:t>—</a:t>
            </a:r>
            <a:r>
              <a:rPr lang="zh-CN" altLang="en-US" sz="2000" spc="300" dirty="0">
                <a:latin typeface="微软雅黑" panose="020B0503020204020204" pitchFamily="34" charset="-122"/>
                <a:ea typeface="微软雅黑" panose="020B0503020204020204" pitchFamily="34" charset="-122"/>
              </a:rPr>
              <a:t>实例</a:t>
            </a:r>
          </a:p>
        </p:txBody>
      </p:sp>
      <p:pic>
        <p:nvPicPr>
          <p:cNvPr id="26" name="图片 25" descr="暨大3"/>
          <p:cNvPicPr>
            <a:picLocks noChangeAspect="1"/>
          </p:cNvPicPr>
          <p:nvPr/>
        </p:nvPicPr>
        <p:blipFill>
          <a:blip r:embed="rId3"/>
          <a:stretch>
            <a:fillRect/>
          </a:stretch>
        </p:blipFill>
        <p:spPr>
          <a:xfrm>
            <a:off x="7244080" y="0"/>
            <a:ext cx="1762125" cy="664845"/>
          </a:xfrm>
          <a:prstGeom prst="rect">
            <a:avLst/>
          </a:prstGeom>
        </p:spPr>
      </p:pic>
      <p:sp>
        <p:nvSpPr>
          <p:cNvPr id="3" name="文本框 2">
            <a:extLst>
              <a:ext uri="{FF2B5EF4-FFF2-40B4-BE49-F238E27FC236}">
                <a16:creationId xmlns:a16="http://schemas.microsoft.com/office/drawing/2014/main" id="{FB22E347-7EDD-07F7-82A6-4AA5D393F375}"/>
              </a:ext>
            </a:extLst>
          </p:cNvPr>
          <p:cNvSpPr txBox="1"/>
          <p:nvPr/>
        </p:nvSpPr>
        <p:spPr>
          <a:xfrm>
            <a:off x="5172904" y="893582"/>
            <a:ext cx="3455839" cy="1839863"/>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rPr>
              <a:t>        在此模糊测试的迭代过程中</a:t>
            </a:r>
            <a:r>
              <a:rPr lang="en-US" altLang="zh-CN" sz="1100" dirty="0">
                <a:latin typeface="微软雅黑" panose="020B0503020204020204" pitchFamily="34" charset="-122"/>
                <a:ea typeface="微软雅黑" panose="020B0503020204020204" pitchFamily="34" charset="-122"/>
              </a:rPr>
              <a:t>,</a:t>
            </a:r>
            <a:r>
              <a:rPr lang="en-US" altLang="zh-CN" sz="1100" dirty="0" err="1">
                <a:latin typeface="微软雅黑" panose="020B0503020204020204" pitchFamily="34" charset="-122"/>
                <a:ea typeface="微软雅黑" panose="020B0503020204020204" pitchFamily="34" charset="-122"/>
              </a:rPr>
              <a:t>PeachFuzzer</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不断生成各种测试数据并尝试攻击被测的 </a:t>
            </a:r>
            <a:r>
              <a:rPr lang="en-US" altLang="zh-CN" sz="1100" dirty="0">
                <a:latin typeface="微软雅黑" panose="020B0503020204020204" pitchFamily="34" charset="-122"/>
                <a:ea typeface="微软雅黑" panose="020B0503020204020204" pitchFamily="34" charset="-122"/>
              </a:rPr>
              <a:t>vulnserver.exe </a:t>
            </a:r>
            <a:r>
              <a:rPr lang="zh-CN" altLang="en-US" sz="1100" dirty="0">
                <a:latin typeface="微软雅黑" panose="020B0503020204020204" pitchFamily="34" charset="-122"/>
                <a:ea typeface="微软雅黑" panose="020B0503020204020204" pitchFamily="34" charset="-122"/>
              </a:rPr>
              <a:t>程序。</a:t>
            </a:r>
            <a:endParaRPr lang="en-US" altLang="zh-CN" sz="1100" dirty="0">
              <a:latin typeface="微软雅黑" panose="020B0503020204020204" pitchFamily="34" charset="-122"/>
              <a:ea typeface="微软雅黑" panose="020B0503020204020204" pitchFamily="34" charset="-122"/>
            </a:endParaRPr>
          </a:p>
          <a:p>
            <a:pPr>
              <a:lnSpc>
                <a:spcPct val="150000"/>
              </a:lnSpc>
            </a:pP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如图所示，在第</a:t>
            </a:r>
            <a:r>
              <a:rPr lang="en-US" altLang="zh-CN" sz="1100" dirty="0">
                <a:latin typeface="微软雅黑" panose="020B0503020204020204" pitchFamily="34" charset="-122"/>
                <a:ea typeface="微软雅黑" panose="020B0503020204020204" pitchFamily="34" charset="-122"/>
              </a:rPr>
              <a:t>217</a:t>
            </a:r>
            <a:r>
              <a:rPr lang="zh-CN" altLang="en-US" sz="1100" dirty="0">
                <a:latin typeface="微软雅黑" panose="020B0503020204020204" pitchFamily="34" charset="-122"/>
                <a:ea typeface="微软雅黑" panose="020B0503020204020204" pitchFamily="34" charset="-122"/>
              </a:rPr>
              <a:t>次选代测试时</a:t>
            </a:r>
            <a:r>
              <a:rPr lang="en-US" altLang="zh-CN" sz="1100" dirty="0">
                <a:latin typeface="微软雅黑" panose="020B0503020204020204" pitchFamily="34" charset="-122"/>
                <a:ea typeface="微软雅黑" panose="020B0503020204020204" pitchFamily="34" charset="-122"/>
              </a:rPr>
              <a:t>,</a:t>
            </a:r>
            <a:r>
              <a:rPr lang="en-US" altLang="zh-CN" sz="1100" dirty="0" err="1">
                <a:latin typeface="微软雅黑" panose="020B0503020204020204" pitchFamily="34" charset="-122"/>
                <a:ea typeface="微软雅黑" panose="020B0503020204020204" pitchFamily="34" charset="-122"/>
              </a:rPr>
              <a:t>PeachFuzzer</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通过</a:t>
            </a:r>
            <a:r>
              <a:rPr lang="en-US" altLang="zh-CN" sz="1100" dirty="0" err="1">
                <a:latin typeface="微软雅黑" panose="020B0503020204020204" pitchFamily="34" charset="-122"/>
                <a:ea typeface="微软雅黑" panose="020B0503020204020204" pitchFamily="34" charset="-122"/>
              </a:rPr>
              <a:t>StringMutator</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所生成的测试数据成功地攻击了被测程序</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使得被测程序 </a:t>
            </a:r>
            <a:r>
              <a:rPr lang="en-US" altLang="zh-CN" sz="1100" dirty="0">
                <a:latin typeface="微软雅黑" panose="020B0503020204020204" pitchFamily="34" charset="-122"/>
                <a:ea typeface="微软雅黑" panose="020B0503020204020204" pitchFamily="34" charset="-122"/>
              </a:rPr>
              <a:t>vulnserver.exe</a:t>
            </a:r>
            <a:r>
              <a:rPr lang="zh-CN" altLang="en-US" sz="1100" dirty="0">
                <a:latin typeface="微软雅黑" panose="020B0503020204020204" pitchFamily="34" charset="-122"/>
                <a:ea typeface="微软雅黑" panose="020B0503020204020204" pitchFamily="34" charset="-122"/>
              </a:rPr>
              <a:t>运行崩溃</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其运行窗口被迫自动关闭。</a:t>
            </a:r>
          </a:p>
        </p:txBody>
      </p:sp>
      <p:pic>
        <p:nvPicPr>
          <p:cNvPr id="2050" name="Picture 2">
            <a:extLst>
              <a:ext uri="{FF2B5EF4-FFF2-40B4-BE49-F238E27FC236}">
                <a16:creationId xmlns:a16="http://schemas.microsoft.com/office/drawing/2014/main" id="{42BCDE87-F52A-CB0D-F403-31A194855F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268" y="893582"/>
            <a:ext cx="4200843" cy="4162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7403"/>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0C56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773787"/>
            <a:ext cx="3877985" cy="584775"/>
          </a:xfrm>
          <a:prstGeom prst="rect">
            <a:avLst/>
          </a:prstGeom>
          <a:noFill/>
        </p:spPr>
        <p:txBody>
          <a:bodyPr wrap="none" rtlCol="0">
            <a:spAutoFit/>
          </a:bodyPr>
          <a:lstStyle/>
          <a:p>
            <a:r>
              <a:rPr lang="zh-CN" altLang="en-US" sz="3200" b="1" dirty="0">
                <a:latin typeface="等线" panose="02010600030101010101" pitchFamily="2" charset="-122"/>
                <a:ea typeface="等线" panose="02010600030101010101" pitchFamily="2" charset="-122"/>
              </a:rPr>
              <a:t>自行设计的案例分析</a:t>
            </a:r>
          </a:p>
        </p:txBody>
      </p:sp>
      <p:sp>
        <p:nvSpPr>
          <p:cNvPr id="3" name="TextBox 2"/>
          <p:cNvSpPr txBox="1"/>
          <p:nvPr/>
        </p:nvSpPr>
        <p:spPr>
          <a:xfrm>
            <a:off x="2394866" y="2896649"/>
            <a:ext cx="1241030" cy="307777"/>
          </a:xfrm>
          <a:prstGeom prst="rect">
            <a:avLst/>
          </a:prstGeom>
          <a:noFill/>
        </p:spPr>
        <p:txBody>
          <a:bodyPr wrap="square" lIns="0" tIns="0" rIns="0" bIns="0"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第四部分</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grpSp>
      <p:sp>
        <p:nvSpPr>
          <p:cNvPr id="6" name="TextBox 14">
            <a:extLst>
              <a:ext uri="{FF2B5EF4-FFF2-40B4-BE49-F238E27FC236}">
                <a16:creationId xmlns:a16="http://schemas.microsoft.com/office/drawing/2014/main" id="{FF9700DB-1287-062F-4929-5BA71436DD29}"/>
              </a:ext>
            </a:extLst>
          </p:cNvPr>
          <p:cNvSpPr txBox="1"/>
          <p:nvPr/>
        </p:nvSpPr>
        <p:spPr>
          <a:xfrm>
            <a:off x="4450203" y="2490902"/>
            <a:ext cx="1800493" cy="369332"/>
          </a:xfrm>
          <a:prstGeom prst="rect">
            <a:avLst/>
          </a:prstGeom>
          <a:noFill/>
        </p:spPr>
        <p:txBody>
          <a:bodyPr wrap="none" rtlCol="0">
            <a:spAutoFit/>
          </a:bodyPr>
          <a:lstStyle/>
          <a:p>
            <a:r>
              <a:rPr lang="zh-CN" altLang="en-US" spc="300" dirty="0">
                <a:latin typeface="微软雅黑" panose="020B0503020204020204" pitchFamily="34" charset="-122"/>
                <a:ea typeface="微软雅黑" panose="020B0503020204020204" pitchFamily="34" charset="-122"/>
              </a:rPr>
              <a:t>静态污点分析</a:t>
            </a:r>
          </a:p>
        </p:txBody>
      </p:sp>
      <p:sp>
        <p:nvSpPr>
          <p:cNvPr id="7" name="椭圆 6">
            <a:extLst>
              <a:ext uri="{FF2B5EF4-FFF2-40B4-BE49-F238E27FC236}">
                <a16:creationId xmlns:a16="http://schemas.microsoft.com/office/drawing/2014/main" id="{04212299-CFDD-0F90-2555-5034EC6A2E10}"/>
              </a:ext>
            </a:extLst>
          </p:cNvPr>
          <p:cNvSpPr/>
          <p:nvPr/>
        </p:nvSpPr>
        <p:spPr>
          <a:xfrm>
            <a:off x="4156315" y="2518400"/>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8" name="TextBox 27">
            <a:extLst>
              <a:ext uri="{FF2B5EF4-FFF2-40B4-BE49-F238E27FC236}">
                <a16:creationId xmlns:a16="http://schemas.microsoft.com/office/drawing/2014/main" id="{2F97EA50-4FE5-2D7A-9EF6-95A1098BC5FC}"/>
              </a:ext>
            </a:extLst>
          </p:cNvPr>
          <p:cNvSpPr txBox="1"/>
          <p:nvPr/>
        </p:nvSpPr>
        <p:spPr>
          <a:xfrm>
            <a:off x="4450203" y="2906617"/>
            <a:ext cx="1569660"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动态污点分析</a:t>
            </a:r>
          </a:p>
        </p:txBody>
      </p:sp>
      <p:sp>
        <p:nvSpPr>
          <p:cNvPr id="9" name="椭圆 8">
            <a:extLst>
              <a:ext uri="{FF2B5EF4-FFF2-40B4-BE49-F238E27FC236}">
                <a16:creationId xmlns:a16="http://schemas.microsoft.com/office/drawing/2014/main" id="{5959CEED-18BB-836D-1C1B-FC290937AA1C}"/>
              </a:ext>
            </a:extLst>
          </p:cNvPr>
          <p:cNvSpPr/>
          <p:nvPr/>
        </p:nvSpPr>
        <p:spPr>
          <a:xfrm>
            <a:off x="4156315" y="2929670"/>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2860078"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案例分析</a:t>
            </a:r>
            <a:r>
              <a:rPr lang="en-US" altLang="zh-CN" sz="2000" spc="300" dirty="0">
                <a:latin typeface="微软雅黑" panose="020B0503020204020204" pitchFamily="34" charset="-122"/>
                <a:ea typeface="微软雅黑" panose="020B0503020204020204" pitchFamily="34" charset="-122"/>
              </a:rPr>
              <a:t>—</a:t>
            </a:r>
            <a:r>
              <a:rPr lang="zh-CN" altLang="en-US" sz="2000" spc="300" dirty="0">
                <a:latin typeface="微软雅黑" panose="020B0503020204020204" pitchFamily="34" charset="-122"/>
                <a:ea typeface="微软雅黑" panose="020B0503020204020204" pitchFamily="34" charset="-122"/>
              </a:rPr>
              <a:t>污点分析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graphicFrame>
        <p:nvGraphicFramePr>
          <p:cNvPr id="3" name="图示 2">
            <a:extLst>
              <a:ext uri="{FF2B5EF4-FFF2-40B4-BE49-F238E27FC236}">
                <a16:creationId xmlns:a16="http://schemas.microsoft.com/office/drawing/2014/main" id="{A6A55C07-B5AD-D340-71BF-8CCB1B1F4963}"/>
              </a:ext>
            </a:extLst>
          </p:cNvPr>
          <p:cNvGraphicFramePr/>
          <p:nvPr/>
        </p:nvGraphicFramePr>
        <p:xfrm>
          <a:off x="646880" y="1248229"/>
          <a:ext cx="4544291" cy="269874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文本框 3">
            <a:extLst>
              <a:ext uri="{FF2B5EF4-FFF2-40B4-BE49-F238E27FC236}">
                <a16:creationId xmlns:a16="http://schemas.microsoft.com/office/drawing/2014/main" id="{41F9E5A8-C75C-F8E0-B741-25591B746EE7}"/>
              </a:ext>
            </a:extLst>
          </p:cNvPr>
          <p:cNvSpPr txBox="1"/>
          <p:nvPr/>
        </p:nvSpPr>
        <p:spPr>
          <a:xfrm>
            <a:off x="4324139" y="1617589"/>
            <a:ext cx="3987001" cy="584775"/>
          </a:xfrm>
          <a:prstGeom prst="rect">
            <a:avLst/>
          </a:prstGeom>
          <a:noFill/>
        </p:spPr>
        <p:txBody>
          <a:bodyPr wrap="square" rtlCol="0">
            <a:spAutoFit/>
          </a:bodyPr>
          <a:lstStyle/>
          <a:p>
            <a:r>
              <a:rPr lang="zh-CN" altLang="zh-CN" sz="1600" dirty="0">
                <a:solidFill>
                  <a:srgbClr val="0E223A"/>
                </a:solidFill>
                <a:effectLst/>
                <a:ea typeface="等线" panose="02010600030101010101" pitchFamily="2" charset="-122"/>
                <a:cs typeface="Times New Roman" panose="02020603050405020304" pitchFamily="18" charset="0"/>
              </a:rPr>
              <a:t>不运行程序，而是通过</a:t>
            </a:r>
            <a:r>
              <a:rPr lang="zh-CN" altLang="zh-CN" sz="1600" b="1" dirty="0">
                <a:solidFill>
                  <a:srgbClr val="0E223A"/>
                </a:solidFill>
                <a:effectLst/>
                <a:ea typeface="等线" panose="02010600030101010101" pitchFamily="2" charset="-122"/>
                <a:cs typeface="Times New Roman" panose="02020603050405020304" pitchFamily="18" charset="0"/>
              </a:rPr>
              <a:t>模拟</a:t>
            </a:r>
            <a:r>
              <a:rPr lang="zh-CN" altLang="zh-CN" sz="1600" dirty="0">
                <a:solidFill>
                  <a:srgbClr val="0E223A"/>
                </a:solidFill>
                <a:effectLst/>
                <a:ea typeface="等线" panose="02010600030101010101" pitchFamily="2" charset="-122"/>
                <a:cs typeface="Times New Roman" panose="02020603050405020304" pitchFamily="18" charset="0"/>
              </a:rPr>
              <a:t>程序的执行过程来传播污点标记</a:t>
            </a:r>
            <a:r>
              <a:rPr lang="zh-CN" altLang="en-US" sz="1600" dirty="0">
                <a:solidFill>
                  <a:srgbClr val="0E223A"/>
                </a:solidFill>
                <a:effectLst/>
                <a:ea typeface="等线" panose="02010600030101010101" pitchFamily="2" charset="-122"/>
                <a:cs typeface="Times New Roman" panose="02020603050405020304" pitchFamily="18" charset="0"/>
              </a:rPr>
              <a:t>。</a:t>
            </a:r>
            <a:endParaRPr lang="zh-CN" altLang="en-US" sz="1200" dirty="0">
              <a:solidFill>
                <a:srgbClr val="0E223A"/>
              </a:solidFill>
            </a:endParaRPr>
          </a:p>
        </p:txBody>
      </p:sp>
      <p:sp>
        <p:nvSpPr>
          <p:cNvPr id="5" name="文本框 4">
            <a:extLst>
              <a:ext uri="{FF2B5EF4-FFF2-40B4-BE49-F238E27FC236}">
                <a16:creationId xmlns:a16="http://schemas.microsoft.com/office/drawing/2014/main" id="{57997C6B-5669-F3ED-40A4-1BB5F265C0DB}"/>
              </a:ext>
            </a:extLst>
          </p:cNvPr>
          <p:cNvSpPr txBox="1"/>
          <p:nvPr/>
        </p:nvSpPr>
        <p:spPr>
          <a:xfrm>
            <a:off x="4324139" y="3155108"/>
            <a:ext cx="3987001" cy="338554"/>
          </a:xfrm>
          <a:prstGeom prst="rect">
            <a:avLst/>
          </a:prstGeom>
          <a:noFill/>
        </p:spPr>
        <p:txBody>
          <a:bodyPr wrap="square" rtlCol="0">
            <a:spAutoFit/>
          </a:bodyPr>
          <a:lstStyle/>
          <a:p>
            <a:r>
              <a:rPr lang="zh-CN" altLang="en-US" sz="1600" dirty="0">
                <a:solidFill>
                  <a:srgbClr val="0E223A"/>
                </a:solidFill>
                <a:effectLst/>
                <a:ea typeface="等线" panose="02010600030101010101" pitchFamily="2" charset="-122"/>
                <a:cs typeface="Times New Roman" panose="02020603050405020304" pitchFamily="18" charset="0"/>
              </a:rPr>
              <a:t>运行程序，同时实时传播并检测污点标记。</a:t>
            </a:r>
            <a:endParaRPr lang="zh-CN" altLang="en-US" sz="1200" dirty="0">
              <a:solidFill>
                <a:srgbClr val="0E223A"/>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3449983"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静态污点分析</a:t>
            </a:r>
            <a:r>
              <a:rPr lang="en-US" altLang="zh-CN" sz="2000" spc="300" dirty="0">
                <a:latin typeface="微软雅黑" panose="020B0503020204020204" pitchFamily="34" charset="-122"/>
                <a:ea typeface="微软雅黑" panose="020B0503020204020204" pitchFamily="34" charset="-122"/>
              </a:rPr>
              <a:t>—</a:t>
            </a:r>
            <a:r>
              <a:rPr lang="zh-CN" altLang="en-US" sz="2000" spc="300" dirty="0">
                <a:latin typeface="微软雅黑" panose="020B0503020204020204" pitchFamily="34" charset="-122"/>
                <a:ea typeface="微软雅黑" panose="020B0503020204020204" pitchFamily="34" charset="-122"/>
              </a:rPr>
              <a:t>基本原理</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pic>
        <p:nvPicPr>
          <p:cNvPr id="4" name="图片 3">
            <a:extLst>
              <a:ext uri="{FF2B5EF4-FFF2-40B4-BE49-F238E27FC236}">
                <a16:creationId xmlns:a16="http://schemas.microsoft.com/office/drawing/2014/main" id="{98F23B78-87AB-0756-3FC0-CD3437559753}"/>
              </a:ext>
            </a:extLst>
          </p:cNvPr>
          <p:cNvPicPr>
            <a:picLocks noChangeAspect="1"/>
          </p:cNvPicPr>
          <p:nvPr/>
        </p:nvPicPr>
        <p:blipFill>
          <a:blip r:embed="rId5"/>
          <a:stretch>
            <a:fillRect/>
          </a:stretch>
        </p:blipFill>
        <p:spPr>
          <a:xfrm>
            <a:off x="379107" y="1080491"/>
            <a:ext cx="5191856" cy="2403025"/>
          </a:xfrm>
          <a:prstGeom prst="rect">
            <a:avLst/>
          </a:prstGeom>
        </p:spPr>
      </p:pic>
      <p:sp>
        <p:nvSpPr>
          <p:cNvPr id="6" name="文本框 5">
            <a:extLst>
              <a:ext uri="{FF2B5EF4-FFF2-40B4-BE49-F238E27FC236}">
                <a16:creationId xmlns:a16="http://schemas.microsoft.com/office/drawing/2014/main" id="{16BCC85B-5EB3-1F2C-8CB6-AD85DEAC2A31}"/>
              </a:ext>
            </a:extLst>
          </p:cNvPr>
          <p:cNvSpPr txBox="1"/>
          <p:nvPr/>
        </p:nvSpPr>
        <p:spPr>
          <a:xfrm>
            <a:off x="5995104" y="1078902"/>
            <a:ext cx="2628394" cy="2347694"/>
          </a:xfrm>
          <a:prstGeom prst="rect">
            <a:avLst/>
          </a:prstGeom>
          <a:noFill/>
        </p:spPr>
        <p:txBody>
          <a:bodyPr wrap="square" rtlCol="0">
            <a:spAutoFit/>
          </a:bodyPr>
          <a:lstStyle/>
          <a:p>
            <a:pPr>
              <a:lnSpc>
                <a:spcPct val="150000"/>
              </a:lnSpc>
            </a:pP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首先，对程序代码进行解析，获得程序代码的中间表示，然后在中间表示的基础上对程序代码进行控制流分析等辅助分析，以获得需要的控制流图、调用图等。在辅助分析的过程中，系统可以利用污点分析规则在中间表示上识别程序中的 </a:t>
            </a:r>
            <a:r>
              <a:rPr lang="en-US" altLang="zh-CN" sz="1100" b="1"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Source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点和 </a:t>
            </a:r>
            <a:r>
              <a:rPr lang="en-US" altLang="zh-CN" sz="1100" b="1"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Sink</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点。最后检测系统根据污点分析规则检查程序是否存在污点类型的漏洞。</a:t>
            </a:r>
            <a:endPar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3C9435A-4501-1F18-D3B0-A667342E3175}"/>
              </a:ext>
            </a:extLst>
          </p:cNvPr>
          <p:cNvSpPr txBox="1"/>
          <p:nvPr/>
        </p:nvSpPr>
        <p:spPr>
          <a:xfrm>
            <a:off x="379107" y="3579501"/>
            <a:ext cx="3514020" cy="1078116"/>
          </a:xfrm>
          <a:prstGeom prst="rect">
            <a:avLst/>
          </a:prstGeom>
          <a:noFill/>
        </p:spPr>
        <p:txBody>
          <a:bodyPr wrap="square" rtlCol="0">
            <a:spAutoFit/>
          </a:bodyPr>
          <a:lstStyle/>
          <a:p>
            <a:pPr>
              <a:lnSpc>
                <a:spcPct val="150000"/>
              </a:lnSpc>
            </a:pPr>
            <a:r>
              <a:rPr lang="en-US" altLang="zh-CN" sz="1100" b="1"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Source</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点：污点信息在程序中的</a:t>
            </a:r>
            <a:r>
              <a:rPr lang="zh-CN" altLang="en-US" sz="1100" b="1" dirty="0">
                <a:solidFill>
                  <a:srgbClr val="0C5663"/>
                </a:solidFill>
                <a:effectLst/>
                <a:latin typeface="微软雅黑" panose="020B0503020204020204" pitchFamily="34" charset="-122"/>
                <a:ea typeface="微软雅黑" panose="020B0503020204020204" pitchFamily="34" charset="-122"/>
                <a:cs typeface="Times New Roman" panose="02020603050405020304" pitchFamily="18" charset="0"/>
              </a:rPr>
              <a:t>产生点</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100" b="1"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Sink</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点：</a:t>
            </a:r>
            <a:r>
              <a:rPr lang="zh-CN" altLang="en-US" sz="1100" b="1" dirty="0">
                <a:solidFill>
                  <a:srgbClr val="0C5663"/>
                </a:solidFill>
                <a:effectLst/>
                <a:latin typeface="微软雅黑" panose="020B0503020204020204" pitchFamily="34" charset="-122"/>
                <a:ea typeface="微软雅黑" panose="020B0503020204020204" pitchFamily="34" charset="-122"/>
                <a:cs typeface="Times New Roman" panose="02020603050405020304" pitchFamily="18" charset="0"/>
              </a:rPr>
              <a:t>污点汇聚点</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，代表直接产生安全敏感操作（违反数据完整性）或者泄露隐私数据到外界的操作（违反数据保密性）。</a:t>
            </a:r>
            <a:endPar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a:extLst>
              <a:ext uri="{FF2B5EF4-FFF2-40B4-BE49-F238E27FC236}">
                <a16:creationId xmlns:a16="http://schemas.microsoft.com/office/drawing/2014/main" id="{8E77B0E1-AE32-DDA2-848A-F367034236F2}"/>
              </a:ext>
            </a:extLst>
          </p:cNvPr>
          <p:cNvGrpSpPr/>
          <p:nvPr/>
        </p:nvGrpSpPr>
        <p:grpSpPr>
          <a:xfrm>
            <a:off x="4119158" y="3650909"/>
            <a:ext cx="4140159" cy="824200"/>
            <a:chOff x="3612618" y="3768287"/>
            <a:chExt cx="4140159" cy="824200"/>
          </a:xfrm>
        </p:grpSpPr>
        <p:sp>
          <p:nvSpPr>
            <p:cNvPr id="10" name="箭头: 右 9">
              <a:extLst>
                <a:ext uri="{FF2B5EF4-FFF2-40B4-BE49-F238E27FC236}">
                  <a16:creationId xmlns:a16="http://schemas.microsoft.com/office/drawing/2014/main" id="{A27AFBEE-DA7A-7BCB-5084-FA8628F662C2}"/>
                </a:ext>
              </a:extLst>
            </p:cNvPr>
            <p:cNvSpPr/>
            <p:nvPr/>
          </p:nvSpPr>
          <p:spPr>
            <a:xfrm>
              <a:off x="5470902" y="4122549"/>
              <a:ext cx="367834" cy="224726"/>
            </a:xfrm>
            <a:prstGeom prst="rightArrow">
              <a:avLst/>
            </a:prstGeom>
            <a:solidFill>
              <a:srgbClr val="0C5663"/>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11" name="文本框 10">
              <a:extLst>
                <a:ext uri="{FF2B5EF4-FFF2-40B4-BE49-F238E27FC236}">
                  <a16:creationId xmlns:a16="http://schemas.microsoft.com/office/drawing/2014/main" id="{4CC725AC-1B2B-BA56-A0BA-C4B45F67E9BC}"/>
                </a:ext>
              </a:extLst>
            </p:cNvPr>
            <p:cNvSpPr txBox="1"/>
            <p:nvPr/>
          </p:nvSpPr>
          <p:spPr>
            <a:xfrm>
              <a:off x="3612618" y="4076727"/>
              <a:ext cx="1673817" cy="316369"/>
            </a:xfrm>
            <a:custGeom>
              <a:avLst/>
              <a:gdLst>
                <a:gd name="connsiteX0" fmla="*/ 0 w 1673817"/>
                <a:gd name="connsiteY0" fmla="*/ 0 h 316369"/>
                <a:gd name="connsiteX1" fmla="*/ 541201 w 1673817"/>
                <a:gd name="connsiteY1" fmla="*/ 0 h 316369"/>
                <a:gd name="connsiteX2" fmla="*/ 1132616 w 1673817"/>
                <a:gd name="connsiteY2" fmla="*/ 0 h 316369"/>
                <a:gd name="connsiteX3" fmla="*/ 1673817 w 1673817"/>
                <a:gd name="connsiteY3" fmla="*/ 0 h 316369"/>
                <a:gd name="connsiteX4" fmla="*/ 1673817 w 1673817"/>
                <a:gd name="connsiteY4" fmla="*/ 316369 h 316369"/>
                <a:gd name="connsiteX5" fmla="*/ 1166093 w 1673817"/>
                <a:gd name="connsiteY5" fmla="*/ 316369 h 316369"/>
                <a:gd name="connsiteX6" fmla="*/ 641630 w 1673817"/>
                <a:gd name="connsiteY6" fmla="*/ 316369 h 316369"/>
                <a:gd name="connsiteX7" fmla="*/ 0 w 1673817"/>
                <a:gd name="connsiteY7" fmla="*/ 316369 h 316369"/>
                <a:gd name="connsiteX8" fmla="*/ 0 w 1673817"/>
                <a:gd name="connsiteY8" fmla="*/ 0 h 3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3817" h="316369" fill="none" extrusionOk="0">
                  <a:moveTo>
                    <a:pt x="0" y="0"/>
                  </a:moveTo>
                  <a:cubicBezTo>
                    <a:pt x="146526" y="-1993"/>
                    <a:pt x="323949" y="10292"/>
                    <a:pt x="541201" y="0"/>
                  </a:cubicBezTo>
                  <a:cubicBezTo>
                    <a:pt x="758453" y="-10292"/>
                    <a:pt x="978332" y="-29277"/>
                    <a:pt x="1132616" y="0"/>
                  </a:cubicBezTo>
                  <a:cubicBezTo>
                    <a:pt x="1286900" y="29277"/>
                    <a:pt x="1466259" y="9080"/>
                    <a:pt x="1673817" y="0"/>
                  </a:cubicBezTo>
                  <a:cubicBezTo>
                    <a:pt x="1665533" y="88665"/>
                    <a:pt x="1668654" y="201152"/>
                    <a:pt x="1673817" y="316369"/>
                  </a:cubicBezTo>
                  <a:cubicBezTo>
                    <a:pt x="1472043" y="312204"/>
                    <a:pt x="1319744" y="325104"/>
                    <a:pt x="1166093" y="316369"/>
                  </a:cubicBezTo>
                  <a:cubicBezTo>
                    <a:pt x="1012442" y="307634"/>
                    <a:pt x="748774" y="334343"/>
                    <a:pt x="641630" y="316369"/>
                  </a:cubicBezTo>
                  <a:cubicBezTo>
                    <a:pt x="534486" y="298395"/>
                    <a:pt x="289405" y="287644"/>
                    <a:pt x="0" y="316369"/>
                  </a:cubicBezTo>
                  <a:cubicBezTo>
                    <a:pt x="15280" y="223490"/>
                    <a:pt x="7417" y="155084"/>
                    <a:pt x="0" y="0"/>
                  </a:cubicBezTo>
                  <a:close/>
                </a:path>
                <a:path w="1673817" h="316369" stroke="0" extrusionOk="0">
                  <a:moveTo>
                    <a:pt x="0" y="0"/>
                  </a:moveTo>
                  <a:cubicBezTo>
                    <a:pt x="184592" y="-6918"/>
                    <a:pt x="411276" y="18857"/>
                    <a:pt x="524463" y="0"/>
                  </a:cubicBezTo>
                  <a:cubicBezTo>
                    <a:pt x="637650" y="-18857"/>
                    <a:pt x="973551" y="7939"/>
                    <a:pt x="1099140" y="0"/>
                  </a:cubicBezTo>
                  <a:cubicBezTo>
                    <a:pt x="1224729" y="-7939"/>
                    <a:pt x="1446630" y="-5182"/>
                    <a:pt x="1673817" y="0"/>
                  </a:cubicBezTo>
                  <a:cubicBezTo>
                    <a:pt x="1662840" y="66439"/>
                    <a:pt x="1658681" y="180057"/>
                    <a:pt x="1673817" y="316369"/>
                  </a:cubicBezTo>
                  <a:cubicBezTo>
                    <a:pt x="1517628" y="322989"/>
                    <a:pt x="1287302" y="310398"/>
                    <a:pt x="1115878" y="316369"/>
                  </a:cubicBezTo>
                  <a:cubicBezTo>
                    <a:pt x="944454" y="322340"/>
                    <a:pt x="715521" y="301479"/>
                    <a:pt x="557939" y="316369"/>
                  </a:cubicBezTo>
                  <a:cubicBezTo>
                    <a:pt x="400357" y="331259"/>
                    <a:pt x="143124" y="320074"/>
                    <a:pt x="0" y="316369"/>
                  </a:cubicBezTo>
                  <a:cubicBezTo>
                    <a:pt x="15744" y="188944"/>
                    <a:pt x="-8280" y="104559"/>
                    <a:pt x="0" y="0"/>
                  </a:cubicBezTo>
                  <a:close/>
                </a:path>
              </a:pathLst>
            </a:custGeom>
            <a:solidFill>
              <a:srgbClr val="0C5663"/>
            </a:solidFill>
            <a:ln>
              <a:extLst>
                <a:ext uri="{C807C97D-BFC1-408E-A445-0C87EB9F89A2}">
                  <ask:lineSketchStyleProps xmlns:ask="http://schemas.microsoft.com/office/drawing/2018/sketchyshapes" sd="238998536">
                    <a:prstGeom prst="rect">
                      <a:avLst/>
                    </a:prstGeom>
                    <ask:type>
                      <ask:lineSketchFreehand/>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nSpc>
                  <a:spcPct val="150000"/>
                </a:lnSpc>
              </a:pPr>
              <a:r>
                <a:rPr lang="zh-CN" altLang="en-US" sz="1100" b="1" dirty="0">
                  <a:solidFill>
                    <a:schemeClr val="bg1"/>
                  </a:solidFill>
                  <a:latin typeface="微软雅黑" panose="020B0503020204020204" pitchFamily="34" charset="-122"/>
                  <a:ea typeface="微软雅黑" panose="020B0503020204020204" pitchFamily="34" charset="-122"/>
                </a:rPr>
                <a:t>程序是否存在某种漏洞</a:t>
              </a:r>
            </a:p>
          </p:txBody>
        </p:sp>
        <p:sp>
          <p:nvSpPr>
            <p:cNvPr id="12" name="文本框 11">
              <a:extLst>
                <a:ext uri="{FF2B5EF4-FFF2-40B4-BE49-F238E27FC236}">
                  <a16:creationId xmlns:a16="http://schemas.microsoft.com/office/drawing/2014/main" id="{E5A5D7D1-D4E6-F54D-267C-F2BE00DD5E90}"/>
                </a:ext>
              </a:extLst>
            </p:cNvPr>
            <p:cNvSpPr txBox="1"/>
            <p:nvPr/>
          </p:nvSpPr>
          <p:spPr>
            <a:xfrm>
              <a:off x="6078960" y="3768287"/>
              <a:ext cx="1673817" cy="824200"/>
            </a:xfrm>
            <a:custGeom>
              <a:avLst/>
              <a:gdLst>
                <a:gd name="connsiteX0" fmla="*/ 0 w 1673817"/>
                <a:gd name="connsiteY0" fmla="*/ 0 h 824200"/>
                <a:gd name="connsiteX1" fmla="*/ 524463 w 1673817"/>
                <a:gd name="connsiteY1" fmla="*/ 0 h 824200"/>
                <a:gd name="connsiteX2" fmla="*/ 1082402 w 1673817"/>
                <a:gd name="connsiteY2" fmla="*/ 0 h 824200"/>
                <a:gd name="connsiteX3" fmla="*/ 1673817 w 1673817"/>
                <a:gd name="connsiteY3" fmla="*/ 0 h 824200"/>
                <a:gd name="connsiteX4" fmla="*/ 1673817 w 1673817"/>
                <a:gd name="connsiteY4" fmla="*/ 412100 h 824200"/>
                <a:gd name="connsiteX5" fmla="*/ 1673817 w 1673817"/>
                <a:gd name="connsiteY5" fmla="*/ 824200 h 824200"/>
                <a:gd name="connsiteX6" fmla="*/ 1132616 w 1673817"/>
                <a:gd name="connsiteY6" fmla="*/ 824200 h 824200"/>
                <a:gd name="connsiteX7" fmla="*/ 624892 w 1673817"/>
                <a:gd name="connsiteY7" fmla="*/ 824200 h 824200"/>
                <a:gd name="connsiteX8" fmla="*/ 0 w 1673817"/>
                <a:gd name="connsiteY8" fmla="*/ 824200 h 824200"/>
                <a:gd name="connsiteX9" fmla="*/ 0 w 1673817"/>
                <a:gd name="connsiteY9" fmla="*/ 412100 h 824200"/>
                <a:gd name="connsiteX10" fmla="*/ 0 w 1673817"/>
                <a:gd name="connsiteY10" fmla="*/ 0 h 82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3817" h="824200" fill="none" extrusionOk="0">
                  <a:moveTo>
                    <a:pt x="0" y="0"/>
                  </a:moveTo>
                  <a:cubicBezTo>
                    <a:pt x="142612" y="15432"/>
                    <a:pt x="382031" y="14966"/>
                    <a:pt x="524463" y="0"/>
                  </a:cubicBezTo>
                  <a:cubicBezTo>
                    <a:pt x="666895" y="-14966"/>
                    <a:pt x="835247" y="-8788"/>
                    <a:pt x="1082402" y="0"/>
                  </a:cubicBezTo>
                  <a:cubicBezTo>
                    <a:pt x="1329557" y="8788"/>
                    <a:pt x="1429530" y="16563"/>
                    <a:pt x="1673817" y="0"/>
                  </a:cubicBezTo>
                  <a:cubicBezTo>
                    <a:pt x="1678946" y="200611"/>
                    <a:pt x="1680073" y="302193"/>
                    <a:pt x="1673817" y="412100"/>
                  </a:cubicBezTo>
                  <a:cubicBezTo>
                    <a:pt x="1667561" y="522007"/>
                    <a:pt x="1682733" y="655477"/>
                    <a:pt x="1673817" y="824200"/>
                  </a:cubicBezTo>
                  <a:cubicBezTo>
                    <a:pt x="1456894" y="845104"/>
                    <a:pt x="1328341" y="822989"/>
                    <a:pt x="1132616" y="824200"/>
                  </a:cubicBezTo>
                  <a:cubicBezTo>
                    <a:pt x="936891" y="825411"/>
                    <a:pt x="829307" y="830531"/>
                    <a:pt x="624892" y="824200"/>
                  </a:cubicBezTo>
                  <a:cubicBezTo>
                    <a:pt x="420477" y="817869"/>
                    <a:pt x="227406" y="828916"/>
                    <a:pt x="0" y="824200"/>
                  </a:cubicBezTo>
                  <a:cubicBezTo>
                    <a:pt x="6023" y="671298"/>
                    <a:pt x="18454" y="504318"/>
                    <a:pt x="0" y="412100"/>
                  </a:cubicBezTo>
                  <a:cubicBezTo>
                    <a:pt x="-18454" y="319882"/>
                    <a:pt x="1717" y="92013"/>
                    <a:pt x="0" y="0"/>
                  </a:cubicBezTo>
                  <a:close/>
                </a:path>
                <a:path w="1673817" h="824200" stroke="0" extrusionOk="0">
                  <a:moveTo>
                    <a:pt x="0" y="0"/>
                  </a:moveTo>
                  <a:cubicBezTo>
                    <a:pt x="184592" y="-6918"/>
                    <a:pt x="411276" y="18857"/>
                    <a:pt x="524463" y="0"/>
                  </a:cubicBezTo>
                  <a:cubicBezTo>
                    <a:pt x="637650" y="-18857"/>
                    <a:pt x="973551" y="7939"/>
                    <a:pt x="1099140" y="0"/>
                  </a:cubicBezTo>
                  <a:cubicBezTo>
                    <a:pt x="1224729" y="-7939"/>
                    <a:pt x="1446630" y="-5182"/>
                    <a:pt x="1673817" y="0"/>
                  </a:cubicBezTo>
                  <a:cubicBezTo>
                    <a:pt x="1685137" y="125319"/>
                    <a:pt x="1660266" y="306586"/>
                    <a:pt x="1673817" y="395616"/>
                  </a:cubicBezTo>
                  <a:cubicBezTo>
                    <a:pt x="1687368" y="484646"/>
                    <a:pt x="1678556" y="705649"/>
                    <a:pt x="1673817" y="824200"/>
                  </a:cubicBezTo>
                  <a:cubicBezTo>
                    <a:pt x="1444085" y="834422"/>
                    <a:pt x="1409207" y="847273"/>
                    <a:pt x="1166093" y="824200"/>
                  </a:cubicBezTo>
                  <a:cubicBezTo>
                    <a:pt x="922979" y="801127"/>
                    <a:pt x="802507" y="818930"/>
                    <a:pt x="591415" y="824200"/>
                  </a:cubicBezTo>
                  <a:cubicBezTo>
                    <a:pt x="380323" y="829470"/>
                    <a:pt x="226457" y="803644"/>
                    <a:pt x="0" y="824200"/>
                  </a:cubicBezTo>
                  <a:cubicBezTo>
                    <a:pt x="10813" y="740966"/>
                    <a:pt x="-6563" y="590990"/>
                    <a:pt x="0" y="428584"/>
                  </a:cubicBezTo>
                  <a:cubicBezTo>
                    <a:pt x="6563" y="266178"/>
                    <a:pt x="12085" y="184525"/>
                    <a:pt x="0" y="0"/>
                  </a:cubicBezTo>
                  <a:close/>
                </a:path>
              </a:pathLst>
            </a:custGeom>
            <a:solidFill>
              <a:srgbClr val="0C5663"/>
            </a:solidFill>
            <a:ln>
              <a:extLst>
                <a:ext uri="{C807C97D-BFC1-408E-A445-0C87EB9F89A2}">
                  <ask:lineSketchStyleProps xmlns:ask="http://schemas.microsoft.com/office/drawing/2018/sketchyshapes" sd="238998536">
                    <a:prstGeom prst="rect">
                      <a:avLst/>
                    </a:prstGeom>
                    <ask:type>
                      <ask:lineSketchFreehand/>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nSpc>
                  <a:spcPct val="150000"/>
                </a:lnSpc>
              </a:pPr>
              <a:r>
                <a:rPr lang="zh-CN" altLang="en-US" sz="1100" b="1" dirty="0">
                  <a:solidFill>
                    <a:schemeClr val="bg1"/>
                  </a:solidFill>
                  <a:latin typeface="微软雅黑" panose="020B0503020204020204" pitchFamily="34" charset="-122"/>
                  <a:ea typeface="微软雅黑" panose="020B0503020204020204" pitchFamily="34" charset="-122"/>
                </a:rPr>
                <a:t>来自</a:t>
              </a:r>
              <a:r>
                <a:rPr lang="en-US" altLang="zh-CN" sz="1100" b="1" dirty="0">
                  <a:solidFill>
                    <a:schemeClr val="bg1"/>
                  </a:solidFill>
                  <a:latin typeface="微软雅黑" panose="020B0503020204020204" pitchFamily="34" charset="-122"/>
                  <a:ea typeface="微软雅黑" panose="020B0503020204020204" pitchFamily="34" charset="-122"/>
                </a:rPr>
                <a:t>Source</a:t>
              </a:r>
              <a:r>
                <a:rPr lang="zh-CN" altLang="en-US" sz="1100" b="1" dirty="0">
                  <a:solidFill>
                    <a:schemeClr val="bg1"/>
                  </a:solidFill>
                  <a:latin typeface="微软雅黑" panose="020B0503020204020204" pitchFamily="34" charset="-122"/>
                  <a:ea typeface="微软雅黑" panose="020B0503020204020204" pitchFamily="34" charset="-122"/>
                </a:rPr>
                <a:t>点的污点信息是否会被 </a:t>
              </a:r>
              <a:r>
                <a:rPr lang="en-US" altLang="zh-CN" sz="1100" b="1" dirty="0">
                  <a:solidFill>
                    <a:schemeClr val="bg1"/>
                  </a:solidFill>
                  <a:latin typeface="微软雅黑" panose="020B0503020204020204" pitchFamily="34" charset="-122"/>
                  <a:ea typeface="微软雅黑" panose="020B0503020204020204" pitchFamily="34" charset="-122"/>
                </a:rPr>
                <a:t>Sink </a:t>
              </a:r>
              <a:r>
                <a:rPr lang="zh-CN" altLang="en-US" sz="1100" b="1" dirty="0">
                  <a:solidFill>
                    <a:schemeClr val="bg1"/>
                  </a:solidFill>
                  <a:latin typeface="微软雅黑" panose="020B0503020204020204" pitchFamily="34" charset="-122"/>
                  <a:ea typeface="微软雅黑" panose="020B0503020204020204" pitchFamily="34" charset="-122"/>
                </a:rPr>
                <a:t>点上的操作所使用</a:t>
              </a:r>
            </a:p>
          </p:txBody>
        </p:sp>
      </p:grpSp>
    </p:spTree>
    <p:custDataLst>
      <p:tags r:id="rId1"/>
    </p:custDataLst>
    <p:extLst>
      <p:ext uri="{BB962C8B-B14F-4D97-AF65-F5344CB8AC3E}">
        <p14:creationId xmlns:p14="http://schemas.microsoft.com/office/powerpoint/2010/main" val="200517421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3449983"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静态污点分析</a:t>
            </a:r>
            <a:r>
              <a:rPr lang="en-US" altLang="zh-CN" sz="2000" spc="300" dirty="0">
                <a:latin typeface="微软雅黑" panose="020B0503020204020204" pitchFamily="34" charset="-122"/>
                <a:ea typeface="微软雅黑" panose="020B0503020204020204" pitchFamily="34" charset="-122"/>
              </a:rPr>
              <a:t>—</a:t>
            </a:r>
            <a:r>
              <a:rPr lang="zh-CN" altLang="en-US" sz="2000" spc="300" dirty="0">
                <a:latin typeface="微软雅黑" panose="020B0503020204020204" pitchFamily="34" charset="-122"/>
                <a:ea typeface="微软雅黑" panose="020B0503020204020204" pitchFamily="34" charset="-122"/>
              </a:rPr>
              <a:t>案例分析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
        <p:nvSpPr>
          <p:cNvPr id="7" name="文本框 6">
            <a:extLst>
              <a:ext uri="{FF2B5EF4-FFF2-40B4-BE49-F238E27FC236}">
                <a16:creationId xmlns:a16="http://schemas.microsoft.com/office/drawing/2014/main" id="{13C9435A-4501-1F18-D3B0-A667342E3175}"/>
              </a:ext>
            </a:extLst>
          </p:cNvPr>
          <p:cNvSpPr txBox="1"/>
          <p:nvPr/>
        </p:nvSpPr>
        <p:spPr>
          <a:xfrm>
            <a:off x="656792" y="809944"/>
            <a:ext cx="7468350" cy="570284"/>
          </a:xfrm>
          <a:prstGeom prst="rect">
            <a:avLst/>
          </a:prstGeom>
          <a:noFill/>
        </p:spPr>
        <p:txBody>
          <a:bodyPr wrap="square" rtlCol="0">
            <a:spAutoFit/>
          </a:bodyPr>
          <a:lstStyle/>
          <a:p>
            <a:pPr>
              <a:lnSpc>
                <a:spcPct val="150000"/>
              </a:lnSpc>
            </a:pP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在使用污点分析方法检测程序漏洞时，污点数据相关的程序漏洞是主要关注对象，如 </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SQL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注入漏洞、命令注入漏洞和跨站脚本漏洞等。下面是一个存在 </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SQL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注入漏洞 </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ASP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程序的例子：</a:t>
            </a:r>
            <a:endPar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D5E9B989-2ABA-0EA2-1A72-1D6C6DBA1DA5}"/>
              </a:ext>
            </a:extLst>
          </p:cNvPr>
          <p:cNvPicPr>
            <a:picLocks noChangeAspect="1"/>
          </p:cNvPicPr>
          <p:nvPr/>
        </p:nvPicPr>
        <p:blipFill>
          <a:blip r:embed="rId5"/>
          <a:stretch>
            <a:fillRect/>
          </a:stretch>
        </p:blipFill>
        <p:spPr>
          <a:xfrm>
            <a:off x="515257" y="1525327"/>
            <a:ext cx="5303652" cy="2476014"/>
          </a:xfrm>
          <a:prstGeom prst="rect">
            <a:avLst/>
          </a:prstGeom>
        </p:spPr>
      </p:pic>
      <p:grpSp>
        <p:nvGrpSpPr>
          <p:cNvPr id="2" name="组合 1">
            <a:extLst>
              <a:ext uri="{FF2B5EF4-FFF2-40B4-BE49-F238E27FC236}">
                <a16:creationId xmlns:a16="http://schemas.microsoft.com/office/drawing/2014/main" id="{87FB27A2-D017-0511-9C87-74AEECAB0ABE}"/>
              </a:ext>
            </a:extLst>
          </p:cNvPr>
          <p:cNvGrpSpPr/>
          <p:nvPr/>
        </p:nvGrpSpPr>
        <p:grpSpPr>
          <a:xfrm>
            <a:off x="574964" y="1525327"/>
            <a:ext cx="7853236" cy="1298214"/>
            <a:chOff x="574964" y="1525327"/>
            <a:chExt cx="7853236" cy="1298214"/>
          </a:xfrm>
        </p:grpSpPr>
        <p:sp>
          <p:nvSpPr>
            <p:cNvPr id="17" name="矩形: 圆角 16">
              <a:extLst>
                <a:ext uri="{FF2B5EF4-FFF2-40B4-BE49-F238E27FC236}">
                  <a16:creationId xmlns:a16="http://schemas.microsoft.com/office/drawing/2014/main" id="{B6332BA5-5AAC-66E3-588B-02BC81548B11}"/>
                </a:ext>
              </a:extLst>
            </p:cNvPr>
            <p:cNvSpPr/>
            <p:nvPr/>
          </p:nvSpPr>
          <p:spPr>
            <a:xfrm>
              <a:off x="574964" y="1905000"/>
              <a:ext cx="5174672" cy="16625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8980857A-E962-5DA2-8B22-41B8DA190CD4}"/>
                </a:ext>
              </a:extLst>
            </p:cNvPr>
            <p:cNvSpPr/>
            <p:nvPr/>
          </p:nvSpPr>
          <p:spPr>
            <a:xfrm>
              <a:off x="5943600" y="1939637"/>
              <a:ext cx="277091" cy="9698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a:extLst>
                <a:ext uri="{FF2B5EF4-FFF2-40B4-BE49-F238E27FC236}">
                  <a16:creationId xmlns:a16="http://schemas.microsoft.com/office/drawing/2014/main" id="{797FF281-7690-CC4C-9A75-2A8F29F2F9CC}"/>
                </a:ext>
              </a:extLst>
            </p:cNvPr>
            <p:cNvPicPr>
              <a:picLocks noChangeAspect="1"/>
            </p:cNvPicPr>
            <p:nvPr/>
          </p:nvPicPr>
          <p:blipFill>
            <a:blip r:embed="rId6"/>
            <a:stretch>
              <a:fillRect/>
            </a:stretch>
          </p:blipFill>
          <p:spPr>
            <a:xfrm>
              <a:off x="6289964" y="1525327"/>
              <a:ext cx="2138236" cy="1298214"/>
            </a:xfrm>
            <a:prstGeom prst="rect">
              <a:avLst/>
            </a:prstGeom>
          </p:spPr>
        </p:pic>
      </p:grpSp>
      <p:sp>
        <p:nvSpPr>
          <p:cNvPr id="28" name="矩形: 圆角 27">
            <a:extLst>
              <a:ext uri="{FF2B5EF4-FFF2-40B4-BE49-F238E27FC236}">
                <a16:creationId xmlns:a16="http://schemas.microsoft.com/office/drawing/2014/main" id="{F815AF86-E319-D89D-0006-908E13CB94FB}"/>
              </a:ext>
            </a:extLst>
          </p:cNvPr>
          <p:cNvSpPr/>
          <p:nvPr/>
        </p:nvSpPr>
        <p:spPr>
          <a:xfrm>
            <a:off x="562795" y="2254842"/>
            <a:ext cx="2630678" cy="16625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62943451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3449983"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静态污点分析</a:t>
            </a:r>
            <a:r>
              <a:rPr lang="en-US" altLang="zh-CN" sz="2000" spc="300" dirty="0">
                <a:latin typeface="微软雅黑" panose="020B0503020204020204" pitchFamily="34" charset="-122"/>
                <a:ea typeface="微软雅黑" panose="020B0503020204020204" pitchFamily="34" charset="-122"/>
              </a:rPr>
              <a:t>—</a:t>
            </a:r>
            <a:r>
              <a:rPr lang="zh-CN" altLang="en-US" sz="2000" spc="300" dirty="0">
                <a:latin typeface="微软雅黑" panose="020B0503020204020204" pitchFamily="34" charset="-122"/>
                <a:ea typeface="微软雅黑" panose="020B0503020204020204" pitchFamily="34" charset="-122"/>
              </a:rPr>
              <a:t>案例分析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
        <p:nvSpPr>
          <p:cNvPr id="7" name="文本框 6">
            <a:extLst>
              <a:ext uri="{FF2B5EF4-FFF2-40B4-BE49-F238E27FC236}">
                <a16:creationId xmlns:a16="http://schemas.microsoft.com/office/drawing/2014/main" id="{13C9435A-4501-1F18-D3B0-A667342E3175}"/>
              </a:ext>
            </a:extLst>
          </p:cNvPr>
          <p:cNvSpPr txBox="1"/>
          <p:nvPr/>
        </p:nvSpPr>
        <p:spPr>
          <a:xfrm>
            <a:off x="656792" y="809944"/>
            <a:ext cx="7468350" cy="570284"/>
          </a:xfrm>
          <a:prstGeom prst="rect">
            <a:avLst/>
          </a:prstGeom>
          <a:noFill/>
        </p:spPr>
        <p:txBody>
          <a:bodyPr wrap="square" rtlCol="0">
            <a:spAutoFit/>
          </a:bodyPr>
          <a:lstStyle/>
          <a:p>
            <a:pPr>
              <a:lnSpc>
                <a:spcPct val="150000"/>
              </a:lnSpc>
            </a:pP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在使用污点分析方法检测程序漏洞时，污点数据相关的程序漏洞是主要关注对象，如 </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SQL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注入漏洞、命令注入漏洞和跨站脚本漏洞等。下面是一个存在 </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SQL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注入漏洞 </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ASP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程序的例子：</a:t>
            </a:r>
            <a:endPar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D5E9B989-2ABA-0EA2-1A72-1D6C6DBA1DA5}"/>
              </a:ext>
            </a:extLst>
          </p:cNvPr>
          <p:cNvPicPr>
            <a:picLocks noChangeAspect="1"/>
          </p:cNvPicPr>
          <p:nvPr/>
        </p:nvPicPr>
        <p:blipFill>
          <a:blip r:embed="rId5"/>
          <a:stretch>
            <a:fillRect/>
          </a:stretch>
        </p:blipFill>
        <p:spPr>
          <a:xfrm>
            <a:off x="515257" y="1525327"/>
            <a:ext cx="5303652" cy="2476014"/>
          </a:xfrm>
          <a:prstGeom prst="rect">
            <a:avLst/>
          </a:prstGeom>
        </p:spPr>
      </p:pic>
      <p:grpSp>
        <p:nvGrpSpPr>
          <p:cNvPr id="3" name="组合 2">
            <a:extLst>
              <a:ext uri="{FF2B5EF4-FFF2-40B4-BE49-F238E27FC236}">
                <a16:creationId xmlns:a16="http://schemas.microsoft.com/office/drawing/2014/main" id="{A0EE1779-DB01-6FE7-BA79-A2BA07FC5429}"/>
              </a:ext>
            </a:extLst>
          </p:cNvPr>
          <p:cNvGrpSpPr/>
          <p:nvPr/>
        </p:nvGrpSpPr>
        <p:grpSpPr>
          <a:xfrm>
            <a:off x="1931672" y="1911475"/>
            <a:ext cx="5415525" cy="465242"/>
            <a:chOff x="1931672" y="1911475"/>
            <a:chExt cx="5415525" cy="465242"/>
          </a:xfrm>
        </p:grpSpPr>
        <p:sp>
          <p:nvSpPr>
            <p:cNvPr id="28" name="矩形: 圆角 27">
              <a:extLst>
                <a:ext uri="{FF2B5EF4-FFF2-40B4-BE49-F238E27FC236}">
                  <a16:creationId xmlns:a16="http://schemas.microsoft.com/office/drawing/2014/main" id="{F815AF86-E319-D89D-0006-908E13CB94FB}"/>
                </a:ext>
              </a:extLst>
            </p:cNvPr>
            <p:cNvSpPr/>
            <p:nvPr/>
          </p:nvSpPr>
          <p:spPr>
            <a:xfrm>
              <a:off x="1931672" y="2077956"/>
              <a:ext cx="1919891" cy="16625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圆角 1">
              <a:extLst>
                <a:ext uri="{FF2B5EF4-FFF2-40B4-BE49-F238E27FC236}">
                  <a16:creationId xmlns:a16="http://schemas.microsoft.com/office/drawing/2014/main" id="{50852BEB-ACE2-DA46-2DFB-C43FDBF5CB57}"/>
                </a:ext>
              </a:extLst>
            </p:cNvPr>
            <p:cNvSpPr/>
            <p:nvPr/>
          </p:nvSpPr>
          <p:spPr>
            <a:xfrm>
              <a:off x="4010891" y="1911475"/>
              <a:ext cx="1755545" cy="16625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13B2E381-BC08-7E3E-6AA5-00ABC43BE5DC}"/>
                </a:ext>
              </a:extLst>
            </p:cNvPr>
            <p:cNvCxnSpPr>
              <a:cxnSpLocks/>
              <a:stCxn id="2" idx="3"/>
            </p:cNvCxnSpPr>
            <p:nvPr/>
          </p:nvCxnSpPr>
          <p:spPr>
            <a:xfrm>
              <a:off x="5766436" y="1994603"/>
              <a:ext cx="488891" cy="166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2C16CAD4-E00A-61A3-CB68-A21A6A63D738}"/>
                </a:ext>
              </a:extLst>
            </p:cNvPr>
            <p:cNvCxnSpPr>
              <a:cxnSpLocks/>
              <a:stCxn id="28" idx="3"/>
            </p:cNvCxnSpPr>
            <p:nvPr/>
          </p:nvCxnSpPr>
          <p:spPr>
            <a:xfrm>
              <a:off x="3851563" y="2161084"/>
              <a:ext cx="2403764" cy="617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9BFDEEE3-5849-594D-C967-9E3ED4FC4C38}"/>
                </a:ext>
              </a:extLst>
            </p:cNvPr>
            <p:cNvSpPr txBox="1"/>
            <p:nvPr/>
          </p:nvSpPr>
          <p:spPr>
            <a:xfrm>
              <a:off x="6255327" y="2068940"/>
              <a:ext cx="1091870" cy="307777"/>
            </a:xfrm>
            <a:prstGeom prst="rect">
              <a:avLst/>
            </a:prstGeom>
            <a:noFill/>
          </p:spPr>
          <p:txBody>
            <a:bodyPr wrap="square" rtlCol="0">
              <a:spAutoFit/>
            </a:bodyPr>
            <a:lstStyle/>
            <a:p>
              <a:r>
                <a:rPr lang="en-US" altLang="zh-CN" sz="1400" dirty="0">
                  <a:solidFill>
                    <a:srgbClr val="FF0000"/>
                  </a:solidFill>
                </a:rPr>
                <a:t>Source</a:t>
              </a:r>
              <a:r>
                <a:rPr lang="zh-CN" altLang="en-US" sz="1400" dirty="0">
                  <a:solidFill>
                    <a:srgbClr val="FF0000"/>
                  </a:solidFill>
                </a:rPr>
                <a:t>点</a:t>
              </a:r>
            </a:p>
          </p:txBody>
        </p:sp>
      </p:grpSp>
      <p:grpSp>
        <p:nvGrpSpPr>
          <p:cNvPr id="5" name="组合 4">
            <a:extLst>
              <a:ext uri="{FF2B5EF4-FFF2-40B4-BE49-F238E27FC236}">
                <a16:creationId xmlns:a16="http://schemas.microsoft.com/office/drawing/2014/main" id="{61CD61AA-0A3D-EB97-C4C9-C0D240B55DED}"/>
              </a:ext>
            </a:extLst>
          </p:cNvPr>
          <p:cNvGrpSpPr/>
          <p:nvPr/>
        </p:nvGrpSpPr>
        <p:grpSpPr>
          <a:xfrm>
            <a:off x="1129145" y="3022937"/>
            <a:ext cx="3156198" cy="307777"/>
            <a:chOff x="1129145" y="3022937"/>
            <a:chExt cx="3156198" cy="307777"/>
          </a:xfrm>
        </p:grpSpPr>
        <p:sp>
          <p:nvSpPr>
            <p:cNvPr id="17" name="矩形: 圆角 16">
              <a:extLst>
                <a:ext uri="{FF2B5EF4-FFF2-40B4-BE49-F238E27FC236}">
                  <a16:creationId xmlns:a16="http://schemas.microsoft.com/office/drawing/2014/main" id="{B6332BA5-5AAC-66E3-588B-02BC81548B11}"/>
                </a:ext>
              </a:extLst>
            </p:cNvPr>
            <p:cNvSpPr/>
            <p:nvPr/>
          </p:nvSpPr>
          <p:spPr>
            <a:xfrm>
              <a:off x="1129145" y="3128091"/>
              <a:ext cx="2064328" cy="16625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B73978EB-B8DD-4063-020D-A226DD455BAF}"/>
                </a:ext>
              </a:extLst>
            </p:cNvPr>
            <p:cNvSpPr txBox="1"/>
            <p:nvPr/>
          </p:nvSpPr>
          <p:spPr>
            <a:xfrm>
              <a:off x="3193473" y="3022937"/>
              <a:ext cx="1091870" cy="307777"/>
            </a:xfrm>
            <a:prstGeom prst="rect">
              <a:avLst/>
            </a:prstGeom>
            <a:noFill/>
          </p:spPr>
          <p:txBody>
            <a:bodyPr wrap="square" rtlCol="0">
              <a:spAutoFit/>
            </a:bodyPr>
            <a:lstStyle/>
            <a:p>
              <a:r>
                <a:rPr lang="en-US" altLang="zh-CN" sz="1400" dirty="0">
                  <a:solidFill>
                    <a:srgbClr val="FF0000"/>
                  </a:solidFill>
                </a:rPr>
                <a:t>Sink</a:t>
              </a:r>
              <a:r>
                <a:rPr lang="zh-CN" altLang="en-US" sz="1400" dirty="0">
                  <a:solidFill>
                    <a:srgbClr val="FF0000"/>
                  </a:solidFill>
                </a:rPr>
                <a:t>点</a:t>
              </a:r>
            </a:p>
          </p:txBody>
        </p:sp>
      </p:grpSp>
      <p:sp>
        <p:nvSpPr>
          <p:cNvPr id="16" name="文本框 15">
            <a:extLst>
              <a:ext uri="{FF2B5EF4-FFF2-40B4-BE49-F238E27FC236}">
                <a16:creationId xmlns:a16="http://schemas.microsoft.com/office/drawing/2014/main" id="{D6F96FC6-E837-0F2C-292A-4C6D740BC719}"/>
              </a:ext>
            </a:extLst>
          </p:cNvPr>
          <p:cNvSpPr txBox="1"/>
          <p:nvPr/>
        </p:nvSpPr>
        <p:spPr>
          <a:xfrm>
            <a:off x="256238" y="4050026"/>
            <a:ext cx="8631523" cy="938719"/>
          </a:xfrm>
          <a:prstGeom prst="rect">
            <a:avLst/>
          </a:prstGeom>
          <a:noFill/>
        </p:spPr>
        <p:txBody>
          <a:bodyPr wrap="square" rtlCol="0">
            <a:spAutoFit/>
          </a:bodyPr>
          <a:lstStyle/>
          <a:p>
            <a:r>
              <a:rPr lang="zh-CN" altLang="en-US" sz="1100" dirty="0"/>
              <a:t>识别程序中的 </a:t>
            </a:r>
            <a:r>
              <a:rPr lang="en-US" altLang="zh-CN" sz="1100" dirty="0"/>
              <a:t>Source </a:t>
            </a:r>
            <a:r>
              <a:rPr lang="zh-CN" altLang="en-US" sz="1100" dirty="0"/>
              <a:t>点和 </a:t>
            </a:r>
            <a:r>
              <a:rPr lang="en-US" altLang="zh-CN" sz="1100" dirty="0"/>
              <a:t>Sink </a:t>
            </a:r>
            <a:r>
              <a:rPr lang="zh-CN" altLang="en-US" sz="1100" dirty="0"/>
              <a:t>点以及初始的被污染的数据。具体的分析过程如下：</a:t>
            </a:r>
          </a:p>
          <a:p>
            <a:pPr marL="171450" indent="-171450">
              <a:buFont typeface="Wingdings" panose="05000000000000000000" pitchFamily="2" charset="2"/>
              <a:buChar char="l"/>
            </a:pPr>
            <a:r>
              <a:rPr lang="zh-CN" altLang="en-US" sz="1100" dirty="0"/>
              <a:t>调用 </a:t>
            </a:r>
            <a:r>
              <a:rPr lang="en-US" altLang="zh-CN" sz="1100" dirty="0" err="1"/>
              <a:t>Request.Cookies</a:t>
            </a:r>
            <a:r>
              <a:rPr lang="en-US" altLang="zh-CN" sz="1100" dirty="0"/>
              <a:t>(“hello”) </a:t>
            </a:r>
            <a:r>
              <a:rPr lang="zh-CN" altLang="en-US" sz="1100" dirty="0"/>
              <a:t>的返回结果是污染的，所以变量 </a:t>
            </a:r>
            <a:r>
              <a:rPr lang="en-US" altLang="zh-CN" sz="1100" dirty="0"/>
              <a:t>sql1 </a:t>
            </a:r>
            <a:r>
              <a:rPr lang="zh-CN" altLang="en-US" sz="1100" dirty="0"/>
              <a:t>是污染的。同理，</a:t>
            </a:r>
            <a:r>
              <a:rPr lang="en-US" altLang="zh-CN" sz="1100" dirty="0"/>
              <a:t>sql2 </a:t>
            </a:r>
            <a:r>
              <a:rPr lang="zh-CN" altLang="en-US" sz="1100" dirty="0"/>
              <a:t>也是污染的。</a:t>
            </a:r>
            <a:endParaRPr lang="en-US" altLang="zh-CN" sz="1100" dirty="0"/>
          </a:p>
          <a:p>
            <a:pPr marL="171450" indent="-171450">
              <a:buFont typeface="Wingdings" panose="05000000000000000000" pitchFamily="2" charset="2"/>
              <a:buChar char="l"/>
            </a:pPr>
            <a:r>
              <a:rPr lang="zh-CN" altLang="en-US" sz="1100" dirty="0"/>
              <a:t>函数 </a:t>
            </a:r>
            <a:r>
              <a:rPr lang="en-US" altLang="zh-CN" sz="1100" dirty="0" err="1"/>
              <a:t>MySqlStuff</a:t>
            </a:r>
            <a:r>
              <a:rPr lang="en-US" altLang="zh-CN" sz="1100" dirty="0"/>
              <a:t> </a:t>
            </a:r>
            <a:r>
              <a:rPr lang="zh-CN" altLang="en-US" sz="1100" dirty="0"/>
              <a:t>被调用，它的参数 </a:t>
            </a:r>
            <a:r>
              <a:rPr lang="en-US" altLang="zh-CN" sz="1100" dirty="0"/>
              <a:t>sql1</a:t>
            </a:r>
            <a:r>
              <a:rPr lang="zh-CN" altLang="en-US" sz="1100" dirty="0"/>
              <a:t>，</a:t>
            </a:r>
            <a:r>
              <a:rPr lang="en-US" altLang="zh-CN" sz="1100" dirty="0"/>
              <a:t>sql2 </a:t>
            </a:r>
            <a:r>
              <a:rPr lang="zh-CN" altLang="en-US" sz="1100" dirty="0"/>
              <a:t>都是污染的。标记第六行</a:t>
            </a:r>
            <a:r>
              <a:rPr lang="en-US" altLang="zh-CN" sz="1100" dirty="0" err="1"/>
              <a:t>MySqlStuff</a:t>
            </a:r>
            <a:r>
              <a:rPr lang="zh-CN" altLang="en-US" sz="1100" dirty="0"/>
              <a:t>的参数 </a:t>
            </a:r>
            <a:r>
              <a:rPr lang="en-US" altLang="zh-CN" sz="1100" dirty="0"/>
              <a:t>cmd1</a:t>
            </a:r>
            <a:r>
              <a:rPr lang="zh-CN" altLang="en-US" sz="1100" dirty="0"/>
              <a:t>，</a:t>
            </a:r>
            <a:r>
              <a:rPr lang="en-US" altLang="zh-CN" sz="1100" dirty="0"/>
              <a:t>cmd2 </a:t>
            </a:r>
            <a:r>
              <a:rPr lang="zh-CN" altLang="en-US" sz="1100" dirty="0"/>
              <a:t>是污染的。</a:t>
            </a:r>
            <a:endParaRPr lang="en-US" altLang="zh-CN" sz="1100" dirty="0"/>
          </a:p>
          <a:p>
            <a:pPr marL="171450" indent="-171450">
              <a:buFont typeface="Wingdings" panose="05000000000000000000" pitchFamily="2" charset="2"/>
              <a:buChar char="l"/>
            </a:pPr>
            <a:r>
              <a:rPr lang="zh-CN" altLang="en-US" sz="1100" dirty="0"/>
              <a:t>第 </a:t>
            </a:r>
            <a:r>
              <a:rPr lang="en-US" altLang="zh-CN" sz="1100" dirty="0"/>
              <a:t>10 </a:t>
            </a:r>
            <a:r>
              <a:rPr lang="zh-CN" altLang="en-US" sz="1100" dirty="0"/>
              <a:t>行函数 </a:t>
            </a:r>
            <a:r>
              <a:rPr lang="en-US" altLang="zh-CN" sz="1100" dirty="0" err="1"/>
              <a:t>conn.Execute</a:t>
            </a:r>
            <a:r>
              <a:rPr lang="en-US" altLang="zh-CN" sz="1100" dirty="0"/>
              <a:t> </a:t>
            </a:r>
            <a:r>
              <a:rPr lang="zh-CN" altLang="en-US" sz="1100" dirty="0"/>
              <a:t>执行 </a:t>
            </a:r>
            <a:r>
              <a:rPr lang="en-US" altLang="zh-CN" sz="1100" dirty="0"/>
              <a:t>SQL </a:t>
            </a:r>
            <a:r>
              <a:rPr lang="zh-CN" altLang="en-US" sz="1100" dirty="0"/>
              <a:t>操作，所以是程序的 </a:t>
            </a:r>
            <a:r>
              <a:rPr lang="en-US" altLang="zh-CN" sz="1100" dirty="0"/>
              <a:t>Sink </a:t>
            </a:r>
            <a:r>
              <a:rPr lang="zh-CN" altLang="en-US" sz="1100" dirty="0"/>
              <a:t>点，由于参数 </a:t>
            </a:r>
            <a:r>
              <a:rPr lang="en-US" altLang="zh-CN" sz="1100" dirty="0"/>
              <a:t>cmd2 </a:t>
            </a:r>
            <a:r>
              <a:rPr lang="zh-CN" altLang="en-US" sz="1100" dirty="0"/>
              <a:t>是污染的，进而发现污染数据从 </a:t>
            </a:r>
            <a:r>
              <a:rPr lang="en-US" altLang="zh-CN" sz="1100" dirty="0"/>
              <a:t>Source </a:t>
            </a:r>
            <a:r>
              <a:rPr lang="zh-CN" altLang="en-US" sz="1100" dirty="0"/>
              <a:t>点传播到 </a:t>
            </a:r>
            <a:r>
              <a:rPr lang="en-US" altLang="zh-CN" sz="1100" dirty="0"/>
              <a:t>Sink </a:t>
            </a:r>
            <a:r>
              <a:rPr lang="zh-CN" altLang="en-US" sz="1100" dirty="0"/>
              <a:t>点。因此，认为程序存在 </a:t>
            </a:r>
            <a:r>
              <a:rPr lang="en-US" altLang="zh-CN" sz="1100" dirty="0"/>
              <a:t>SQL </a:t>
            </a:r>
            <a:r>
              <a:rPr lang="zh-CN" altLang="en-US" sz="1100" dirty="0"/>
              <a:t>注入漏洞。</a:t>
            </a:r>
          </a:p>
        </p:txBody>
      </p:sp>
    </p:spTree>
    <p:custDataLst>
      <p:tags r:id="rId1"/>
    </p:custDataLst>
    <p:extLst>
      <p:ext uri="{BB962C8B-B14F-4D97-AF65-F5344CB8AC3E}">
        <p14:creationId xmlns:p14="http://schemas.microsoft.com/office/powerpoint/2010/main" val="223657256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3449983"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动态污点分析</a:t>
            </a:r>
            <a:r>
              <a:rPr lang="en-US" altLang="zh-CN" sz="2000" spc="300" dirty="0">
                <a:latin typeface="微软雅黑" panose="020B0503020204020204" pitchFamily="34" charset="-122"/>
                <a:ea typeface="微软雅黑" panose="020B0503020204020204" pitchFamily="34" charset="-122"/>
              </a:rPr>
              <a:t>—</a:t>
            </a:r>
            <a:r>
              <a:rPr lang="zh-CN" altLang="en-US" sz="2000" spc="300" dirty="0">
                <a:latin typeface="微软雅黑" panose="020B0503020204020204" pitchFamily="34" charset="-122"/>
                <a:ea typeface="微软雅黑" panose="020B0503020204020204" pitchFamily="34" charset="-122"/>
              </a:rPr>
              <a:t>基本原理</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
        <p:nvSpPr>
          <p:cNvPr id="7" name="文本框 6">
            <a:extLst>
              <a:ext uri="{FF2B5EF4-FFF2-40B4-BE49-F238E27FC236}">
                <a16:creationId xmlns:a16="http://schemas.microsoft.com/office/drawing/2014/main" id="{13C9435A-4501-1F18-D3B0-A667342E3175}"/>
              </a:ext>
            </a:extLst>
          </p:cNvPr>
          <p:cNvSpPr txBox="1"/>
          <p:nvPr/>
        </p:nvSpPr>
        <p:spPr>
          <a:xfrm>
            <a:off x="656792" y="809944"/>
            <a:ext cx="7468350" cy="1332031"/>
          </a:xfrm>
          <a:prstGeom prst="rect">
            <a:avLst/>
          </a:prstGeom>
          <a:noFill/>
        </p:spPr>
        <p:txBody>
          <a:bodyPr wrap="square" rtlCol="0">
            <a:spAutoFit/>
          </a:bodyPr>
          <a:lstStyle/>
          <a:p>
            <a:pPr>
              <a:lnSpc>
                <a:spcPct val="150000"/>
              </a:lnSpc>
            </a:pP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动态污点分析是在程序运行的基础上，对数据流或控制流进行监控，从而实现对数据在内存中的显式传播、数据误用等进行跟踪和检测。</a:t>
            </a:r>
            <a:endPar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100" b="1"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动态污点分析的方法实现：</a:t>
            </a:r>
            <a:endParaRPr lang="en-US" altLang="zh-CN" sz="1100" b="1"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8" name="图示 7">
            <a:extLst>
              <a:ext uri="{FF2B5EF4-FFF2-40B4-BE49-F238E27FC236}">
                <a16:creationId xmlns:a16="http://schemas.microsoft.com/office/drawing/2014/main" id="{11440FD5-7EC1-C3C3-A6D5-44EACD6D20E7}"/>
              </a:ext>
            </a:extLst>
          </p:cNvPr>
          <p:cNvGraphicFramePr/>
          <p:nvPr/>
        </p:nvGraphicFramePr>
        <p:xfrm>
          <a:off x="1300549" y="1884217"/>
          <a:ext cx="6116782" cy="25007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137599259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08957" y="206330"/>
            <a:ext cx="3449983"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动态污点分析</a:t>
            </a:r>
            <a:r>
              <a:rPr lang="en-US" altLang="zh-CN" sz="2000" spc="300" dirty="0">
                <a:latin typeface="微软雅黑" panose="020B0503020204020204" pitchFamily="34" charset="-122"/>
                <a:ea typeface="微软雅黑" panose="020B0503020204020204" pitchFamily="34" charset="-122"/>
              </a:rPr>
              <a:t>—</a:t>
            </a:r>
            <a:r>
              <a:rPr lang="zh-CN" altLang="en-US" sz="2000" spc="300" dirty="0">
                <a:latin typeface="微软雅黑" panose="020B0503020204020204" pitchFamily="34" charset="-122"/>
                <a:ea typeface="微软雅黑" panose="020B0503020204020204" pitchFamily="34" charset="-122"/>
              </a:rPr>
              <a:t>案例分析</a:t>
            </a:r>
          </a:p>
        </p:txBody>
      </p:sp>
      <p:sp>
        <p:nvSpPr>
          <p:cNvPr id="110" name="TextBox 109"/>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
        <p:nvSpPr>
          <p:cNvPr id="7" name="文本框 6">
            <a:extLst>
              <a:ext uri="{FF2B5EF4-FFF2-40B4-BE49-F238E27FC236}">
                <a16:creationId xmlns:a16="http://schemas.microsoft.com/office/drawing/2014/main" id="{13C9435A-4501-1F18-D3B0-A667342E3175}"/>
              </a:ext>
            </a:extLst>
          </p:cNvPr>
          <p:cNvSpPr txBox="1"/>
          <p:nvPr/>
        </p:nvSpPr>
        <p:spPr>
          <a:xfrm>
            <a:off x="656792" y="809944"/>
            <a:ext cx="7468350" cy="316369"/>
          </a:xfrm>
          <a:prstGeom prst="rect">
            <a:avLst/>
          </a:prstGeom>
          <a:noFill/>
        </p:spPr>
        <p:txBody>
          <a:bodyPr wrap="square" rtlCol="0">
            <a:spAutoFit/>
          </a:bodyPr>
          <a:lstStyle/>
          <a:p>
            <a:pPr>
              <a:lnSpc>
                <a:spcPct val="150000"/>
              </a:lnSpc>
            </a:pP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使用动态污点分析的方法检测缓冲区溢出漏洞的例子：调用 </a:t>
            </a:r>
            <a:r>
              <a:rPr lang="en-US" altLang="zh-CN" sz="1100" dirty="0" err="1">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strncpy</a:t>
            </a:r>
            <a:r>
              <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函数存在缓冲区溢出。</a:t>
            </a:r>
            <a:endParaRPr lang="en-US" altLang="zh-CN" sz="1100" dirty="0">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D6F96FC6-E837-0F2C-292A-4C6D740BC719}"/>
              </a:ext>
            </a:extLst>
          </p:cNvPr>
          <p:cNvSpPr txBox="1"/>
          <p:nvPr/>
        </p:nvSpPr>
        <p:spPr>
          <a:xfrm>
            <a:off x="5029201" y="1126313"/>
            <a:ext cx="3458008" cy="261610"/>
          </a:xfrm>
          <a:prstGeom prst="rect">
            <a:avLst/>
          </a:prstGeom>
          <a:noFill/>
        </p:spPr>
        <p:txBody>
          <a:bodyPr wrap="square" rtlCol="0">
            <a:spAutoFit/>
          </a:bodyPr>
          <a:lstStyle/>
          <a:p>
            <a:r>
              <a:rPr lang="zh-CN" altLang="en-US" sz="1100" dirty="0">
                <a:latin typeface="微软雅黑" panose="020B0503020204020204" pitchFamily="34" charset="-122"/>
                <a:ea typeface="微软雅黑" panose="020B0503020204020204" pitchFamily="34" charset="-122"/>
              </a:rPr>
              <a:t>程序接受外部输入字符串的二进制代码如下：</a:t>
            </a:r>
          </a:p>
        </p:txBody>
      </p:sp>
      <p:pic>
        <p:nvPicPr>
          <p:cNvPr id="5" name="图片 4">
            <a:extLst>
              <a:ext uri="{FF2B5EF4-FFF2-40B4-BE49-F238E27FC236}">
                <a16:creationId xmlns:a16="http://schemas.microsoft.com/office/drawing/2014/main" id="{3081F2F4-3BB6-F7CB-9F76-9A7C281D76BB}"/>
              </a:ext>
            </a:extLst>
          </p:cNvPr>
          <p:cNvPicPr>
            <a:picLocks noChangeAspect="1"/>
          </p:cNvPicPr>
          <p:nvPr/>
        </p:nvPicPr>
        <p:blipFill>
          <a:blip r:embed="rId5"/>
          <a:stretch>
            <a:fillRect/>
          </a:stretch>
        </p:blipFill>
        <p:spPr>
          <a:xfrm>
            <a:off x="554558" y="1691214"/>
            <a:ext cx="4017442" cy="2463946"/>
          </a:xfrm>
          <a:prstGeom prst="rect">
            <a:avLst/>
          </a:prstGeom>
        </p:spPr>
      </p:pic>
      <p:sp>
        <p:nvSpPr>
          <p:cNvPr id="18" name="文本框 17">
            <a:extLst>
              <a:ext uri="{FF2B5EF4-FFF2-40B4-BE49-F238E27FC236}">
                <a16:creationId xmlns:a16="http://schemas.microsoft.com/office/drawing/2014/main" id="{CF388294-779B-B856-A4AB-0B1EAF232511}"/>
              </a:ext>
            </a:extLst>
          </p:cNvPr>
          <p:cNvSpPr txBox="1"/>
          <p:nvPr/>
        </p:nvSpPr>
        <p:spPr>
          <a:xfrm>
            <a:off x="4934948" y="2923187"/>
            <a:ext cx="3458008" cy="261610"/>
          </a:xfrm>
          <a:prstGeom prst="rect">
            <a:avLst/>
          </a:prstGeom>
          <a:noFill/>
        </p:spPr>
        <p:txBody>
          <a:bodyPr wrap="square" rtlCol="0">
            <a:spAutoFit/>
          </a:bodyPr>
          <a:lstStyle/>
          <a:p>
            <a:r>
              <a:rPr lang="zh-CN" altLang="en-US" sz="1100" dirty="0">
                <a:latin typeface="微软雅黑" panose="020B0503020204020204" pitchFamily="34" charset="-122"/>
                <a:ea typeface="微软雅黑" panose="020B0503020204020204" pitchFamily="34" charset="-122"/>
              </a:rPr>
              <a:t>程序调用 </a:t>
            </a:r>
            <a:r>
              <a:rPr lang="en-US" altLang="zh-CN" sz="1100" dirty="0" err="1">
                <a:latin typeface="微软雅黑" panose="020B0503020204020204" pitchFamily="34" charset="-122"/>
                <a:ea typeface="微软雅黑" panose="020B0503020204020204" pitchFamily="34" charset="-122"/>
              </a:rPr>
              <a:t>strncpy</a:t>
            </a:r>
            <a:r>
              <a:rPr lang="en-US" altLang="zh-CN" sz="1100" dirty="0">
                <a:latin typeface="微软雅黑" panose="020B0503020204020204" pitchFamily="34" charset="-122"/>
                <a:ea typeface="微软雅黑" panose="020B0503020204020204" pitchFamily="34" charset="-122"/>
              </a:rPr>
              <a:t> </a:t>
            </a:r>
            <a:r>
              <a:rPr lang="zh-CN" altLang="en-US" sz="1100" dirty="0">
                <a:latin typeface="微软雅黑" panose="020B0503020204020204" pitchFamily="34" charset="-122"/>
                <a:ea typeface="微软雅黑" panose="020B0503020204020204" pitchFamily="34" charset="-122"/>
              </a:rPr>
              <a:t>函数的二进制代码如下：</a:t>
            </a:r>
          </a:p>
        </p:txBody>
      </p:sp>
      <p:pic>
        <p:nvPicPr>
          <p:cNvPr id="20" name="图片 19">
            <a:extLst>
              <a:ext uri="{FF2B5EF4-FFF2-40B4-BE49-F238E27FC236}">
                <a16:creationId xmlns:a16="http://schemas.microsoft.com/office/drawing/2014/main" id="{F9110B6C-888C-A70F-E0C8-DD380861DFB5}"/>
              </a:ext>
            </a:extLst>
          </p:cNvPr>
          <p:cNvPicPr>
            <a:picLocks noChangeAspect="1"/>
          </p:cNvPicPr>
          <p:nvPr/>
        </p:nvPicPr>
        <p:blipFill>
          <a:blip r:embed="rId6"/>
          <a:stretch>
            <a:fillRect/>
          </a:stretch>
        </p:blipFill>
        <p:spPr>
          <a:xfrm>
            <a:off x="5029201" y="1383882"/>
            <a:ext cx="2865461" cy="1511516"/>
          </a:xfrm>
          <a:prstGeom prst="rect">
            <a:avLst/>
          </a:prstGeom>
        </p:spPr>
      </p:pic>
      <p:pic>
        <p:nvPicPr>
          <p:cNvPr id="22" name="图片 21">
            <a:extLst>
              <a:ext uri="{FF2B5EF4-FFF2-40B4-BE49-F238E27FC236}">
                <a16:creationId xmlns:a16="http://schemas.microsoft.com/office/drawing/2014/main" id="{039C55DC-7ECC-B599-A6BD-9343625B2C4A}"/>
              </a:ext>
            </a:extLst>
          </p:cNvPr>
          <p:cNvPicPr>
            <a:picLocks noChangeAspect="1"/>
          </p:cNvPicPr>
          <p:nvPr/>
        </p:nvPicPr>
        <p:blipFill>
          <a:blip r:embed="rId7"/>
          <a:stretch>
            <a:fillRect/>
          </a:stretch>
        </p:blipFill>
        <p:spPr>
          <a:xfrm>
            <a:off x="5029201" y="3212586"/>
            <a:ext cx="3087134" cy="1819413"/>
          </a:xfrm>
          <a:prstGeom prst="rect">
            <a:avLst/>
          </a:prstGeom>
        </p:spPr>
      </p:pic>
      <p:sp>
        <p:nvSpPr>
          <p:cNvPr id="3" name="矩形: 圆角 2">
            <a:extLst>
              <a:ext uri="{FF2B5EF4-FFF2-40B4-BE49-F238E27FC236}">
                <a16:creationId xmlns:a16="http://schemas.microsoft.com/office/drawing/2014/main" id="{9E045828-7903-BE9E-52EF-BD0D095A78FD}"/>
              </a:ext>
            </a:extLst>
          </p:cNvPr>
          <p:cNvSpPr/>
          <p:nvPr/>
        </p:nvSpPr>
        <p:spPr>
          <a:xfrm>
            <a:off x="1177636" y="1995055"/>
            <a:ext cx="921328" cy="17056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405FFD45-6B2A-2BFD-6B08-F3A7CB1661E2}"/>
              </a:ext>
            </a:extLst>
          </p:cNvPr>
          <p:cNvSpPr/>
          <p:nvPr/>
        </p:nvSpPr>
        <p:spPr>
          <a:xfrm>
            <a:off x="1214701" y="2895398"/>
            <a:ext cx="981243" cy="17056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B3E8E92A-19F4-046D-046E-7A7DE5AC6A67}"/>
              </a:ext>
            </a:extLst>
          </p:cNvPr>
          <p:cNvSpPr/>
          <p:nvPr/>
        </p:nvSpPr>
        <p:spPr>
          <a:xfrm>
            <a:off x="1177636" y="2296282"/>
            <a:ext cx="2057400" cy="17056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57485777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0C56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773787"/>
            <a:ext cx="2236510" cy="584775"/>
          </a:xfrm>
          <a:prstGeom prst="rect">
            <a:avLst/>
          </a:prstGeom>
          <a:noFill/>
        </p:spPr>
        <p:txBody>
          <a:bodyPr wrap="none" rtlCol="0">
            <a:spAutoFit/>
          </a:bodyPr>
          <a:lstStyle/>
          <a:p>
            <a:r>
              <a:rPr lang="zh-CN" altLang="en-US" sz="3200" b="1" dirty="0">
                <a:latin typeface="等线" panose="02010600030101010101" pitchFamily="2" charset="-122"/>
                <a:ea typeface="等线" panose="02010600030101010101" pitchFamily="2" charset="-122"/>
              </a:rPr>
              <a:t>思考与实践</a:t>
            </a:r>
          </a:p>
        </p:txBody>
      </p:sp>
      <p:sp>
        <p:nvSpPr>
          <p:cNvPr id="3" name="TextBox 2"/>
          <p:cNvSpPr txBox="1"/>
          <p:nvPr/>
        </p:nvSpPr>
        <p:spPr>
          <a:xfrm>
            <a:off x="2394866" y="2896649"/>
            <a:ext cx="1241030" cy="307777"/>
          </a:xfrm>
          <a:prstGeom prst="rect">
            <a:avLst/>
          </a:prstGeom>
          <a:noFill/>
        </p:spPr>
        <p:txBody>
          <a:bodyPr wrap="square" lIns="0" tIns="0" rIns="0" bIns="0"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第五部分</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grpSp>
      <p:sp>
        <p:nvSpPr>
          <p:cNvPr id="15" name="TextBox 14"/>
          <p:cNvSpPr txBox="1"/>
          <p:nvPr/>
        </p:nvSpPr>
        <p:spPr>
          <a:xfrm>
            <a:off x="4450203" y="2490902"/>
            <a:ext cx="1261884" cy="369332"/>
          </a:xfrm>
          <a:prstGeom prst="rect">
            <a:avLst/>
          </a:prstGeom>
          <a:noFill/>
        </p:spPr>
        <p:txBody>
          <a:bodyPr wrap="none" rtlCol="0">
            <a:spAutoFit/>
          </a:bodyPr>
          <a:lstStyle/>
          <a:p>
            <a:r>
              <a:rPr lang="zh-CN" altLang="en-US" spc="300" dirty="0">
                <a:latin typeface="微软雅黑" panose="020B0503020204020204" pitchFamily="34" charset="-122"/>
                <a:ea typeface="微软雅黑" panose="020B0503020204020204" pitchFamily="34" charset="-122"/>
              </a:rPr>
              <a:t>理论问题</a:t>
            </a:r>
          </a:p>
        </p:txBody>
      </p:sp>
      <p:sp>
        <p:nvSpPr>
          <p:cNvPr id="24" name="椭圆 23"/>
          <p:cNvSpPr/>
          <p:nvPr/>
        </p:nvSpPr>
        <p:spPr>
          <a:xfrm>
            <a:off x="4156315" y="2518400"/>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8" name="TextBox 27"/>
          <p:cNvSpPr txBox="1"/>
          <p:nvPr/>
        </p:nvSpPr>
        <p:spPr>
          <a:xfrm>
            <a:off x="4450203" y="2906617"/>
            <a:ext cx="1107996"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实践问题</a:t>
            </a:r>
          </a:p>
        </p:txBody>
      </p:sp>
      <p:sp>
        <p:nvSpPr>
          <p:cNvPr id="30" name="椭圆 29"/>
          <p:cNvSpPr/>
          <p:nvPr/>
        </p:nvSpPr>
        <p:spPr>
          <a:xfrm>
            <a:off x="4156315" y="2929670"/>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21657" y="162449"/>
            <a:ext cx="1364476" cy="400110"/>
          </a:xfrm>
          <a:prstGeom prst="rect">
            <a:avLst/>
          </a:prstGeom>
          <a:noFill/>
        </p:spPr>
        <p:txBody>
          <a:bodyPr wrap="none" rtlCol="0">
            <a:spAutoFit/>
          </a:bodyPr>
          <a:lstStyle/>
          <a:p>
            <a:r>
              <a:rPr lang="zh-TW" altLang="en-US" sz="2000" spc="300" dirty="0">
                <a:latin typeface="微软雅黑" panose="020B0503020204020204" pitchFamily="34" charset="-122"/>
                <a:ea typeface="微软雅黑" panose="020B0503020204020204" pitchFamily="34" charset="-122"/>
              </a:rPr>
              <a:t>理论</a:t>
            </a:r>
            <a:r>
              <a:rPr lang="zh-CN" altLang="en-US" sz="2000" spc="300" dirty="0">
                <a:latin typeface="微软雅黑" panose="020B0503020204020204" pitchFamily="34" charset="-122"/>
                <a:ea typeface="微软雅黑" panose="020B0503020204020204" pitchFamily="34" charset="-122"/>
              </a:rPr>
              <a:t>问题</a:t>
            </a:r>
          </a:p>
        </p:txBody>
      </p:sp>
      <p:sp>
        <p:nvSpPr>
          <p:cNvPr id="87" name="TextBox 86"/>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
        <p:nvSpPr>
          <p:cNvPr id="2" name="文本框 1">
            <a:extLst>
              <a:ext uri="{FF2B5EF4-FFF2-40B4-BE49-F238E27FC236}">
                <a16:creationId xmlns:a16="http://schemas.microsoft.com/office/drawing/2014/main" id="{CF477F89-AA9D-1FFC-59A8-1AB1F7C928A4}"/>
              </a:ext>
            </a:extLst>
          </p:cNvPr>
          <p:cNvSpPr txBox="1"/>
          <p:nvPr/>
        </p:nvSpPr>
        <p:spPr>
          <a:xfrm>
            <a:off x="784267" y="773387"/>
            <a:ext cx="7452105" cy="377411"/>
          </a:xfrm>
          <a:prstGeom prst="rect">
            <a:avLst/>
          </a:prstGeom>
          <a:noFill/>
        </p:spPr>
        <p:txBody>
          <a:bodyPr wrap="square" rtlCol="0">
            <a:spAutoFit/>
          </a:bodyPr>
          <a:lstStyle/>
          <a:p>
            <a:pPr>
              <a:lnSpc>
                <a:spcPct val="150000"/>
              </a:lnSpc>
            </a:pPr>
            <a:r>
              <a:rPr lang="zh-CN" altLang="en-US" sz="1400" dirty="0">
                <a:latin typeface="微软雅黑" panose="020B0503020204020204" pitchFamily="34" charset="-122"/>
                <a:ea typeface="微软雅黑" panose="020B0503020204020204" pitchFamily="34" charset="-122"/>
              </a:rPr>
              <a:t>理论问题</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：漏洞挖掘技术基于源代码和基于二进制的形式分别有什么优缺点？</a:t>
            </a:r>
            <a:endParaRPr lang="en-US" altLang="zh-CN" sz="1400" dirty="0">
              <a:latin typeface="微软雅黑" panose="020B0503020204020204" pitchFamily="34" charset="-122"/>
              <a:ea typeface="微软雅黑" panose="020B0503020204020204" pitchFamily="34" charset="-122"/>
            </a:endParaRPr>
          </a:p>
        </p:txBody>
      </p:sp>
      <p:graphicFrame>
        <p:nvGraphicFramePr>
          <p:cNvPr id="5" name="表格 5">
            <a:extLst>
              <a:ext uri="{FF2B5EF4-FFF2-40B4-BE49-F238E27FC236}">
                <a16:creationId xmlns:a16="http://schemas.microsoft.com/office/drawing/2014/main" id="{66D96778-1BB4-19F0-8B00-26587E74A682}"/>
              </a:ext>
            </a:extLst>
          </p:cNvPr>
          <p:cNvGraphicFramePr>
            <a:graphicFrameLocks noGrp="1"/>
          </p:cNvGraphicFramePr>
          <p:nvPr>
            <p:extLst>
              <p:ext uri="{D42A27DB-BD31-4B8C-83A1-F6EECF244321}">
                <p14:modId xmlns:p14="http://schemas.microsoft.com/office/powerpoint/2010/main" val="2145383324"/>
              </p:ext>
            </p:extLst>
          </p:nvPr>
        </p:nvGraphicFramePr>
        <p:xfrm>
          <a:off x="515257" y="1340850"/>
          <a:ext cx="8113485" cy="3464969"/>
        </p:xfrm>
        <a:graphic>
          <a:graphicData uri="http://schemas.openxmlformats.org/drawingml/2006/table">
            <a:tbl>
              <a:tblPr firstRow="1" bandRow="1">
                <a:tableStyleId>{2A488322-F2BA-4B5B-9748-0D474271808F}</a:tableStyleId>
              </a:tblPr>
              <a:tblGrid>
                <a:gridCol w="2704495">
                  <a:extLst>
                    <a:ext uri="{9D8B030D-6E8A-4147-A177-3AD203B41FA5}">
                      <a16:colId xmlns:a16="http://schemas.microsoft.com/office/drawing/2014/main" val="190605503"/>
                    </a:ext>
                  </a:extLst>
                </a:gridCol>
                <a:gridCol w="2704495">
                  <a:extLst>
                    <a:ext uri="{9D8B030D-6E8A-4147-A177-3AD203B41FA5}">
                      <a16:colId xmlns:a16="http://schemas.microsoft.com/office/drawing/2014/main" val="2704356716"/>
                    </a:ext>
                  </a:extLst>
                </a:gridCol>
                <a:gridCol w="2704495">
                  <a:extLst>
                    <a:ext uri="{9D8B030D-6E8A-4147-A177-3AD203B41FA5}">
                      <a16:colId xmlns:a16="http://schemas.microsoft.com/office/drawing/2014/main" val="3044824906"/>
                    </a:ext>
                  </a:extLst>
                </a:gridCol>
              </a:tblGrid>
              <a:tr h="316378">
                <a:tc>
                  <a:txBody>
                    <a:bodyPr/>
                    <a:lstStyle/>
                    <a:p>
                      <a:pPr algn="ctr"/>
                      <a:endParaRPr lang="zh-CN" altLang="en-US" sz="1600" dirty="0"/>
                    </a:p>
                  </a:txBody>
                  <a:tcPr/>
                </a:tc>
                <a:tc>
                  <a:txBody>
                    <a:bodyPr/>
                    <a:lstStyle/>
                    <a:p>
                      <a:pPr algn="ctr"/>
                      <a:r>
                        <a:rPr lang="zh-CN" altLang="en-US" sz="1600" dirty="0"/>
                        <a:t>优点</a:t>
                      </a:r>
                    </a:p>
                  </a:txBody>
                  <a:tcPr/>
                </a:tc>
                <a:tc>
                  <a:txBody>
                    <a:bodyPr/>
                    <a:lstStyle/>
                    <a:p>
                      <a:pPr algn="ctr"/>
                      <a:r>
                        <a:rPr lang="zh-CN" altLang="en-US" sz="1600" dirty="0"/>
                        <a:t>缺点</a:t>
                      </a:r>
                    </a:p>
                  </a:txBody>
                  <a:tcPr/>
                </a:tc>
                <a:extLst>
                  <a:ext uri="{0D108BD9-81ED-4DB2-BD59-A6C34878D82A}">
                    <a16:rowId xmlns:a16="http://schemas.microsoft.com/office/drawing/2014/main" val="3952813919"/>
                  </a:ext>
                </a:extLst>
              </a:tr>
              <a:tr h="1544729">
                <a:tc>
                  <a:txBody>
                    <a:bodyPr/>
                    <a:lstStyle/>
                    <a:p>
                      <a:pPr algn="ctr"/>
                      <a:endParaRPr lang="en-US" altLang="zh-CN" sz="1600" dirty="0">
                        <a:latin typeface="微软雅黑" panose="020B0503020204020204" pitchFamily="34" charset="-122"/>
                        <a:ea typeface="微软雅黑" panose="020B0503020204020204" pitchFamily="34" charset="-122"/>
                      </a:endParaRPr>
                    </a:p>
                    <a:p>
                      <a:pPr algn="ct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基于源代码</a:t>
                      </a:r>
                      <a:endParaRPr lang="zh-CN" altLang="en-US" sz="1600" dirty="0"/>
                    </a:p>
                  </a:txBody>
                  <a:tcPr/>
                </a:tc>
                <a:tc>
                  <a:txBody>
                    <a:bodyPr/>
                    <a:lstStyle/>
                    <a:p>
                      <a:pPr algn="l"/>
                      <a:r>
                        <a:rPr lang="zh-CN" altLang="en-US" sz="1400" dirty="0"/>
                        <a:t>①可以直接分析源码逻辑和结构，容易理解和修改代码；</a:t>
                      </a:r>
                    </a:p>
                    <a:p>
                      <a:pPr algn="l"/>
                      <a:r>
                        <a:rPr lang="zh-CN" altLang="en-US" sz="1400" dirty="0"/>
                        <a:t>②可以更好地理解程序功能和内部实现；</a:t>
                      </a:r>
                    </a:p>
                    <a:p>
                      <a:pPr algn="l"/>
                      <a:r>
                        <a:rPr lang="zh-CN" altLang="en-US" sz="1400" dirty="0"/>
                        <a:t>③可以更快速地识别出代码错误，提高代码质量。</a:t>
                      </a:r>
                    </a:p>
                  </a:txBody>
                  <a:tcPr/>
                </a:tc>
                <a:tc>
                  <a:txBody>
                    <a:bodyPr/>
                    <a:lstStyle/>
                    <a:p>
                      <a:pPr algn="l"/>
                      <a:r>
                        <a:rPr lang="zh-CN" altLang="en-US" sz="1400" dirty="0"/>
                        <a:t>①需要访问源代码；</a:t>
                      </a:r>
                    </a:p>
                    <a:p>
                      <a:pPr algn="l"/>
                      <a:r>
                        <a:rPr lang="zh-CN" altLang="en-US" sz="1400" dirty="0"/>
                        <a:t>②漏洞挖掘过程可能会受限于开发语言、编译器和其他开发工具的特定版本；</a:t>
                      </a:r>
                    </a:p>
                    <a:p>
                      <a:pPr algn="l"/>
                      <a:r>
                        <a:rPr lang="zh-CN" altLang="en-US" sz="1400" dirty="0"/>
                        <a:t>③可能需要大量时间和人力才能完成分析。</a:t>
                      </a:r>
                    </a:p>
                  </a:txBody>
                  <a:tcPr/>
                </a:tc>
                <a:extLst>
                  <a:ext uri="{0D108BD9-81ED-4DB2-BD59-A6C34878D82A}">
                    <a16:rowId xmlns:a16="http://schemas.microsoft.com/office/drawing/2014/main" val="1284335645"/>
                  </a:ext>
                </a:extLst>
              </a:tr>
              <a:tr h="1467715">
                <a:tc>
                  <a:txBody>
                    <a:bodyPr/>
                    <a:lstStyle/>
                    <a:p>
                      <a:pPr algn="ct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基于二进制</a:t>
                      </a:r>
                      <a:endParaRPr lang="zh-CN" altLang="en-US" sz="1600" dirty="0"/>
                    </a:p>
                  </a:txBody>
                  <a:tcPr/>
                </a:tc>
                <a:tc>
                  <a:txBody>
                    <a:bodyPr/>
                    <a:lstStyle/>
                    <a:p>
                      <a:pPr algn="l"/>
                      <a:r>
                        <a:rPr lang="zh-CN" altLang="en-US" sz="1400" dirty="0"/>
                        <a:t>①不需要访问源代码；</a:t>
                      </a:r>
                    </a:p>
                    <a:p>
                      <a:pPr algn="l"/>
                      <a:r>
                        <a:rPr lang="zh-CN" altLang="en-US" sz="1400" dirty="0"/>
                        <a:t>②可以避免受到特定开发工具或版本的限制。</a:t>
                      </a:r>
                    </a:p>
                    <a:p>
                      <a:pPr algn="l"/>
                      <a:endParaRPr lang="zh-CN" altLang="en-US" sz="1400" dirty="0"/>
                    </a:p>
                  </a:txBody>
                  <a:tcPr/>
                </a:tc>
                <a:tc>
                  <a:txBody>
                    <a:bodyPr/>
                    <a:lstStyle/>
                    <a:p>
                      <a:r>
                        <a:rPr lang="zh-CN" altLang="en-US" sz="1400" b="0" i="0" kern="1200" dirty="0">
                          <a:solidFill>
                            <a:schemeClr val="dk1"/>
                          </a:solidFill>
                          <a:effectLst/>
                          <a:latin typeface="+mn-lt"/>
                          <a:ea typeface="+mn-ea"/>
                          <a:cs typeface="+mn-cs"/>
                        </a:rPr>
                        <a:t>①反汇编后的代码难以理解，可读性差；</a:t>
                      </a:r>
                      <a:endParaRPr lang="zh-CN" altLang="en-US" sz="1400" dirty="0">
                        <a:effectLst/>
                      </a:endParaRPr>
                    </a:p>
                    <a:p>
                      <a:r>
                        <a:rPr lang="zh-CN" altLang="en-US" sz="1400" b="0" i="0" kern="1200" dirty="0">
                          <a:solidFill>
                            <a:schemeClr val="dk1"/>
                          </a:solidFill>
                          <a:effectLst/>
                          <a:latin typeface="+mn-lt"/>
                          <a:ea typeface="+mn-ea"/>
                          <a:cs typeface="+mn-cs"/>
                        </a:rPr>
                        <a:t>②可能无法确定代码结构和逻辑，导致漏洞挖掘过程更为困难；</a:t>
                      </a:r>
                      <a:endParaRPr lang="zh-CN" altLang="en-US" sz="1400" dirty="0">
                        <a:effectLst/>
                      </a:endParaRPr>
                    </a:p>
                    <a:p>
                      <a:r>
                        <a:rPr lang="zh-CN" altLang="en-US" sz="1400" b="0" i="0" kern="1200" dirty="0">
                          <a:solidFill>
                            <a:schemeClr val="dk1"/>
                          </a:solidFill>
                          <a:effectLst/>
                          <a:latin typeface="+mn-lt"/>
                          <a:ea typeface="+mn-ea"/>
                          <a:cs typeface="+mn-cs"/>
                        </a:rPr>
                        <a:t>③不能保证发现所有漏洞；</a:t>
                      </a:r>
                      <a:endParaRPr lang="zh-CN" altLang="en-US" sz="1400" dirty="0">
                        <a:effectLst/>
                      </a:endParaRPr>
                    </a:p>
                    <a:p>
                      <a:r>
                        <a:rPr lang="zh-CN" altLang="en-US" sz="1400" b="0" i="0" kern="1200" dirty="0">
                          <a:solidFill>
                            <a:schemeClr val="dk1"/>
                          </a:solidFill>
                          <a:effectLst/>
                          <a:latin typeface="+mn-lt"/>
                          <a:ea typeface="+mn-ea"/>
                          <a:cs typeface="+mn-cs"/>
                        </a:rPr>
                        <a:t>④可能需要针对不同的体系结构编写不同的二进制分析工具。</a:t>
                      </a:r>
                      <a:endParaRPr lang="zh-CN" altLang="en-US" sz="1400" dirty="0">
                        <a:effectLst/>
                      </a:endParaRPr>
                    </a:p>
                  </a:txBody>
                  <a:tcPr/>
                </a:tc>
                <a:extLst>
                  <a:ext uri="{0D108BD9-81ED-4DB2-BD59-A6C34878D82A}">
                    <a16:rowId xmlns:a16="http://schemas.microsoft.com/office/drawing/2014/main" val="337975868"/>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21657" y="162449"/>
            <a:ext cx="1364476" cy="400110"/>
          </a:xfrm>
          <a:prstGeom prst="rect">
            <a:avLst/>
          </a:prstGeom>
          <a:noFill/>
        </p:spPr>
        <p:txBody>
          <a:bodyPr wrap="none" rtlCol="0">
            <a:spAutoFit/>
          </a:bodyPr>
          <a:lstStyle/>
          <a:p>
            <a:r>
              <a:rPr lang="zh-TW" altLang="en-US" sz="2000" spc="300" dirty="0">
                <a:latin typeface="微软雅黑" panose="020B0503020204020204" pitchFamily="34" charset="-122"/>
                <a:ea typeface="微软雅黑" panose="020B0503020204020204" pitchFamily="34" charset="-122"/>
              </a:rPr>
              <a:t>理论</a:t>
            </a:r>
            <a:r>
              <a:rPr lang="zh-CN" altLang="en-US" sz="2000" spc="300" dirty="0">
                <a:latin typeface="微软雅黑" panose="020B0503020204020204" pitchFamily="34" charset="-122"/>
                <a:ea typeface="微软雅黑" panose="020B0503020204020204" pitchFamily="34" charset="-122"/>
              </a:rPr>
              <a:t>问题</a:t>
            </a:r>
          </a:p>
        </p:txBody>
      </p:sp>
      <p:sp>
        <p:nvSpPr>
          <p:cNvPr id="87" name="TextBox 86"/>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
        <p:nvSpPr>
          <p:cNvPr id="2" name="文本框 1">
            <a:extLst>
              <a:ext uri="{FF2B5EF4-FFF2-40B4-BE49-F238E27FC236}">
                <a16:creationId xmlns:a16="http://schemas.microsoft.com/office/drawing/2014/main" id="{CF477F89-AA9D-1FFC-59A8-1AB1F7C928A4}"/>
              </a:ext>
            </a:extLst>
          </p:cNvPr>
          <p:cNvSpPr txBox="1"/>
          <p:nvPr/>
        </p:nvSpPr>
        <p:spPr>
          <a:xfrm>
            <a:off x="784266" y="773387"/>
            <a:ext cx="7698551" cy="2685735"/>
          </a:xfrm>
          <a:prstGeom prst="rect">
            <a:avLst/>
          </a:prstGeom>
          <a:noFill/>
        </p:spPr>
        <p:txBody>
          <a:bodyPr wrap="square" rtlCol="0">
            <a:spAutoFit/>
          </a:bodyPr>
          <a:lstStyle/>
          <a:p>
            <a:pPr>
              <a:lnSpc>
                <a:spcPct val="150000"/>
              </a:lnSpc>
            </a:pPr>
            <a:r>
              <a:rPr lang="zh-CN" altLang="en-US" sz="1400" dirty="0">
                <a:latin typeface="微软雅黑" panose="020B0503020204020204" pitchFamily="34" charset="-122"/>
                <a:ea typeface="微软雅黑" panose="020B0503020204020204" pitchFamily="34" charset="-122"/>
              </a:rPr>
              <a:t>理论问题</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：为什么基于模式的静态分析技术不直接分析汇编代码，而是分析其抽象转换的中间表示（</a:t>
            </a:r>
            <a:r>
              <a:rPr lang="en-US" altLang="zh-CN" sz="1400" dirty="0">
                <a:latin typeface="微软雅黑" panose="020B0503020204020204" pitchFamily="34" charset="-122"/>
                <a:ea typeface="微软雅黑" panose="020B0503020204020204" pitchFamily="34" charset="-122"/>
              </a:rPr>
              <a:t>IR</a:t>
            </a:r>
            <a:r>
              <a:rPr lang="zh-CN" altLang="en-US" sz="1400" dirty="0">
                <a:latin typeface="微软雅黑" panose="020B0503020204020204" pitchFamily="34" charset="-122"/>
                <a:ea typeface="微软雅黑" panose="020B0503020204020204" pitchFamily="34" charset="-122"/>
              </a:rPr>
              <a:t>）形式？</a:t>
            </a:r>
            <a:endParaRPr lang="en-US" altLang="zh-CN" sz="1400" dirty="0">
              <a:latin typeface="微软雅黑" panose="020B0503020204020204" pitchFamily="34" charset="-122"/>
              <a:ea typeface="微软雅黑" panose="020B0503020204020204" pitchFamily="34" charset="-122"/>
            </a:endParaRPr>
          </a:p>
          <a:p>
            <a:pPr>
              <a:lnSpc>
                <a:spcPct val="150000"/>
              </a:lnSpc>
            </a:pPr>
            <a:endParaRPr lang="en-US" altLang="zh-CN" sz="1400" dirty="0">
              <a:latin typeface="微软雅黑" panose="020B0503020204020204" pitchFamily="34" charset="-122"/>
              <a:ea typeface="微软雅黑" panose="020B0503020204020204" pitchFamily="34" charset="-122"/>
            </a:endParaRPr>
          </a:p>
          <a:p>
            <a:pPr>
              <a:lnSpc>
                <a:spcPct val="150000"/>
              </a:lnSpc>
            </a:pPr>
            <a:endParaRPr lang="en-US" altLang="zh-CN" sz="1400" dirty="0">
              <a:latin typeface="微软雅黑" panose="020B0503020204020204" pitchFamily="34" charset="-122"/>
              <a:ea typeface="微软雅黑" panose="020B0503020204020204" pitchFamily="34" charset="-122"/>
            </a:endParaRPr>
          </a:p>
          <a:p>
            <a:pPr>
              <a:lnSpc>
                <a:spcPct val="150000"/>
              </a:lnSpc>
            </a:pPr>
            <a:r>
              <a:rPr lang="zh-CN" altLang="en-US" sz="1400" dirty="0">
                <a:latin typeface="微软雅黑" panose="020B0503020204020204" pitchFamily="34" charset="-122"/>
                <a:ea typeface="微软雅黑" panose="020B0503020204020204" pitchFamily="34" charset="-122"/>
              </a:rPr>
              <a:t>答：由于不同</a:t>
            </a:r>
            <a:r>
              <a:rPr lang="en-US" altLang="zh-CN" sz="1400" dirty="0">
                <a:latin typeface="微软雅黑" panose="020B0503020204020204" pitchFamily="34" charset="-122"/>
                <a:ea typeface="微软雅黑" panose="020B0503020204020204" pitchFamily="34" charset="-122"/>
              </a:rPr>
              <a:t>CPU</a:t>
            </a:r>
            <a:r>
              <a:rPr lang="zh-CN" altLang="en-US" sz="1400" dirty="0">
                <a:latin typeface="微软雅黑" panose="020B0503020204020204" pitchFamily="34" charset="-122"/>
                <a:ea typeface="微软雅黑" panose="020B0503020204020204" pitchFamily="34" charset="-122"/>
              </a:rPr>
              <a:t>架构采用不同的汇编指令集，而且单条指令常常会影响多个操作数，所以直接基于汇编代码分析程序会存在很大的不确定性。而二进制代码的中间表示形式独立于</a:t>
            </a:r>
            <a:r>
              <a:rPr lang="en-US" altLang="zh-CN" sz="1400" dirty="0">
                <a:latin typeface="微软雅黑" panose="020B0503020204020204" pitchFamily="34" charset="-122"/>
                <a:ea typeface="微软雅黑" panose="020B0503020204020204" pitchFamily="34" charset="-122"/>
              </a:rPr>
              <a:t>CPU</a:t>
            </a:r>
            <a:r>
              <a:rPr lang="zh-CN" altLang="en-US" sz="1400" dirty="0">
                <a:latin typeface="微软雅黑" panose="020B0503020204020204" pitchFamily="34" charset="-122"/>
                <a:ea typeface="微软雅黑" panose="020B0503020204020204" pitchFamily="34" charset="-122"/>
              </a:rPr>
              <a:t>架构，将每个指令转换为几个原子指令，指令集更小，简化了内存表示，提升了程序分析的精确性，因此，对二进制程序的逆向分析普遍基于其中间表示形式。</a:t>
            </a:r>
          </a:p>
        </p:txBody>
      </p:sp>
    </p:spTree>
    <p:custDataLst>
      <p:tags r:id="rId1"/>
    </p:custDataLst>
    <p:extLst>
      <p:ext uri="{BB962C8B-B14F-4D97-AF65-F5344CB8AC3E}">
        <p14:creationId xmlns:p14="http://schemas.microsoft.com/office/powerpoint/2010/main" val="2664115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921657" y="162449"/>
            <a:ext cx="1364476" cy="400110"/>
          </a:xfrm>
          <a:prstGeom prst="rect">
            <a:avLst/>
          </a:prstGeom>
          <a:noFill/>
        </p:spPr>
        <p:txBody>
          <a:bodyPr wrap="none" rtlCol="0">
            <a:spAutoFit/>
          </a:bodyPr>
          <a:lstStyle/>
          <a:p>
            <a:r>
              <a:rPr lang="zh-CN" altLang="en-US" sz="2000" spc="300" dirty="0">
                <a:latin typeface="微软雅黑" panose="020B0503020204020204" pitchFamily="34" charset="-122"/>
                <a:ea typeface="微软雅黑" panose="020B0503020204020204" pitchFamily="34" charset="-122"/>
              </a:rPr>
              <a:t>实践问题</a:t>
            </a:r>
          </a:p>
        </p:txBody>
      </p:sp>
      <p:sp>
        <p:nvSpPr>
          <p:cNvPr id="87" name="TextBox 86"/>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
        <p:nvSpPr>
          <p:cNvPr id="2" name="文本框 1">
            <a:extLst>
              <a:ext uri="{FF2B5EF4-FFF2-40B4-BE49-F238E27FC236}">
                <a16:creationId xmlns:a16="http://schemas.microsoft.com/office/drawing/2014/main" id="{26843D42-D671-19CC-F8F3-431727C3560F}"/>
              </a:ext>
            </a:extLst>
          </p:cNvPr>
          <p:cNvSpPr txBox="1"/>
          <p:nvPr/>
        </p:nvSpPr>
        <p:spPr>
          <a:xfrm>
            <a:off x="784266" y="773387"/>
            <a:ext cx="7698551" cy="3285900"/>
          </a:xfrm>
          <a:prstGeom prst="rect">
            <a:avLst/>
          </a:prstGeom>
          <a:noFill/>
        </p:spPr>
        <p:txBody>
          <a:bodyPr wrap="square" rtlCol="0">
            <a:spAutoFit/>
          </a:bodyPr>
          <a:lstStyle/>
          <a:p>
            <a:pPr>
              <a:lnSpc>
                <a:spcPct val="150000"/>
              </a:lnSpc>
            </a:pPr>
            <a:r>
              <a:rPr lang="zh-CN" altLang="en-US" sz="1400" dirty="0">
                <a:latin typeface="微软雅黑" panose="020B0503020204020204" pitchFamily="34" charset="-122"/>
                <a:ea typeface="微软雅黑" panose="020B0503020204020204" pitchFamily="34" charset="-122"/>
              </a:rPr>
              <a:t>实践问题</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：根据已掌握的知识对</a:t>
            </a:r>
            <a:r>
              <a:rPr lang="en-US" altLang="zh-CN" sz="1400" dirty="0">
                <a:latin typeface="微软雅黑" panose="020B0503020204020204" pitchFamily="34" charset="-122"/>
                <a:ea typeface="微软雅黑" panose="020B0503020204020204" pitchFamily="34" charset="-122"/>
              </a:rPr>
              <a:t>Android</a:t>
            </a:r>
            <a:r>
              <a:rPr lang="zh-CN" altLang="en-US" sz="1400" dirty="0">
                <a:latin typeface="微软雅黑" panose="020B0503020204020204" pitchFamily="34" charset="-122"/>
                <a:ea typeface="微软雅黑" panose="020B0503020204020204" pitchFamily="34" charset="-122"/>
              </a:rPr>
              <a:t>手机上的</a:t>
            </a:r>
            <a:r>
              <a:rPr lang="en-US" altLang="zh-CN" sz="1400" dirty="0">
                <a:latin typeface="微软雅黑" panose="020B0503020204020204" pitchFamily="34" charset="-122"/>
                <a:ea typeface="微软雅黑" panose="020B0503020204020204" pitchFamily="34" charset="-122"/>
              </a:rPr>
              <a:t>Chrome</a:t>
            </a:r>
            <a:r>
              <a:rPr lang="zh-CN" altLang="en-US" sz="1400" dirty="0">
                <a:latin typeface="微软雅黑" panose="020B0503020204020204" pitchFamily="34" charset="-122"/>
                <a:ea typeface="微软雅黑" panose="020B0503020204020204" pitchFamily="34" charset="-122"/>
              </a:rPr>
              <a:t>进行模糊测试。</a:t>
            </a:r>
          </a:p>
          <a:p>
            <a:pPr>
              <a:lnSpc>
                <a:spcPct val="150000"/>
              </a:lnSpc>
            </a:pPr>
            <a:endParaRPr lang="en-US" altLang="zh-CN" sz="1400" dirty="0">
              <a:latin typeface="微软雅黑" panose="020B0503020204020204" pitchFamily="34" charset="-122"/>
              <a:ea typeface="微软雅黑" panose="020B0503020204020204" pitchFamily="34" charset="-122"/>
            </a:endParaRPr>
          </a:p>
          <a:p>
            <a:pPr>
              <a:lnSpc>
                <a:spcPct val="150000"/>
              </a:lnSpc>
            </a:pPr>
            <a:r>
              <a:rPr lang="zh-CN" altLang="en-US" sz="1400" dirty="0">
                <a:latin typeface="微软雅黑" panose="020B0503020204020204" pitchFamily="34" charset="-122"/>
                <a:ea typeface="微软雅黑" panose="020B0503020204020204" pitchFamily="34" charset="-122"/>
              </a:rPr>
              <a:t>答：</a:t>
            </a:r>
            <a:r>
              <a:rPr lang="en-US" altLang="zh-CN" sz="1400" dirty="0">
                <a:latin typeface="微软雅黑" panose="020B0503020204020204" pitchFamily="34" charset="-122"/>
                <a:ea typeface="微软雅黑" panose="020B0503020204020204" pitchFamily="34" charset="-122"/>
              </a:rPr>
              <a:t>Chrome</a:t>
            </a:r>
            <a:r>
              <a:rPr lang="zh-CN" altLang="en-US" sz="1400" dirty="0">
                <a:latin typeface="微软雅黑" panose="020B0503020204020204" pitchFamily="34" charset="-122"/>
                <a:ea typeface="微软雅黑" panose="020B0503020204020204" pitchFamily="34" charset="-122"/>
              </a:rPr>
              <a:t>是</a:t>
            </a:r>
            <a:r>
              <a:rPr lang="en-US" altLang="zh-CN" sz="1400" dirty="0">
                <a:latin typeface="微软雅黑" panose="020B0503020204020204" pitchFamily="34" charset="-122"/>
                <a:ea typeface="微软雅黑" panose="020B0503020204020204" pitchFamily="34" charset="-122"/>
              </a:rPr>
              <a:t>Android</a:t>
            </a:r>
            <a:r>
              <a:rPr lang="zh-CN" altLang="en-US" sz="1400" dirty="0">
                <a:latin typeface="微软雅黑" panose="020B0503020204020204" pitchFamily="34" charset="-122"/>
                <a:ea typeface="微软雅黑" panose="020B0503020204020204" pitchFamily="34" charset="-122"/>
              </a:rPr>
              <a:t>系统中的默认浏览器，所以如果它存在安全问题，那么大量的</a:t>
            </a:r>
            <a:r>
              <a:rPr lang="en-US" altLang="zh-CN" sz="1400" dirty="0">
                <a:latin typeface="微软雅黑" panose="020B0503020204020204" pitchFamily="34" charset="-122"/>
                <a:ea typeface="微软雅黑" panose="020B0503020204020204" pitchFamily="34" charset="-122"/>
              </a:rPr>
              <a:t>Android</a:t>
            </a:r>
            <a:r>
              <a:rPr lang="zh-CN" altLang="en-US" sz="1400" dirty="0">
                <a:latin typeface="微软雅黑" panose="020B0503020204020204" pitchFamily="34" charset="-122"/>
                <a:ea typeface="微软雅黑" panose="020B0503020204020204" pitchFamily="34" charset="-122"/>
              </a:rPr>
              <a:t>手机也就存在安全问题。而</a:t>
            </a:r>
            <a:r>
              <a:rPr lang="en-US" altLang="zh-CN" sz="1400" dirty="0">
                <a:latin typeface="微软雅黑" panose="020B0503020204020204" pitchFamily="34" charset="-122"/>
                <a:ea typeface="微软雅黑" panose="020B0503020204020204" pitchFamily="34" charset="-122"/>
              </a:rPr>
              <a:t>Chrome</a:t>
            </a:r>
            <a:r>
              <a:rPr lang="zh-CN" altLang="en-US" sz="1400" dirty="0">
                <a:latin typeface="微软雅黑" panose="020B0503020204020204" pitchFamily="34" charset="-122"/>
                <a:ea typeface="微软雅黑" panose="020B0503020204020204" pitchFamily="34" charset="-122"/>
              </a:rPr>
              <a:t>一直都在发展和进化，不停的又新功能加入。而新功能存在漏洞的可能性往往比老功能更大。所以在这个测试中选取了</a:t>
            </a:r>
            <a:r>
              <a:rPr lang="en-US" altLang="zh-CN" sz="1400" dirty="0">
                <a:latin typeface="微软雅黑" panose="020B0503020204020204" pitchFamily="34" charset="-122"/>
                <a:ea typeface="微软雅黑" panose="020B0503020204020204" pitchFamily="34" charset="-122"/>
              </a:rPr>
              <a:t>HTML5</a:t>
            </a:r>
            <a:r>
              <a:rPr lang="zh-CN" altLang="en-US" sz="1400" dirty="0">
                <a:latin typeface="微软雅黑" panose="020B0503020204020204" pitchFamily="34" charset="-122"/>
                <a:ea typeface="微软雅黑" panose="020B0503020204020204" pitchFamily="34" charset="-122"/>
              </a:rPr>
              <a:t>的类型数组作为攻击面，比如</a:t>
            </a:r>
            <a:r>
              <a:rPr lang="en-US" altLang="zh-CN" sz="1400" dirty="0">
                <a:latin typeface="微软雅黑" panose="020B0503020204020204" pitchFamily="34" charset="-122"/>
                <a:ea typeface="微软雅黑" panose="020B0503020204020204" pitchFamily="34" charset="-122"/>
              </a:rPr>
              <a:t>Uint8Array</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Float64Array</a:t>
            </a:r>
            <a:r>
              <a:rPr lang="zh-CN" altLang="en-US" sz="1400" dirty="0">
                <a:latin typeface="微软雅黑" panose="020B0503020204020204" pitchFamily="34" charset="-122"/>
                <a:ea typeface="微软雅黑" panose="020B0503020204020204" pitchFamily="34" charset="-122"/>
              </a:rPr>
              <a:t>。然后随机生成测试数据，比如</a:t>
            </a:r>
            <a:r>
              <a:rPr lang="en-US" altLang="zh-CN" sz="1400" dirty="0">
                <a:latin typeface="微软雅黑" panose="020B0503020204020204" pitchFamily="34" charset="-122"/>
                <a:ea typeface="微软雅黑" panose="020B0503020204020204" pitchFamily="34" charset="-122"/>
              </a:rPr>
              <a:t>x=new Float64Array({length: 0x24924925})</a:t>
            </a:r>
            <a:r>
              <a:rPr lang="zh-CN" altLang="en-US" sz="1400" dirty="0">
                <a:latin typeface="微软雅黑" panose="020B0503020204020204" pitchFamily="34" charset="-122"/>
                <a:ea typeface="微软雅黑" panose="020B0503020204020204" pitchFamily="34" charset="-122"/>
              </a:rPr>
              <a:t>。搭建一个</a:t>
            </a:r>
            <a:r>
              <a:rPr lang="en-US" altLang="zh-CN" sz="1400" dirty="0">
                <a:latin typeface="微软雅黑" panose="020B0503020204020204" pitchFamily="34" charset="-122"/>
                <a:ea typeface="微软雅黑" panose="020B0503020204020204" pitchFamily="34" charset="-122"/>
              </a:rPr>
              <a:t>HTTP</a:t>
            </a:r>
            <a:r>
              <a:rPr lang="zh-CN" altLang="en-US" sz="1400" dirty="0">
                <a:latin typeface="微软雅黑" panose="020B0503020204020204" pitchFamily="34" charset="-122"/>
                <a:ea typeface="微软雅黑" panose="020B0503020204020204" pitchFamily="34" charset="-122"/>
              </a:rPr>
              <a:t>服务器能提供包含这些测试数据或者数据生成代码以及</a:t>
            </a:r>
            <a:r>
              <a:rPr lang="en-US" altLang="zh-CN" sz="1400" dirty="0">
                <a:latin typeface="微软雅黑" panose="020B0503020204020204" pitchFamily="34" charset="-122"/>
                <a:ea typeface="微软雅黑" panose="020B0503020204020204" pitchFamily="34" charset="-122"/>
              </a:rPr>
              <a:t>JS</a:t>
            </a:r>
            <a:r>
              <a:rPr lang="zh-CN" altLang="en-US" sz="1400" dirty="0">
                <a:latin typeface="微软雅黑" panose="020B0503020204020204" pitchFamily="34" charset="-122"/>
                <a:ea typeface="微软雅黑" panose="020B0503020204020204" pitchFamily="34" charset="-122"/>
              </a:rPr>
              <a:t>代码的页面，并通过模糊测试工具</a:t>
            </a:r>
            <a:r>
              <a:rPr lang="en-US" altLang="zh-CN" sz="1400" dirty="0" err="1">
                <a:latin typeface="微软雅黑" panose="020B0503020204020204" pitchFamily="34" charset="-122"/>
                <a:ea typeface="微软雅黑" panose="020B0503020204020204" pitchFamily="34" charset="-122"/>
              </a:rPr>
              <a:t>BrowserFuzz</a:t>
            </a:r>
            <a:r>
              <a:rPr lang="zh-CN" altLang="en-US" sz="1400" dirty="0">
                <a:latin typeface="微软雅黑" panose="020B0503020204020204" pitchFamily="34" charset="-122"/>
                <a:ea typeface="微软雅黑" panose="020B0503020204020204" pitchFamily="34" charset="-122"/>
              </a:rPr>
              <a:t>运行</a:t>
            </a:r>
            <a:r>
              <a:rPr lang="en-US" altLang="zh-CN" sz="1400" dirty="0">
                <a:latin typeface="微软雅黑" panose="020B0503020204020204" pitchFamily="34" charset="-122"/>
                <a:ea typeface="微软雅黑" panose="020B0503020204020204" pitchFamily="34" charset="-122"/>
              </a:rPr>
              <a:t>Chrome</a:t>
            </a:r>
            <a:r>
              <a:rPr lang="zh-CN" altLang="en-US" sz="1400" dirty="0">
                <a:latin typeface="微软雅黑" panose="020B0503020204020204" pitchFamily="34" charset="-122"/>
                <a:ea typeface="微软雅黑" panose="020B0503020204020204" pitchFamily="34" charset="-122"/>
              </a:rPr>
              <a:t>去访问包含测试数据的页面。最后使用</a:t>
            </a:r>
            <a:r>
              <a:rPr lang="en-US" altLang="zh-CN" sz="1400" dirty="0" err="1">
                <a:latin typeface="微软雅黑" panose="020B0503020204020204" pitchFamily="34" charset="-122"/>
                <a:ea typeface="微软雅黑" panose="020B0503020204020204" pitchFamily="34" charset="-122"/>
              </a:rPr>
              <a:t>adb</a:t>
            </a:r>
            <a:r>
              <a:rPr lang="zh-CN" altLang="en-US" sz="1400" dirty="0">
                <a:latin typeface="微软雅黑" panose="020B0503020204020204" pitchFamily="34" charset="-122"/>
                <a:ea typeface="微软雅黑" panose="020B0503020204020204" pitchFamily="34" charset="-122"/>
              </a:rPr>
              <a:t>调用</a:t>
            </a:r>
            <a:r>
              <a:rPr lang="en-US" altLang="zh-CN" sz="1400" dirty="0">
                <a:latin typeface="微软雅黑" panose="020B0503020204020204" pitchFamily="34" charset="-122"/>
                <a:ea typeface="微软雅黑" panose="020B0503020204020204" pitchFamily="34" charset="-122"/>
              </a:rPr>
              <a:t>logcat</a:t>
            </a:r>
            <a:r>
              <a:rPr lang="zh-CN" altLang="en-US" sz="1400" dirty="0">
                <a:latin typeface="微软雅黑" panose="020B0503020204020204" pitchFamily="34" charset="-122"/>
                <a:ea typeface="微软雅黑" panose="020B0503020204020204" pitchFamily="34" charset="-122"/>
              </a:rPr>
              <a:t>获取系统日志来监控崩溃日志，并通过分析崩溃日志就有可能发现</a:t>
            </a:r>
            <a:r>
              <a:rPr lang="en-US" altLang="zh-CN" sz="1400" dirty="0">
                <a:latin typeface="微软雅黑" panose="020B0503020204020204" pitchFamily="34" charset="-122"/>
                <a:ea typeface="微软雅黑" panose="020B0503020204020204" pitchFamily="34" charset="-122"/>
              </a:rPr>
              <a:t>Chrome</a:t>
            </a:r>
            <a:r>
              <a:rPr lang="zh-CN" altLang="en-US" sz="1400" dirty="0">
                <a:latin typeface="微软雅黑" panose="020B0503020204020204" pitchFamily="34" charset="-122"/>
                <a:ea typeface="微软雅黑" panose="020B0503020204020204" pitchFamily="34" charset="-122"/>
              </a:rPr>
              <a:t>的缓冲区溢出等这样的安全漏洞。</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1747814" y="846409"/>
            <a:ext cx="1870428" cy="1870428"/>
            <a:chOff x="304800" y="673100"/>
            <a:chExt cx="4000500" cy="4000500"/>
          </a:xfrm>
          <a:effectLst>
            <a:outerShdw blurRad="444500" dist="254000" dir="8100000" algn="tr" rotWithShape="0">
              <a:prstClr val="black">
                <a:alpha val="50000"/>
              </a:prstClr>
            </a:outerShdw>
          </a:effectLst>
        </p:grpSpPr>
        <p:sp>
          <p:nvSpPr>
            <p:cNvPr id="38" name="同心圆 3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椭圆 39"/>
          <p:cNvSpPr/>
          <p:nvPr/>
        </p:nvSpPr>
        <p:spPr>
          <a:xfrm>
            <a:off x="1021197" y="3291201"/>
            <a:ext cx="677676" cy="677676"/>
          </a:xfrm>
          <a:prstGeom prst="ellipse">
            <a:avLst/>
          </a:prstGeom>
          <a:solidFill>
            <a:srgbClr val="0C5663"/>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1898898" y="507680"/>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4870435" y="2666867"/>
            <a:ext cx="301060" cy="301060"/>
            <a:chOff x="304800" y="673100"/>
            <a:chExt cx="4000500" cy="4000500"/>
          </a:xfrm>
          <a:effectLst>
            <a:outerShdw blurRad="381000" dist="152400" dir="8100000" algn="tr" rotWithShape="0">
              <a:prstClr val="black">
                <a:alpha val="70000"/>
              </a:prstClr>
            </a:outerShdw>
          </a:effectLst>
        </p:grpSpPr>
        <p:sp>
          <p:nvSpPr>
            <p:cNvPr id="43" name="同心圆 4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椭圆 63"/>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5" name="组合 64"/>
          <p:cNvGrpSpPr/>
          <p:nvPr/>
        </p:nvGrpSpPr>
        <p:grpSpPr>
          <a:xfrm>
            <a:off x="5339712" y="1315977"/>
            <a:ext cx="623903" cy="623903"/>
            <a:chOff x="304800" y="673100"/>
            <a:chExt cx="4000500" cy="4000500"/>
          </a:xfrm>
          <a:effectLst>
            <a:outerShdw blurRad="317500" dist="190500" dir="8100000" algn="tr" rotWithShape="0">
              <a:prstClr val="black">
                <a:alpha val="50000"/>
              </a:prstClr>
            </a:outerShdw>
          </a:effectLst>
        </p:grpSpPr>
        <p:sp>
          <p:nvSpPr>
            <p:cNvPr id="66" name="同心圆 6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椭圆 6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p:cNvGrpSpPr/>
          <p:nvPr/>
        </p:nvGrpSpPr>
        <p:grpSpPr>
          <a:xfrm>
            <a:off x="2680939" y="3364863"/>
            <a:ext cx="219777" cy="219777"/>
            <a:chOff x="304800" y="673100"/>
            <a:chExt cx="4000500" cy="4000500"/>
          </a:xfrm>
          <a:effectLst>
            <a:outerShdw blurRad="381000" dist="152400" dir="8100000" algn="tr" rotWithShape="0">
              <a:prstClr val="black">
                <a:alpha val="70000"/>
              </a:prstClr>
            </a:outerShdw>
          </a:effectLst>
        </p:grpSpPr>
        <p:sp>
          <p:nvSpPr>
            <p:cNvPr id="70" name="同心圆 6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1" name="椭圆 70"/>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2" name="组合 71"/>
          <p:cNvGrpSpPr/>
          <p:nvPr/>
        </p:nvGrpSpPr>
        <p:grpSpPr>
          <a:xfrm>
            <a:off x="432219" y="4349008"/>
            <a:ext cx="287919" cy="287919"/>
            <a:chOff x="304800" y="673100"/>
            <a:chExt cx="4000500" cy="4000500"/>
          </a:xfrm>
          <a:effectLst>
            <a:outerShdw blurRad="381000" dist="152400" dir="8100000" algn="tr" rotWithShape="0">
              <a:prstClr val="black">
                <a:alpha val="70000"/>
              </a:prstClr>
            </a:outerShdw>
          </a:effectLst>
        </p:grpSpPr>
        <p:sp>
          <p:nvSpPr>
            <p:cNvPr id="73" name="同心圆 7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4" name="椭圆 73"/>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椭圆 74"/>
          <p:cNvSpPr/>
          <p:nvPr/>
        </p:nvSpPr>
        <p:spPr>
          <a:xfrm>
            <a:off x="4534785" y="1054817"/>
            <a:ext cx="274777" cy="274777"/>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549298" y="4510926"/>
            <a:ext cx="137389" cy="137389"/>
          </a:xfrm>
          <a:prstGeom prst="ellipse">
            <a:avLst/>
          </a:prstGeom>
          <a:solidFill>
            <a:srgbClr val="0C566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7" name="组合 76"/>
          <p:cNvGrpSpPr/>
          <p:nvPr/>
        </p:nvGrpSpPr>
        <p:grpSpPr>
          <a:xfrm>
            <a:off x="3568901" y="3123469"/>
            <a:ext cx="824609" cy="824609"/>
            <a:chOff x="304800" y="673100"/>
            <a:chExt cx="4000500" cy="4000500"/>
          </a:xfrm>
          <a:effectLst>
            <a:outerShdw blurRad="317500" dist="190500" dir="8100000" algn="tr" rotWithShape="0">
              <a:prstClr val="black">
                <a:alpha val="50000"/>
              </a:prstClr>
            </a:outerShdw>
          </a:effectLst>
        </p:grpSpPr>
        <p:sp>
          <p:nvSpPr>
            <p:cNvPr id="78" name="同心圆 7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9" name="椭圆 7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1" name="TextBox 80"/>
          <p:cNvSpPr txBox="1"/>
          <p:nvPr/>
        </p:nvSpPr>
        <p:spPr>
          <a:xfrm>
            <a:off x="1885522" y="1556658"/>
            <a:ext cx="1630575" cy="492443"/>
          </a:xfrm>
          <a:prstGeom prst="rect">
            <a:avLst/>
          </a:prstGeom>
          <a:noFill/>
          <a:effectLst/>
        </p:spPr>
        <p:txBody>
          <a:bodyPr wrap="none" rtlCol="0">
            <a:spAutoFit/>
          </a:bodyPr>
          <a:lstStyle/>
          <a:p>
            <a:r>
              <a:rPr lang="en-US" altLang="zh-CN" sz="2600" b="1" dirty="0">
                <a:solidFill>
                  <a:srgbClr val="C00000"/>
                </a:solidFill>
                <a:latin typeface="微软雅黑" panose="020B0503020204020204" pitchFamily="34" charset="-122"/>
                <a:ea typeface="造字工房俊雅锐宋体验版常规体" pitchFamily="50" charset="-122"/>
              </a:rPr>
              <a:t>THANKS</a:t>
            </a:r>
            <a:endParaRPr lang="zh-CN" altLang="en-US" sz="2600" b="1" dirty="0">
              <a:solidFill>
                <a:srgbClr val="C00000"/>
              </a:solidFill>
              <a:latin typeface="微软雅黑" panose="020B0503020204020204" pitchFamily="34" charset="-122"/>
              <a:ea typeface="造字工房俊雅锐宋体验版常规体" pitchFamily="50" charset="-122"/>
            </a:endParaRPr>
          </a:p>
        </p:txBody>
      </p:sp>
      <p:sp>
        <p:nvSpPr>
          <p:cNvPr id="83" name="TextBox 82"/>
          <p:cNvSpPr txBox="1"/>
          <p:nvPr/>
        </p:nvSpPr>
        <p:spPr>
          <a:xfrm>
            <a:off x="6156176" y="3194025"/>
            <a:ext cx="2544286" cy="1508105"/>
          </a:xfrm>
          <a:prstGeom prst="rect">
            <a:avLst/>
          </a:prstGeom>
          <a:noFill/>
        </p:spPr>
        <p:txBody>
          <a:bodyPr wrap="none" rtlCol="0">
            <a:spAutoFit/>
          </a:bodyPr>
          <a:lstStyle/>
          <a:p>
            <a:r>
              <a:rPr lang="zh-CN" altLang="en-US" sz="4600" dirty="0">
                <a:latin typeface="微软雅黑" panose="020B0503020204020204" pitchFamily="34" charset="-122"/>
                <a:ea typeface="微软雅黑" panose="020B0503020204020204" pitchFamily="34" charset="-122"/>
              </a:rPr>
              <a:t>演示完毕</a:t>
            </a:r>
            <a:endParaRPr lang="en-US" altLang="zh-CN" sz="4600" dirty="0">
              <a:latin typeface="微软雅黑" panose="020B0503020204020204" pitchFamily="34" charset="-122"/>
              <a:ea typeface="微软雅黑" panose="020B0503020204020204" pitchFamily="34" charset="-122"/>
            </a:endParaRPr>
          </a:p>
          <a:p>
            <a:r>
              <a:rPr lang="zh-CN" altLang="en-US" sz="4600" dirty="0">
                <a:latin typeface="微软雅黑" panose="020B0503020204020204" pitchFamily="34" charset="-122"/>
                <a:ea typeface="微软雅黑" panose="020B0503020204020204" pitchFamily="34" charset="-122"/>
              </a:rPr>
              <a:t>感谢观看</a:t>
            </a:r>
            <a:endParaRPr lang="en-US" altLang="zh-CN" sz="4600" dirty="0">
              <a:latin typeface="微软雅黑" panose="020B0503020204020204" pitchFamily="34" charset="-122"/>
              <a:ea typeface="微软雅黑" panose="020B0503020204020204" pitchFamily="34" charset="-122"/>
            </a:endParaRPr>
          </a:p>
        </p:txBody>
      </p:sp>
      <p:sp>
        <p:nvSpPr>
          <p:cNvPr id="27" name="TextBox 26"/>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pic>
        <p:nvPicPr>
          <p:cNvPr id="9" name="图片 8" descr="暨大3"/>
          <p:cNvPicPr>
            <a:picLocks noChangeAspect="1"/>
          </p:cNvPicPr>
          <p:nvPr/>
        </p:nvPicPr>
        <p:blipFill>
          <a:blip r:embed="rId4"/>
          <a:stretch>
            <a:fillRect/>
          </a:stretch>
        </p:blipFill>
        <p:spPr>
          <a:xfrm>
            <a:off x="7244080" y="0"/>
            <a:ext cx="1762125" cy="66484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E0MDhhOWExYTNjN2EwYTFiZTIxNTkzZjY3ZjRhMGQifQ=="/>
  <p:tag name="KSO_WPP_MARK_KEY" val="562433c7-0661-435f-8409-32989389ccb8"/>
</p:tagLst>
</file>

<file path=ppt/tags/tag2.xml><?xml version="1.0" encoding="utf-8"?>
<p:tagLst xmlns:a="http://schemas.openxmlformats.org/drawingml/2006/main" xmlns:r="http://schemas.openxmlformats.org/officeDocument/2006/relationships" xmlns:p="http://schemas.openxmlformats.org/presentationml/2006/main">
  <p:tag name="SELECTED" val="True"/>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SELECTED" val="True"/>
</p:tagLst>
</file>

<file path=ppt/tags/tag5.xml><?xml version="1.0" encoding="utf-8"?>
<p:tagLst xmlns:a="http://schemas.openxmlformats.org/drawingml/2006/main" xmlns:r="http://schemas.openxmlformats.org/officeDocument/2006/relationships" xmlns:p="http://schemas.openxmlformats.org/presentationml/2006/main">
  <p:tag name="SELECTED" val="True"/>
</p:tagLst>
</file>

<file path=ppt/tags/tag6.xml><?xml version="1.0" encoding="utf-8"?>
<p:tagLst xmlns:a="http://schemas.openxmlformats.org/drawingml/2006/main" xmlns:r="http://schemas.openxmlformats.org/officeDocument/2006/relationships" xmlns:p="http://schemas.openxmlformats.org/presentationml/2006/main">
  <p:tag name="SELECTED" val="True"/>
</p:tagLst>
</file>

<file path=ppt/tags/tag7.xml><?xml version="1.0" encoding="utf-8"?>
<p:tagLst xmlns:a="http://schemas.openxmlformats.org/drawingml/2006/main" xmlns:r="http://schemas.openxmlformats.org/officeDocument/2006/relationships" xmlns:p="http://schemas.openxmlformats.org/presentationml/2006/main">
  <p:tag name="SELECTED" val="True"/>
</p:tagLst>
</file>

<file path=ppt/tags/tag8.xml><?xml version="1.0" encoding="utf-8"?>
<p:tagLst xmlns:a="http://schemas.openxmlformats.org/drawingml/2006/main" xmlns:r="http://schemas.openxmlformats.org/officeDocument/2006/relationships" xmlns:p="http://schemas.openxmlformats.org/presentationml/2006/main">
  <p:tag name="SELECTED" val="True"/>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SELECTED" val="True"/>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SELECTED" val="True"/>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SELECTED" val="True"/>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SELECTED" val="True"/>
</p:tagLst>
</file>

<file path=ppt/tags/tag33.xml><?xml version="1.0" encoding="utf-8"?>
<p:tagLst xmlns:a="http://schemas.openxmlformats.org/drawingml/2006/main" xmlns:r="http://schemas.openxmlformats.org/officeDocument/2006/relationships" xmlns:p="http://schemas.openxmlformats.org/presentationml/2006/main">
  <p:tag name="KSO_WM_UNIT_TABLE_BEAUTIFY" val="smartTable{0cacdc8b-5bd3-415f-8d2f-294d8fdc7c19}"/>
  <p:tag name="KSO_WM_UNIT_VALUE" val="1018*2506"/>
  <p:tag name="KSO_WM_UNIT_HIGHLIGHT" val="0"/>
  <p:tag name="KSO_WM_UNIT_COMPATIBLE" val="0"/>
  <p:tag name="KSO_WM_UNIT_DIAGRAM_ISNUMVISUAL" val="0"/>
  <p:tag name="KSO_WM_UNIT_DIAGRAM_ISREFERUNIT" val="0"/>
  <p:tag name="KSO_WM_UNIT_TYPE" val="β"/>
  <p:tag name="KSO_WM_UNIT_INDEX" val="1"/>
  <p:tag name="KSO_WM_UNIT_ID" val="mixed20203806_1*β*1"/>
  <p:tag name="KSO_WM_TEMPLATE_CATEGORY" val="mixed"/>
  <p:tag name="KSO_WM_TEMPLATE_INDEX" val="20203806"/>
  <p:tag name="KSO_WM_UNIT_LAYERLEVEL" val="1"/>
  <p:tag name="KSO_WM_TAG_VERSION" val="1.0"/>
  <p:tag name="KSO_WM_BEAUTIFY_FLAG" val="#wm#"/>
  <p:tag name="TABLE_ENDDRAG_ORIGIN_RECT" val="652*249"/>
  <p:tag name="TABLE_ENDDRAG_RECT" val="44*83*652*249"/>
</p:tagLst>
</file>

<file path=ppt/tags/tag34.xml><?xml version="1.0" encoding="utf-8"?>
<p:tagLst xmlns:a="http://schemas.openxmlformats.org/drawingml/2006/main" xmlns:r="http://schemas.openxmlformats.org/officeDocument/2006/relationships" xmlns:p="http://schemas.openxmlformats.org/presentationml/2006/main">
  <p:tag name="SELECTED" val="True"/>
</p:tagLst>
</file>

<file path=ppt/tags/tag35.xml><?xml version="1.0" encoding="utf-8"?>
<p:tagLst xmlns:a="http://schemas.openxmlformats.org/drawingml/2006/main" xmlns:r="http://schemas.openxmlformats.org/officeDocument/2006/relationships" xmlns:p="http://schemas.openxmlformats.org/presentationml/2006/main">
  <p:tag name="SELECTED" val="True"/>
</p:tagLst>
</file>

<file path=ppt/tags/tag36.xml><?xml version="1.0" encoding="utf-8"?>
<p:tagLst xmlns:a="http://schemas.openxmlformats.org/drawingml/2006/main" xmlns:r="http://schemas.openxmlformats.org/officeDocument/2006/relationships" xmlns:p="http://schemas.openxmlformats.org/presentationml/2006/main">
  <p:tag name="SELECTED" val="True"/>
</p:tagLst>
</file>

<file path=ppt/tags/tag37.xml><?xml version="1.0" encoding="utf-8"?>
<p:tagLst xmlns:a="http://schemas.openxmlformats.org/drawingml/2006/main" xmlns:r="http://schemas.openxmlformats.org/officeDocument/2006/relationships" xmlns:p="http://schemas.openxmlformats.org/presentationml/2006/main">
  <p:tag name="SELECTED" val="True"/>
</p:tagLst>
</file>

<file path=ppt/tags/tag38.xml><?xml version="1.0" encoding="utf-8"?>
<p:tagLst xmlns:a="http://schemas.openxmlformats.org/drawingml/2006/main" xmlns:r="http://schemas.openxmlformats.org/officeDocument/2006/relationships" xmlns:p="http://schemas.openxmlformats.org/presentationml/2006/main">
  <p:tag name="SELECTED" val="True"/>
</p:tagLst>
</file>

<file path=ppt/tags/tag39.xml><?xml version="1.0" encoding="utf-8"?>
<p:tagLst xmlns:a="http://schemas.openxmlformats.org/drawingml/2006/main" xmlns:r="http://schemas.openxmlformats.org/officeDocument/2006/relationships" xmlns:p="http://schemas.openxmlformats.org/presentationml/2006/main">
  <p:tag name="SELECTED" val="True"/>
</p:tagLst>
</file>

<file path=ppt/tags/tag40.xml><?xml version="1.0" encoding="utf-8"?>
<p:tagLst xmlns:a="http://schemas.openxmlformats.org/drawingml/2006/main" xmlns:r="http://schemas.openxmlformats.org/officeDocument/2006/relationships" xmlns:p="http://schemas.openxmlformats.org/presentationml/2006/main">
  <p:tag name="SELECTED" val="True"/>
</p:tagLst>
</file>

<file path=ppt/tags/tag41.xml><?xml version="1.0" encoding="utf-8"?>
<p:tagLst xmlns:a="http://schemas.openxmlformats.org/drawingml/2006/main" xmlns:r="http://schemas.openxmlformats.org/officeDocument/2006/relationships" xmlns:p="http://schemas.openxmlformats.org/presentationml/2006/main">
  <p:tag name="SELECTED" val="True"/>
</p:tagLst>
</file>

<file path=ppt/tags/tag42.xml><?xml version="1.0" encoding="utf-8"?>
<p:tagLst xmlns:a="http://schemas.openxmlformats.org/drawingml/2006/main" xmlns:r="http://schemas.openxmlformats.org/officeDocument/2006/relationships" xmlns:p="http://schemas.openxmlformats.org/presentationml/2006/main">
  <p:tag name="SELECTED" val="True"/>
</p:tagLst>
</file>

<file path=ppt/tags/tag43.xml><?xml version="1.0" encoding="utf-8"?>
<p:tagLst xmlns:a="http://schemas.openxmlformats.org/drawingml/2006/main" xmlns:r="http://schemas.openxmlformats.org/officeDocument/2006/relationships" xmlns:p="http://schemas.openxmlformats.org/presentationml/2006/main">
  <p:tag name="SELECTED" val="True"/>
</p:tagLst>
</file>

<file path=ppt/theme/theme1.xml><?xml version="1.0" encoding="utf-8"?>
<a:theme xmlns:a="http://schemas.openxmlformats.org/drawingml/2006/main" name="1">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4263</TotalTime>
  <Words>5211</Words>
  <Application>Microsoft Office PowerPoint</Application>
  <PresentationFormat>全屏显示(16:9)</PresentationFormat>
  <Paragraphs>413</Paragraphs>
  <Slides>46</Slides>
  <Notes>46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46</vt:i4>
      </vt:variant>
    </vt:vector>
  </HeadingPairs>
  <TitlesOfParts>
    <vt:vector size="57" baseType="lpstr">
      <vt:lpstr>等线</vt:lpstr>
      <vt:lpstr>Wingdings</vt:lpstr>
      <vt:lpstr>Arial</vt:lpstr>
      <vt:lpstr>STHeiti SC</vt:lpstr>
      <vt:lpstr>方正兰亭粗黑_GBK</vt:lpstr>
      <vt:lpstr>华文宋体</vt:lpstr>
      <vt:lpstr>微软雅黑</vt:lpstr>
      <vt:lpstr>华文仿宋</vt:lpstr>
      <vt:lpstr>宋体</vt:lpstr>
      <vt:lpstr>Calibri</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creator>王仕涛</dc:creator>
  <dc:description>1</dc:description>
  <cp:lastModifiedBy>朱 东炯</cp:lastModifiedBy>
  <cp:revision>80</cp:revision>
  <dcterms:created xsi:type="dcterms:W3CDTF">2015-01-23T04:02:00Z</dcterms:created>
  <dcterms:modified xsi:type="dcterms:W3CDTF">2023-04-25T05:32:49Z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7186F3A490DD49CE83926AB78E3F4792_12</vt:lpwstr>
  </property>
</Properties>
</file>